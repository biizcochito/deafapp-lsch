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baf4ac77be4458a" /><Relationship Type="http://schemas.openxmlformats.org/officeDocument/2006/relationships/extended-properties" Target="/docProps/app.xml" Id="R6e784b2f50ab4003" /><Relationship Type="http://schemas.openxmlformats.org/officeDocument/2006/relationships/officeDocument" Target="/ppt/presentation.xml" Id="R0c3dd0763d784938" /></Relationships>
</file>

<file path=ppt/presentation.xml><?xml version="1.0" encoding="utf-8"?>
<p:presentation xmlns:p="http://schemas.openxmlformats.org/presentationml/2006/main">
  <p:sldMasterIdLst>
    <p:sldMasterId xmlns:r="http://schemas.openxmlformats.org/officeDocument/2006/relationships" id="2147483648" r:id="R75d7ea6be084450d"/>
  </p:sldMasterIdLst>
  <p:notesMasterIdLst>
    <p:notesMasterId xmlns:r="http://schemas.openxmlformats.org/officeDocument/2006/relationships" r:id="Rc0b6f1ebfde143d0"/>
  </p:notesMasterIdLst>
  <p:sldIdLst>
    <p:sldId xmlns:r="http://schemas.openxmlformats.org/officeDocument/2006/relationships" id="256" r:id="R5ca3126154f1463b"/>
    <p:sldId xmlns:r="http://schemas.openxmlformats.org/officeDocument/2006/relationships" id="257" r:id="R4e055e314e6c49cb"/>
    <p:sldId xmlns:r="http://schemas.openxmlformats.org/officeDocument/2006/relationships" id="258" r:id="Ra75ee7c2e2784e02"/>
    <p:sldId xmlns:r="http://schemas.openxmlformats.org/officeDocument/2006/relationships" id="259" r:id="R32d602c9cb124333"/>
    <p:sldId xmlns:r="http://schemas.openxmlformats.org/officeDocument/2006/relationships" id="260" r:id="R5187ea9c1b4e4541"/>
    <p:sldId xmlns:r="http://schemas.openxmlformats.org/officeDocument/2006/relationships" id="261" r:id="R18b1236fdb43474a"/>
    <p:sldId xmlns:r="http://schemas.openxmlformats.org/officeDocument/2006/relationships" id="262" r:id="R0462577750ff4d4e"/>
    <p:sldId xmlns:r="http://schemas.openxmlformats.org/officeDocument/2006/relationships" id="263" r:id="R013b22215ff0484c"/>
    <p:sldId xmlns:r="http://schemas.openxmlformats.org/officeDocument/2006/relationships" id="264" r:id="R745d819d4db94e15"/>
    <p:sldId xmlns:r="http://schemas.openxmlformats.org/officeDocument/2006/relationships" id="265" r:id="Rb9fcc801399f4371"/>
    <p:sldId xmlns:r="http://schemas.openxmlformats.org/officeDocument/2006/relationships" id="266" r:id="R98964bd56fdf43fd"/>
    <p:sldId xmlns:r="http://schemas.openxmlformats.org/officeDocument/2006/relationships" id="267" r:id="R7b2ccd2a4d584a00"/>
    <p:sldId xmlns:r="http://schemas.openxmlformats.org/officeDocument/2006/relationships" id="268" r:id="Rc1c8d1d21c4d47a4"/>
    <p:sldId xmlns:r="http://schemas.openxmlformats.org/officeDocument/2006/relationships" id="269" r:id="R66651c1178074d4a"/>
    <p:sldId xmlns:r="http://schemas.openxmlformats.org/officeDocument/2006/relationships" id="270" r:id="R46bc32bd6b944210"/>
    <p:sldId xmlns:r="http://schemas.openxmlformats.org/officeDocument/2006/relationships" id="271" r:id="Re312e384766c4bf3"/>
    <p:sldId xmlns:r="http://schemas.openxmlformats.org/officeDocument/2006/relationships" id="272" r:id="R4f2b58b955ae43b6"/>
    <p:sldId xmlns:r="http://schemas.openxmlformats.org/officeDocument/2006/relationships" id="273" r:id="Rfb64355cb38b4c2d"/>
    <p:sldId xmlns:r="http://schemas.openxmlformats.org/officeDocument/2006/relationships" id="274" r:id="Rd306de9dfb194882"/>
    <p:sldId xmlns:r="http://schemas.openxmlformats.org/officeDocument/2006/relationships" id="275" r:id="R10e357ffd90d4546"/>
    <p:sldId xmlns:r="http://schemas.openxmlformats.org/officeDocument/2006/relationships" id="276" r:id="R46413836c1bb4940"/>
    <p:sldId xmlns:r="http://schemas.openxmlformats.org/officeDocument/2006/relationships" id="277" r:id="R4ac76749b9a047f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13fddd12f384468" /><Relationship Type="http://schemas.openxmlformats.org/officeDocument/2006/relationships/slideMaster" Target="/ppt/slideMasters/slideMaster1.xml" Id="R75d7ea6be084450d" /><Relationship Type="http://schemas.openxmlformats.org/officeDocument/2006/relationships/notesMaster" Target="/ppt/notesMasters/notesMaster1.xml" Id="Rc0b6f1ebfde143d0" /><Relationship Type="http://schemas.openxmlformats.org/officeDocument/2006/relationships/presProps" Target="/ppt/presProps.xml" Id="R35108c306f9d4902" /><Relationship Type="http://schemas.openxmlformats.org/officeDocument/2006/relationships/tableStyles" Target="/ppt/tableStyles.xml" Id="R5c54f5863021432f" /><Relationship Type="http://schemas.openxmlformats.org/officeDocument/2006/relationships/slide" Target="/ppt/slides/slide1.xml" Id="R5ca3126154f1463b" /><Relationship Type="http://schemas.openxmlformats.org/officeDocument/2006/relationships/slide" Target="/ppt/slides/slide2.xml" Id="R4e055e314e6c49cb" /><Relationship Type="http://schemas.openxmlformats.org/officeDocument/2006/relationships/slide" Target="/ppt/slides/slide3.xml" Id="Ra75ee7c2e2784e02" /><Relationship Type="http://schemas.openxmlformats.org/officeDocument/2006/relationships/slide" Target="/ppt/slides/slide4.xml" Id="R32d602c9cb124333" /><Relationship Type="http://schemas.openxmlformats.org/officeDocument/2006/relationships/slide" Target="/ppt/slides/slide5.xml" Id="R5187ea9c1b4e4541" /><Relationship Type="http://schemas.openxmlformats.org/officeDocument/2006/relationships/slide" Target="/ppt/slides/slide6.xml" Id="R18b1236fdb43474a" /><Relationship Type="http://schemas.openxmlformats.org/officeDocument/2006/relationships/slide" Target="/ppt/slides/slide7.xml" Id="R0462577750ff4d4e" /><Relationship Type="http://schemas.openxmlformats.org/officeDocument/2006/relationships/slide" Target="/ppt/slides/slide8.xml" Id="R013b22215ff0484c" /><Relationship Type="http://schemas.openxmlformats.org/officeDocument/2006/relationships/slide" Target="/ppt/slides/slide9.xml" Id="R745d819d4db94e15" /><Relationship Type="http://schemas.openxmlformats.org/officeDocument/2006/relationships/slide" Target="/ppt/slides/slide10.xml" Id="Rb9fcc801399f4371" /><Relationship Type="http://schemas.openxmlformats.org/officeDocument/2006/relationships/slide" Target="/ppt/slides/slide11.xml" Id="R98964bd56fdf43fd" /><Relationship Type="http://schemas.openxmlformats.org/officeDocument/2006/relationships/slide" Target="/ppt/slides/slide12.xml" Id="R7b2ccd2a4d584a00" /><Relationship Type="http://schemas.openxmlformats.org/officeDocument/2006/relationships/slide" Target="/ppt/slides/slide13.xml" Id="Rc1c8d1d21c4d47a4" /><Relationship Type="http://schemas.openxmlformats.org/officeDocument/2006/relationships/slide" Target="/ppt/slides/slide14.xml" Id="R66651c1178074d4a" /><Relationship Type="http://schemas.openxmlformats.org/officeDocument/2006/relationships/slide" Target="/ppt/slides/slide15.xml" Id="R46bc32bd6b944210" /><Relationship Type="http://schemas.openxmlformats.org/officeDocument/2006/relationships/slide" Target="/ppt/slides/slide16.xml" Id="Re312e384766c4bf3" /><Relationship Type="http://schemas.openxmlformats.org/officeDocument/2006/relationships/slide" Target="/ppt/slides/slide17.xml" Id="R4f2b58b955ae43b6" /><Relationship Type="http://schemas.openxmlformats.org/officeDocument/2006/relationships/slide" Target="/ppt/slides/slide18.xml" Id="Rfb64355cb38b4c2d" /><Relationship Type="http://schemas.openxmlformats.org/officeDocument/2006/relationships/slide" Target="/ppt/slides/slide19.xml" Id="Rd306de9dfb194882" /><Relationship Type="http://schemas.openxmlformats.org/officeDocument/2006/relationships/slide" Target="/ppt/slides/slide20.xml" Id="R10e357ffd90d4546" /><Relationship Type="http://schemas.openxmlformats.org/officeDocument/2006/relationships/slide" Target="/ppt/slides/slide21.xml" Id="R46413836c1bb4940" /><Relationship Type="http://schemas.openxmlformats.org/officeDocument/2006/relationships/slide" Target="/ppt/slides/slide22.xml" Id="R4ac76749b9a047f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0eed137e06741c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f484a269aa54b50" /><Relationship Type="http://schemas.openxmlformats.org/officeDocument/2006/relationships/notesMaster" Target="/ppt/notesMasters/notesMaster1.xml" Id="R7b161cdf26714a95" /></Relationships>
</file>

<file path=ppt/notesSlides/_rels/notesSlide2.xml.rels>&#65279;<?xml version="1.0" encoding="utf-8"?><Relationships xmlns="http://schemas.openxmlformats.org/package/2006/relationships"><Relationship Type="http://schemas.openxmlformats.org/officeDocument/2006/relationships/slide" Target="/ppt/slides/slide2.xml" Id="R866e63771f4549a1" /><Relationship Type="http://schemas.openxmlformats.org/officeDocument/2006/relationships/notesMaster" Target="/ppt/notesMasters/notesMaster1.xml" Id="Rf7e5ef78d6174d4c" /></Relationships>
</file>

<file path=ppt/notesSlides/_rels/notesSlide3.xml.rels>&#65279;<?xml version="1.0" encoding="utf-8"?><Relationships xmlns="http://schemas.openxmlformats.org/package/2006/relationships"><Relationship Type="http://schemas.openxmlformats.org/officeDocument/2006/relationships/slide" Target="/ppt/slides/slide3.xml" Id="R291f52afa4c34b64" /><Relationship Type="http://schemas.openxmlformats.org/officeDocument/2006/relationships/notesMaster" Target="/ppt/notesMasters/notesMaster1.xml" Id="R379c1dac84064903" /></Relationships>
</file>

<file path=ppt/notesSlides/_rels/notesSlide4.xml.rels>&#65279;<?xml version="1.0" encoding="utf-8"?><Relationships xmlns="http://schemas.openxmlformats.org/package/2006/relationships"><Relationship Type="http://schemas.openxmlformats.org/officeDocument/2006/relationships/slide" Target="/ppt/slides/slide4.xml" Id="Rd9783584e49b40b1" /><Relationship Type="http://schemas.openxmlformats.org/officeDocument/2006/relationships/notesMaster" Target="/ppt/notesMasters/notesMaster1.xml" Id="Rc23b96fc7ded496a" /></Relationships>
</file>

<file path=ppt/notesSlides/_rels/notesSlide5.xml.rels>&#65279;<?xml version="1.0" encoding="utf-8"?><Relationships xmlns="http://schemas.openxmlformats.org/package/2006/relationships"><Relationship Type="http://schemas.openxmlformats.org/officeDocument/2006/relationships/slide" Target="/ppt/slides/slide5.xml" Id="Rcae55ff2a3a347c2" /><Relationship Type="http://schemas.openxmlformats.org/officeDocument/2006/relationships/notesMaster" Target="/ppt/notesMasters/notesMaster1.xml" Id="R41f055e4868c44f3" /></Relationships>
</file>

<file path=ppt/notesSlides/_rels/notesSlide6.xml.rels>&#65279;<?xml version="1.0" encoding="utf-8"?><Relationships xmlns="http://schemas.openxmlformats.org/package/2006/relationships"><Relationship Type="http://schemas.openxmlformats.org/officeDocument/2006/relationships/slide" Target="/ppt/slides/slide6.xml" Id="R6e5008f73d704a49" /><Relationship Type="http://schemas.openxmlformats.org/officeDocument/2006/relationships/notesMaster" Target="/ppt/notesMasters/notesMaster1.xml" Id="R191f56f9963647aa" /></Relationships>
</file>

<file path=ppt/notesSlides/_rels/notesSlide7.xml.rels>&#65279;<?xml version="1.0" encoding="utf-8"?><Relationships xmlns="http://schemas.openxmlformats.org/package/2006/relationships"><Relationship Type="http://schemas.openxmlformats.org/officeDocument/2006/relationships/slide" Target="/ppt/slides/slide7.xml" Id="Rffbba999077f423b" /><Relationship Type="http://schemas.openxmlformats.org/officeDocument/2006/relationships/notesMaster" Target="/ppt/notesMasters/notesMaster1.xml" Id="R6aa41bbd2e274d29" /></Relationships>
</file>

<file path=ppt/notesSlides/_rels/notesSlide8.xml.rels>&#65279;<?xml version="1.0" encoding="utf-8"?><Relationships xmlns="http://schemas.openxmlformats.org/package/2006/relationships"><Relationship Type="http://schemas.openxmlformats.org/officeDocument/2006/relationships/slide" Target="/ppt/slides/slide8.xml" Id="R7b5946887f7d4ea9" /><Relationship Type="http://schemas.openxmlformats.org/officeDocument/2006/relationships/notesMaster" Target="/ppt/notesMasters/notesMaster1.xml" Id="R67b4d756df094860" /></Relationships>
</file>

<file path=ppt/notesSlides/_rels/notesSlide9.xml.rels>&#65279;<?xml version="1.0" encoding="utf-8"?><Relationships xmlns="http://schemas.openxmlformats.org/package/2006/relationships"><Relationship Type="http://schemas.openxmlformats.org/officeDocument/2006/relationships/slide" Target="/ppt/slides/slide9.xml" Id="Rde6fa6e9b15d4169" /><Relationship Type="http://schemas.openxmlformats.org/officeDocument/2006/relationships/notesMaster" Target="/ppt/notesMasters/notesMaster1.xml" Id="R5acfda03728649c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01ed75f45b14e76" /><Relationship Type="http://schemas.openxmlformats.org/officeDocument/2006/relationships/notesMaster" Target="/ppt/notesMasters/notesMaster1.xml" Id="Ra91b390d793940e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c86227a59854804" /><Relationship Type="http://schemas.openxmlformats.org/officeDocument/2006/relationships/notesMaster" Target="/ppt/notesMasters/notesMaster1.xml" Id="Rda52304250c4443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e37edb309c9434e" /><Relationship Type="http://schemas.openxmlformats.org/officeDocument/2006/relationships/notesMaster" Target="/ppt/notesMasters/notesMaster1.xml" Id="R6e978e2400c34ce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60c23451e4b4f29" /><Relationship Type="http://schemas.openxmlformats.org/officeDocument/2006/relationships/notesMaster" Target="/ppt/notesMasters/notesMaster1.xml" Id="R88ef5c1ebed042c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a81695ca5c441fb" /><Relationship Type="http://schemas.openxmlformats.org/officeDocument/2006/relationships/notesMaster" Target="/ppt/notesMasters/notesMaster1.xml" Id="R69fc23b5407147e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bc0d796480045da" /><Relationship Type="http://schemas.openxmlformats.org/officeDocument/2006/relationships/notesMaster" Target="/ppt/notesMasters/notesMaster1.xml" Id="R662cce4af0a2472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8c5f9d92fe3487f" /><Relationship Type="http://schemas.openxmlformats.org/officeDocument/2006/relationships/notesMaster" Target="/ppt/notesMasters/notesMaster1.xml" Id="Rf91ea0c43a0a436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a3a2be3dcb94ef0" /><Relationship Type="http://schemas.openxmlformats.org/officeDocument/2006/relationships/notesMaster" Target="/ppt/notesMasters/notesMaster1.xml" Id="R04a266bc382742f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2419647cffa42ae" /><Relationship Type="http://schemas.openxmlformats.org/officeDocument/2006/relationships/notesMaster" Target="/ppt/notesMasters/notesMaster1.xml" Id="R25f33944b924438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92bd68b1f294723" /><Relationship Type="http://schemas.openxmlformats.org/officeDocument/2006/relationships/notesMaster" Target="/ppt/notesMasters/notesMaster1.xml" Id="R9c8db4d59a37401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a72ef9c2f1f4890" /><Relationship Type="http://schemas.openxmlformats.org/officeDocument/2006/relationships/notesMaster" Target="/ppt/notesMasters/notesMaster1.xml" Id="R4b4dd630c1a6449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94aee5e38964093" /><Relationship Type="http://schemas.openxmlformats.org/officeDocument/2006/relationships/notesMaster" Target="/ppt/notesMasters/notesMaster1.xml" Id="Rc30a71050c814d7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8831aace8464779" /><Relationship Type="http://schemas.openxmlformats.org/officeDocument/2006/relationships/notesMaster" Target="/ppt/notesMasters/notesMaster1.xml" Id="Raf802008766a43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Captura actual de http://127.0.0.1:8081/ realizada para esta presentación el 4 de octubre de 2026. Fuente: artifacts/ppt-inicio-actual.jpg. Presentación de mejoras de la versión local. El objetivo final de traducir LSCh y voz/texto todavía está en desarrollo. No se muestran contraseñas ni claves.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 artifacts/manos-rapidas-camara-real.jpg y artifacts/manos-rapidas-verificacion.md. Captura histórica de la cámara física local, 2 de octubre de 2026. Se observó también el estado de ambas manos detectadas y retirada de sus trazados al bajarlas.</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 artifacts/manos-rapidas-verificacion.md y artifacts/manos-rapidas-verificacion.jpg. Detector regional MediaPipe HandPose 3D lite con TensorFlow.js en un Worker. Inicio del modelo y adquisición de manos son tiempos diferentes. Tras preparar el modelo: primera adquisición 63 ms, siguientes inferencias 38–74 ms, 8/8 imágenes desplazadas con ambas manos. La carga simultánea tuvo picos. No equivale a latencia total ni garantiza el mismo rendimiento en otros equipos.</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App.js, webCameraCompatibility.js, scripts/patch-expo-camera.cjs y artifacts/camara-inicio-corregidos.png. Se corrigió la referencia inexistente a OverconstrainedError y se implementaron alternativas de restricciones y controles de reproducción/inicialización. La captura documenta una cámara física activa en la versión corregida. Ningún cambio garantiza compatibilidad con todo hardware.</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artifacts/camara-automatica-verificacion.md, camara-automatica-pc.jpg, camara-automatica-celular.jpg. Interfaz real compilada con cámara simulada a partir de una imagen y subidas deshabilitadas. Celular emulado en navegador, no probado en teléfono físico. PC máximo 600 px de ancho en 4:3. Celular máximo 450 px en 9:16. Reducir la ventana de PC no cambia su clasificación.</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App.js, handTrackingGate.js, trainingCapture.js y artifacts/grabacion-una-mano.png. Captura histórica de la cámara física durante la preparación. Se exige confirmar ambas manos al inicio de la sesión preparada, después se permite al menos una mano detectada. Preparar grabación arma la espera y cuenta atrás para que no haya que sostener las manos y pulsar a la vez. No afirmar que el fotograma de esta captura muestra una seña completa.</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App.js y artifacts/ayuda-deteccion-manos.png. Captura histórica de la cámara real cuando el detector buscaba las manos. Las sugerencias dependen de su estado y solo aparecen en el contexto de la grabación. La ayuda no sustituye la detección ni asegura disponibilidad inmediata.</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artifacts/filtro-gestos-verificacion.md, artifacts/filtro-gestos-app.jpg y gestureModeration.js. Captura real de la interfaz compilada con entrada simulada basada en la imagen del usuario y subidas deshabilitadas. Regla concreta basada en 21 puntos, persistencia mínima de 3 detecciones y 250 ms. Es una configuración de mano y puede fallar si el modelo confunde dedos. No es un detector general de intención obscena. Otros gestos aún requieren ejemplos y revisión para no bloquear LSCh válida.</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App.js, recordingDraftStore.js, artifacts/vista-previa-verificacion.md y artifacts/vista-previa-grabacion.jpg. Captura de la interfaz real con cámara, detector y servidor simulados. La imagen dibujada pertenece a la prueba del software, no es una seña de entrenamiento. Se comprobó que abrir y reproducir la vista previa no sube datos. La toma válida contiene 30 fotogramas y conserva proporción. No se enviaron grabaciones reales durante esa prueba.</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artifacts/vista-previa-verificacion.md, artifacts/vista-previa-reintento.jpg, recordingDraftStore.js y recordingSubmission.js. Prueba compilada con datos simulados y IndexedDB aislada. Guardado de una toma pendiente por origen/navegador, recuperación al recargar, ruta única por toma, comprobación del registro antes del reintento y limpieza solo al completar. Web Locks cuando disponible y tiempo límite de 30 s. No afirmar prueba de subida real a producción.</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RecordingProfiles.js, recordingSource.js, trainingCapture.js, training/datasetPreparation.js y artifacts/grabacion-sin-personas.png. Captura actual tras retirar el selector. La cámara no se comprobó físicamente en esa captura y aparece negra. Se documentan los controles y ausencia del selector. Se guarda un código automático de origen local anónimo, no una identidad verificada. Se conservaron perfiles antiguos. La evaluación independiente no cuenta esos códigos como personas distintas.</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App.js, AdminPanel.js, admin/README.md y artifacts/menu-sin-visualizador.jpg. Captura histórica del menú después de retirar el visualizador público de landmarks. El menú de la captura conserva elementos previos de revisión, por lo que se muestra un recorte de categorías. En el estado actual la aprobación, catálogo y pruebas técnicas pertenecen al administrador. Se mantiene el trazado en la cámara de grabación.</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AdminPanel.js, admin/README.md y artifacts/ppt-acceso-admin.jpg. Captura actual de la pantalla de acceso, 4 de octubre de 2026. Acceso mediante cinco pulsaciones consecutivas en el logo de DeafApp. Validación de contraseña en el servidor Supabase, sesión temporal y límite de intentos. No se incluye la contraseña en esta presentación. Protección del administrador no significa que los objetos del bucket antiguo de grabaciones sean privados.</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AdminPanel.js, admin/README.md, admin/schema.sql y artifacts/ppt-moderacion-actual.jpg. Captura actual del servidor: 20 pendientes, 110 aprobadas y 0 rechazadas. Consulta sin cambiar decisiones. Búsqueda, filtros y selección por página para decisiones individuales o por lote. Las nuevas contribuciones llegan pendientes. Rechazar conserva archivos y los excluye de aprobadas. No se usó voto público como aprobación automática.</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AdminPanel.js, admin/README.md y artifacts/ppt-revision-grabacion.jpg. Captura actual de una grabación real pendiente saludos/hola, registro 186. Vista previa pausada para el pantallazo. Solo se consultó el archivo, no se cambió la aprobación. Las funciones aplican comprobación de versión para decisiones concurrentes. Rechazar no elimina el original.</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admin/README.md, training/README.md y artifacts/ppt-material-actual.jpg. Captura actual de referencias educativas. Se incorporaron ocho referencias educativas y un catálogo académico con metadatos de 379 videos. No son 379 clips revisados para entrenamiento ni permisos de uso concedidos. Referencias UMCE/Mineduc y Universidad de Valparaíso disponibles en el catálogo. No se afirma descarga del dataset del estudio.</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training/README.md, admin/README.md y artifacts/ppt-entrenamiento-actual.jpg. Captura actual antes de analizar de nuevo. El conteo es de entradas de vocabulario por categoría, no 531 señas lingüísticamente distintas ni entrenadas. Modo independiente exige al menos 5 originales de aprendizaje y 2 de prueba por seña con participantes separados. Variaciones artificiales no se cuentan como originales. El análisis estricto no equivale al modo experimental de recuperación. Importación desde navegador sigue pendiente de una comprobación manual autorizada.</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training/README.md, admin/README.md y artifacts/recuperacion-110-lista.png. Resultado real del 4 de octubre de 2026. 110 aprobadas procesadas y guardadas sin error, 44 con puntos de calidad técnica utilizable, 12 además con etiquetas compatibles/aprobadas y 2 clases con dos originales distintos. Calidad técnica no garantiza corrección lingüística. Se conservaron archivos y decisiones del servidor. La recuperación persiste en IndexedDB por navegador/origen.</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training/README.md y artifacts/ppt-revision-recuperacion.jpg. Captura actual del editor de revisión de la recuperación 166. Se abrió sin guardar cambios. Corrección exacta por entrada/categoría, confirmación explícita y código de participante solo si se sabe. La anotación es local y no modifica el original ni la decisión del servidor. Las grabaciones antiguas sin tiempos conservan orden, no se inventa su velocidad.</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training/README.md, admin/README.md y artifacts/ppt-modelo-guardado.jpg. Informe histórico cargado desde IndexedDB y capturado el 4 de octubre. Modelo temporal Conv1D de 32 pasos y 171 características, 30 épocas con variaciones de originales solo en aprendizaje. Dos originales de aprendizaje totales y dos reservados totales, uno de cada etiqueta. Cerdo: 1/1; día: 0/1. 50% equivale a un acierto en dos tomas, no precisión general. Puede ser la misma persona. Se guardan modelo, etiquetas e informe por candidato, persisten al recargar. No activa reconocimiento público ni traductor continuo.</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admin/README.md, training/README.md, package.json, dist/index.html y DeafApp-sin-selector-personas.zip. ZIP actual de 18 entradas, index.html en raíz, biblioteca y modelos de seguimiento locales. Se excluyeron SQL, contraseñas, grabaciones privadas y diagnósticos. Preparar el ZIP no publica la interfaz. IndexedDB de localhost no se transfiere automáticamente al dominio oficial. App.js es fuente Expo, no una aplicación web exportada por sí sola.</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DeafApp. Estado documentado al 4 de octubre de 2026.</a:t>
            </a:r>
          </a:p>
          <a:p xmlns:a="http://schemas.openxmlformats.org/drawingml/2006/main">
            <a:r>
              <a:t>Fuentes: App.js, training/README.md, admin/README.md y conversación del proyecto. La meta del usuario es un traductor en tiempo real entre LSCh y oyentes mediante voz/texto, bidireccional. El estado implementado es captura, moderación, preparación y prototipo aislado privado. Falta comprobar con participantes distintos, gestos desconocidos y cámara real antes de habilitar reconocimiento público. Frases continuas y voz/texto hacia LSCh necesitan etapas adicionales. No se afirma que DeafApp sea la mejor o primera opción nacional.</a:t>
            </a:r>
          </a:p>
          <a:p xmlns:a="http://schemas.openxmlformats.org/drawingml/2006/main">
            <a:r>
              <a:t>Las capturas anteriores documentan la interfaz en el momento indicado. La versión local no demuestra que la misma actualización esté publicada en Cloudflare.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64f28e2394c4d8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8839300670a458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7514c67fa354c1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971cbdcd8f6450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0f004c47ca0439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114d4a0b60f45c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337B839-EEBE-4395-BD1D-4CCA3A0D0FA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D80BC88-0EF0-4EB5-AF16-CF7F2DAAFE3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459AEC0-4A85-474E-82E4-F8243996F37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99A6E8A-DB26-4EC9-A2DD-5BE4BA99E8F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FB62CFE-28CA-4D7F-9E55-81D9A32B517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2534326-121D-4603-B280-4EA95A0AA86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4DF6453-3E55-4731-8D39-42152BD063D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474EC79-C1E9-4A08-A0D0-B7B92D1B934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854B95C-F36A-4E47-899C-65FB4CFD197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7133E3E-8A35-4AA2-A6FD-018AC03A53C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e351e372e994b65" /><Relationship Type="http://schemas.openxmlformats.org/officeDocument/2006/relationships/slideLayout" Target="/ppt/slideLayouts/slideLayout1.xml" Id="Rdbd9f960f04d442c" /><Relationship Type="http://schemas.openxmlformats.org/officeDocument/2006/relationships/slideLayout" Target="/ppt/slideLayouts/slideLayout2.xml" Id="Rf0acd91da3b94715" /><Relationship Type="http://schemas.openxmlformats.org/officeDocument/2006/relationships/slideLayout" Target="/ppt/slideLayouts/slideLayout3.xml" Id="Rc3132f6450b24b5d" /><Relationship Type="http://schemas.openxmlformats.org/officeDocument/2006/relationships/slideLayout" Target="/ppt/slideLayouts/slideLayout4.xml" Id="R090b865fe3ae4147" /><Relationship Type="http://schemas.openxmlformats.org/officeDocument/2006/relationships/slideLayout" Target="/ppt/slideLayouts/slideLayout5.xml" Id="R97babee43742404f" /><Relationship Type="http://schemas.openxmlformats.org/officeDocument/2006/relationships/slideLayout" Target="/ppt/slideLayouts/slideLayout6.xml" Id="R307e3e773f6f4bd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bd9f960f04d442c"/>
    <p:sldLayoutId xmlns:r="http://schemas.openxmlformats.org/officeDocument/2006/relationships" id="2147483650" r:id="Rf0acd91da3b94715"/>
    <p:sldLayoutId xmlns:r="http://schemas.openxmlformats.org/officeDocument/2006/relationships" id="2147483651" r:id="Rc3132f6450b24b5d"/>
    <p:sldLayoutId xmlns:r="http://schemas.openxmlformats.org/officeDocument/2006/relationships" id="2147483652" r:id="R090b865fe3ae4147"/>
    <p:sldLayoutId xmlns:r="http://schemas.openxmlformats.org/officeDocument/2006/relationships" id="2147483653" r:id="R97babee43742404f"/>
    <p:sldLayoutId xmlns:r="http://schemas.openxmlformats.org/officeDocument/2006/relationships" id="2147483654" r:id="R307e3e773f6f4bd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2191b80aea64f5b" /><Relationship Type="http://schemas.openxmlformats.org/officeDocument/2006/relationships/image" Target="/ppt/media/image.png" Id="Re7c311e6e23b40bb" /><Relationship Type="http://schemas.openxmlformats.org/officeDocument/2006/relationships/notesSlide" Target="/ppt/notesSlides/notesSlide1.xml" Id="R5c52e41a389245b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62b37a89a314e21" /><Relationship Type="http://schemas.openxmlformats.org/officeDocument/2006/relationships/image" Target="/ppt/media/image2.png" Id="Rc98a437bf8d04ab5" /><Relationship Type="http://schemas.openxmlformats.org/officeDocument/2006/relationships/notesSlide" Target="/ppt/notesSlides/notesSlide2.xml" Id="R7855297c27eb4dd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2fcf56449344573" /><Relationship Type="http://schemas.openxmlformats.org/officeDocument/2006/relationships/image" Target="/ppt/media/image3.png" Id="Rd5462e3160dd4f54" /><Relationship Type="http://schemas.openxmlformats.org/officeDocument/2006/relationships/notesSlide" Target="/ppt/notesSlides/notesSlide3.xml" Id="Rea7c41752481455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1f1f88f50af4049" /><Relationship Type="http://schemas.openxmlformats.org/officeDocument/2006/relationships/image" Target="/ppt/media/image4.png" Id="Rb913ce76d2814ba3" /><Relationship Type="http://schemas.openxmlformats.org/officeDocument/2006/relationships/notesSlide" Target="/ppt/notesSlides/notesSlide4.xml" Id="R981f2d6784ff4ee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61d7ae340f9447c" /><Relationship Type="http://schemas.openxmlformats.org/officeDocument/2006/relationships/image" Target="/ppt/media/image5.png" Id="R9dec52a2fa2f4bfc" /><Relationship Type="http://schemas.openxmlformats.org/officeDocument/2006/relationships/image" Target="/ppt/media/image6.png" Id="Rcfbf5885e530428c" /><Relationship Type="http://schemas.openxmlformats.org/officeDocument/2006/relationships/notesSlide" Target="/ppt/notesSlides/notesSlide5.xml" Id="R4714d35b8aeb450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f47ca65e3074474" /><Relationship Type="http://schemas.openxmlformats.org/officeDocument/2006/relationships/image" Target="/ppt/media/image7.png" Id="R1f1c6d56756f4110" /><Relationship Type="http://schemas.openxmlformats.org/officeDocument/2006/relationships/notesSlide" Target="/ppt/notesSlides/notesSlide6.xml" Id="Ree3d80dd2bab490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2413964aadf47fc" /><Relationship Type="http://schemas.openxmlformats.org/officeDocument/2006/relationships/image" Target="/ppt/media/image8.png" Id="Rb25d49983b414e68" /><Relationship Type="http://schemas.openxmlformats.org/officeDocument/2006/relationships/notesSlide" Target="/ppt/notesSlides/notesSlide7.xml" Id="R438be9841d15461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797c7b2431d483a" /><Relationship Type="http://schemas.openxmlformats.org/officeDocument/2006/relationships/image" Target="/ppt/media/image9.png" Id="R2ed83b5173a54c18" /><Relationship Type="http://schemas.openxmlformats.org/officeDocument/2006/relationships/notesSlide" Target="/ppt/notesSlides/notesSlide8.xml" Id="R4f539018b9d340a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c80bddd830d499d" /><Relationship Type="http://schemas.openxmlformats.org/officeDocument/2006/relationships/image" Target="/ppt/media/image10.png" Id="Recfa9c9ee4614dc6" /><Relationship Type="http://schemas.openxmlformats.org/officeDocument/2006/relationships/notesSlide" Target="/ppt/notesSlides/notesSlide9.xml" Id="Rc15c029ebb814fd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580a26dc15440ab" /><Relationship Type="http://schemas.openxmlformats.org/officeDocument/2006/relationships/image" Target="/ppt/media/image11.png" Id="Rd295882ab0004cd2" /><Relationship Type="http://schemas.openxmlformats.org/officeDocument/2006/relationships/notesSlide" Target="/ppt/notesSlides/notesSlide10.xml" Id="R23f13121d04341f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8cef6b0f91c485d" /><Relationship Type="http://schemas.openxmlformats.org/officeDocument/2006/relationships/image" Target="/ppt/media/image12.png" Id="R04a300708d714111" /><Relationship Type="http://schemas.openxmlformats.org/officeDocument/2006/relationships/notesSlide" Target="/ppt/notesSlides/notesSlide11.xml" Id="R3813a53d0d4645c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fd2f308bb4c40e2" /><Relationship Type="http://schemas.openxmlformats.org/officeDocument/2006/relationships/image" Target="/ppt/media/image13.png" Id="Re9bfc5eeefb440aa" /><Relationship Type="http://schemas.openxmlformats.org/officeDocument/2006/relationships/notesSlide" Target="/ppt/notesSlides/notesSlide12.xml" Id="Rb2ca0f6d65a440e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fb30ee977b9414e" /><Relationship Type="http://schemas.openxmlformats.org/officeDocument/2006/relationships/image" Target="/ppt/media/image14.png" Id="Rcedf828547ea4e81" /><Relationship Type="http://schemas.openxmlformats.org/officeDocument/2006/relationships/notesSlide" Target="/ppt/notesSlides/notesSlide13.xml" Id="Rb60c6c2d9ae34c4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40bec2e9a1b4f4f" /><Relationship Type="http://schemas.openxmlformats.org/officeDocument/2006/relationships/image" Target="/ppt/media/image15.png" Id="R69bb5c9c0c844849" /><Relationship Type="http://schemas.openxmlformats.org/officeDocument/2006/relationships/notesSlide" Target="/ppt/notesSlides/notesSlide14.xml" Id="R1cfb5a0629d1441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bcba09b1438460d" /><Relationship Type="http://schemas.openxmlformats.org/officeDocument/2006/relationships/image" Target="/ppt/media/image16.png" Id="R04a362726891428f" /><Relationship Type="http://schemas.openxmlformats.org/officeDocument/2006/relationships/notesSlide" Target="/ppt/notesSlides/notesSlide15.xml" Id="Rc46b6568f5c24b9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374a4e36a9d462a" /><Relationship Type="http://schemas.openxmlformats.org/officeDocument/2006/relationships/image" Target="/ppt/media/image17.png" Id="Ra2cf418987ef41ef" /><Relationship Type="http://schemas.openxmlformats.org/officeDocument/2006/relationships/notesSlide" Target="/ppt/notesSlides/notesSlide16.xml" Id="R9df912e5d0e048c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da2b33584d14068" /><Relationship Type="http://schemas.openxmlformats.org/officeDocument/2006/relationships/image" Target="/ppt/media/image18.png" Id="R4546d4fb8cc54d7f" /><Relationship Type="http://schemas.openxmlformats.org/officeDocument/2006/relationships/notesSlide" Target="/ppt/notesSlides/notesSlide17.xml" Id="R7152c210667b444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09ed9b13af4461f" /><Relationship Type="http://schemas.openxmlformats.org/officeDocument/2006/relationships/image" Target="/ppt/media/image19.png" Id="R4538cd36e0a4418c" /><Relationship Type="http://schemas.openxmlformats.org/officeDocument/2006/relationships/notesSlide" Target="/ppt/notesSlides/notesSlide18.xml" Id="R4580ec52c69a435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3644048b41694791" /><Relationship Type="http://schemas.openxmlformats.org/officeDocument/2006/relationships/image" Target="/ppt/media/image20.png" Id="R933943d70177495d" /><Relationship Type="http://schemas.openxmlformats.org/officeDocument/2006/relationships/notesSlide" Target="/ppt/notesSlides/notesSlide19.xml" Id="R5cc910bf2c94429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39cdf351320a4755" /><Relationship Type="http://schemas.openxmlformats.org/officeDocument/2006/relationships/image" Target="/ppt/media/image21.png" Id="Rd6785f01a8024bd4" /><Relationship Type="http://schemas.openxmlformats.org/officeDocument/2006/relationships/notesSlide" Target="/ppt/notesSlides/notesSlide20.xml" Id="R4923fcca27154c7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194cb871e3bb4612" /><Relationship Type="http://schemas.openxmlformats.org/officeDocument/2006/relationships/notesSlide" Target="/ppt/notesSlides/notesSlide21.xml" Id="R5acdbd496fbf45e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ed9c1187b8a74dea" /><Relationship Type="http://schemas.openxmlformats.org/officeDocument/2006/relationships/notesSlide" Target="/ppt/notesSlides/notesSlide22.xml" Id="R1d4835ab41d64992" /></Relationships>
</file>

<file path=ppt/slides/slide1.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7233EDF6-A336-4697-9AF1-72607CAA4AF7}"/>
              </a:ext>
            </a:extLst>
          </p:cNvPr>
          <p:cNvSpPr>
            <a:spLocks xmlns:a="http://schemas.openxmlformats.org/drawingml/2006/main" noGrp="1"/>
          </p:cNvSpPr>
          <p:nvPr/>
        </p:nvSpPr>
        <p:spPr>
          <a:xfrm xmlns:a="http://schemas.openxmlformats.org/drawingml/2006/main">
            <a:off x="609600" y="1190625"/>
            <a:ext cx="5524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FFFFFF"/>
                </a:solidFill>
                <a:latin typeface="Arial"/>
                <a:ea typeface="Arial"/>
                <a:cs typeface="Arial"/>
              </a:defRPr>
            </a:defPPr>
          </a:lstStyle>
          <a:p xmlns:a="http://schemas.openxmlformats.org/drawingml/2006/main">
            <a:pPr algn="l">
              <a:defRPr sz="5700" b="1">
                <a:solidFill>
                  <a:srgbClr val="FFFFFF"/>
                </a:solidFill>
                <a:latin typeface="Arial"/>
                <a:ea typeface="Arial"/>
                <a:cs typeface="Arial"/>
              </a:defRPr>
            </a:pPr>
            <a:r>
              <a:rPr sz="5700" b="1">
                <a:solidFill>
                  <a:srgbClr val="FFFFFF"/>
                </a:solidFill>
                <a:latin typeface="Arial"/>
                <a:ea typeface="Arial"/>
                <a:cs typeface="Arial"/>
              </a:rPr>
              <a:t>DeafApp</a:t>
            </a:r>
          </a:p>
        </p:txBody>
      </p:sp>
      <p:sp>
        <p:nvSpPr>
          <p:cNvPr id="2" name="text-1">
            <a:extLst xmlns:a="http://schemas.openxmlformats.org/drawingml/2006/main">
              <a:ext uri="{FF2B5EF4-FFF2-40B4-BE49-F238E27FC236}">
                <a16:creationId xmlns:a16="http://schemas.microsoft.com/office/drawing/2014/main" id="{53B6C3FC-D101-4346-9CBA-BEC7958F3966}"/>
              </a:ext>
            </a:extLst>
          </p:cNvPr>
          <p:cNvSpPr>
            <a:spLocks xmlns:a="http://schemas.openxmlformats.org/drawingml/2006/main" noGrp="1"/>
          </p:cNvSpPr>
          <p:nvPr/>
        </p:nvSpPr>
        <p:spPr>
          <a:xfrm xmlns:a="http://schemas.openxmlformats.org/drawingml/2006/main">
            <a:off x="609600" y="2343150"/>
            <a:ext cx="5715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5DE0DC"/>
                </a:solidFill>
                <a:latin typeface="Arial"/>
                <a:ea typeface="Arial"/>
                <a:cs typeface="Arial"/>
              </a:defRPr>
            </a:defPPr>
          </a:lstStyle>
          <a:p xmlns:a="http://schemas.openxmlformats.org/drawingml/2006/main">
            <a:pPr algn="l">
              <a:defRPr sz="3600" b="1">
                <a:solidFill>
                  <a:srgbClr val="5DE0DC"/>
                </a:solidFill>
                <a:latin typeface="Arial"/>
                <a:ea typeface="Arial"/>
                <a:cs typeface="Arial"/>
              </a:defRPr>
            </a:pPr>
            <a:r>
              <a:rPr sz="3600" b="1">
                <a:solidFill>
                  <a:srgbClr val="5DE0DC"/>
                </a:solidFill>
                <a:latin typeface="Arial"/>
                <a:ea typeface="Arial"/>
                <a:cs typeface="Arial"/>
              </a:rPr>
              <a:t>Mejoras implementadas</a:t>
            </a:r>
          </a:p>
        </p:txBody>
      </p:sp>
      <p:sp>
        <p:nvSpPr>
          <p:cNvPr id="3" name="text-2">
            <a:extLst xmlns:a="http://schemas.openxmlformats.org/drawingml/2006/main">
              <a:ext uri="{FF2B5EF4-FFF2-40B4-BE49-F238E27FC236}">
                <a16:creationId xmlns:a16="http://schemas.microsoft.com/office/drawing/2014/main" id="{89A854D3-9253-46C7-BF84-F86DCFC12BF1}"/>
              </a:ext>
            </a:extLst>
          </p:cNvPr>
          <p:cNvSpPr>
            <a:spLocks xmlns:a="http://schemas.openxmlformats.org/drawingml/2006/main" noGrp="1"/>
          </p:cNvSpPr>
          <p:nvPr/>
        </p:nvSpPr>
        <p:spPr>
          <a:xfrm xmlns:a="http://schemas.openxmlformats.org/drawingml/2006/main">
            <a:off x="609600" y="3609975"/>
            <a:ext cx="5334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D6D6E4"/>
                </a:solidFill>
                <a:latin typeface="Arial"/>
                <a:ea typeface="Arial"/>
                <a:cs typeface="Arial"/>
              </a:defRPr>
            </a:defPPr>
          </a:lstStyle>
          <a:p xmlns:a="http://schemas.openxmlformats.org/drawingml/2006/main">
            <a:pPr algn="l">
              <a:defRPr sz="2100" b="0">
                <a:solidFill>
                  <a:srgbClr val="D6D6E4"/>
                </a:solidFill>
                <a:latin typeface="Arial"/>
                <a:ea typeface="Arial"/>
                <a:cs typeface="Arial"/>
              </a:defRPr>
            </a:pPr>
            <a:r>
              <a:rPr sz="2100" b="0">
                <a:solidFill>
                  <a:srgbClr val="D6D6E4"/>
                </a:solidFill>
                <a:latin typeface="Arial"/>
                <a:ea typeface="Arial"/>
                <a:cs typeface="Arial"/>
              </a:rPr>
              <a:t>Cámara, grabación y administración de datos de Lengua de Señas Chilena</a:t>
            </a:r>
          </a:p>
        </p:txBody>
      </p:sp>
      <p:sp>
        <p:nvSpPr>
          <p:cNvPr id="4" name="text-3">
            <a:extLst xmlns:a="http://schemas.openxmlformats.org/drawingml/2006/main">
              <a:ext uri="{FF2B5EF4-FFF2-40B4-BE49-F238E27FC236}">
                <a16:creationId xmlns:a16="http://schemas.microsoft.com/office/drawing/2014/main" id="{25085E4D-018F-4833-8416-3822D38A057B}"/>
              </a:ext>
            </a:extLst>
          </p:cNvPr>
          <p:cNvSpPr>
            <a:spLocks xmlns:a="http://schemas.openxmlformats.org/drawingml/2006/main" noGrp="1"/>
          </p:cNvSpPr>
          <p:nvPr/>
        </p:nvSpPr>
        <p:spPr>
          <a:xfrm xmlns:a="http://schemas.openxmlformats.org/drawingml/2006/main">
            <a:off x="609600" y="58293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ADACBC"/>
                </a:solidFill>
                <a:latin typeface="Arial"/>
                <a:ea typeface="Arial"/>
                <a:cs typeface="Arial"/>
              </a:defRPr>
            </a:defPPr>
          </a:lstStyle>
          <a:p xmlns:a="http://schemas.openxmlformats.org/drawingml/2006/main">
            <a:pPr algn="l">
              <a:defRPr sz="1800" b="0">
                <a:solidFill>
                  <a:srgbClr val="ADACBC"/>
                </a:solidFill>
                <a:latin typeface="Arial"/>
                <a:ea typeface="Arial"/>
                <a:cs typeface="Arial"/>
              </a:defRPr>
            </a:pPr>
            <a:r>
              <a:rPr sz="1800" b="0">
                <a:solidFill>
                  <a:srgbClr val="ADACBC"/>
                </a:solidFill>
                <a:latin typeface="Arial"/>
                <a:ea typeface="Arial"/>
                <a:cs typeface="Arial"/>
              </a:rPr>
              <a:t>4 de octubre de 2026</a:t>
            </a:r>
          </a:p>
        </p:txBody>
      </p:sp>
      <p:pic>
        <p:nvPicPr>
          <p:cNvPr id="5" name="">
            <a:extLst xmlns:a="http://schemas.openxmlformats.org/drawingml/2006/main">
              <a:ext uri="{FF2B5EF4-FFF2-40B4-BE49-F238E27FC236}">
                <a16:creationId xmlns:a16="http://schemas.microsoft.com/office/drawing/2014/main" id="{7164CD1D-54EF-4E17-ABEA-4B5A5FA879AE}"/>
              </a:ext>
            </a:extLst>
          </p:cNvPr>
          <p:cNvPicPr>
            <a:picLocks xmlns:a="http://schemas.openxmlformats.org/drawingml/2006/main" noChangeAspect="1"/>
          </p:cNvPicPr>
          <p:nvPr/>
        </p:nvPicPr>
        <p:blipFill>
          <a:blip xmlns:r="http://schemas.openxmlformats.org/officeDocument/2006/relationships" xmlns:a="http://schemas.openxmlformats.org/drawingml/2006/main" r:embed="Re7c311e6e23b40bb"/>
          <a:stretch xmlns:a="http://schemas.openxmlformats.org/drawingml/2006/main"/>
        </p:blipFill>
        <p:spPr>
          <a:xfrm xmlns:a="http://schemas.openxmlformats.org/drawingml/2006/main">
            <a:off x="6557596" y="762000"/>
            <a:ext cx="4791808" cy="5191125"/>
          </a:xfrm>
          <a:prstGeom xmlns:a="http://schemas.openxmlformats.org/drawingml/2006/main" prst="rect">
            <a:avLst/>
          </a:prstGeom>
        </p:spPr>
      </p:pic>
    </p:spTree>
    <p:extLst>
      <p:ext uri="{BB962C8B-B14F-4D97-AF65-F5344CB8AC3E}">
        <p14:creationId xmlns:p14="http://schemas.microsoft.com/office/powerpoint/2010/main" val="1580772996"/>
      </p:ext>
    </p:extLst>
  </p:cSld>
</p:sld>
</file>

<file path=ppt/slides/slide2.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C5373FE4-FE5F-4870-8F81-0DE3C2AF832E}"/>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Trazado de cara en la cámara</a:t>
            </a:r>
          </a:p>
        </p:txBody>
      </p:sp>
      <p:sp>
        <p:nvSpPr>
          <p:cNvPr id="2" name="text-1">
            <a:extLst xmlns:a="http://schemas.openxmlformats.org/drawingml/2006/main">
              <a:ext uri="{FF2B5EF4-FFF2-40B4-BE49-F238E27FC236}">
                <a16:creationId xmlns:a16="http://schemas.microsoft.com/office/drawing/2014/main" id="{5C78D603-081B-4B83-8E13-1662FE55091B}"/>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02</a:t>
            </a:r>
          </a:p>
        </p:txBody>
      </p:sp>
      <p:sp>
        <p:nvSpPr>
          <p:cNvPr id="3" name="text-2">
            <a:extLst xmlns:a="http://schemas.openxmlformats.org/drawingml/2006/main">
              <a:ext uri="{FF2B5EF4-FFF2-40B4-BE49-F238E27FC236}">
                <a16:creationId xmlns:a16="http://schemas.microsoft.com/office/drawing/2014/main" id="{69B2434E-B923-48D7-8D75-66CA00471156}"/>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histórica de la cámara real en la web local</a:t>
            </a:r>
          </a:p>
        </p:txBody>
      </p:sp>
      <p:sp>
        <p:nvSpPr>
          <p:cNvPr id="4" name="text-3">
            <a:extLst xmlns:a="http://schemas.openxmlformats.org/drawingml/2006/main">
              <a:ext uri="{FF2B5EF4-FFF2-40B4-BE49-F238E27FC236}">
                <a16:creationId xmlns:a16="http://schemas.microsoft.com/office/drawing/2014/main" id="{E2B03206-9150-4CCF-B485-C55CD10F316C}"/>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Seguimiento continuo</a:t>
            </a:r>
          </a:p>
        </p:txBody>
      </p:sp>
      <p:sp>
        <p:nvSpPr>
          <p:cNvPr id="5" name="text-4">
            <a:extLst xmlns:a="http://schemas.openxmlformats.org/drawingml/2006/main">
              <a:ext uri="{FF2B5EF4-FFF2-40B4-BE49-F238E27FC236}">
                <a16:creationId xmlns:a16="http://schemas.microsoft.com/office/drawing/2014/main" id="{7BA3800B-0214-4750-8C28-D3BA70D247E0}"/>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El contorno facial se actualiza sobre la imagen de la cámara.</a:t>
            </a:r>
          </a:p>
        </p:txBody>
      </p:sp>
      <p:sp>
        <p:nvSpPr>
          <p:cNvPr id="6" name="text-5">
            <a:extLst xmlns:a="http://schemas.openxmlformats.org/drawingml/2006/main">
              <a:ext uri="{FF2B5EF4-FFF2-40B4-BE49-F238E27FC236}">
                <a16:creationId xmlns:a16="http://schemas.microsoft.com/office/drawing/2014/main" id="{FA7D6EC5-3E2C-47C4-9B5A-E5A0F6CC3D1E}"/>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Alineación de la imagen</a:t>
            </a:r>
          </a:p>
        </p:txBody>
      </p:sp>
      <p:sp>
        <p:nvSpPr>
          <p:cNvPr id="7" name="text-6">
            <a:extLst xmlns:a="http://schemas.openxmlformats.org/drawingml/2006/main">
              <a:ext uri="{FF2B5EF4-FFF2-40B4-BE49-F238E27FC236}">
                <a16:creationId xmlns:a16="http://schemas.microsoft.com/office/drawing/2014/main" id="{E400B689-35AF-40C7-8AEC-8080F8EC110F}"/>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Se corrigieron el desfase y los puntos que permanecían congelados.</a:t>
            </a:r>
          </a:p>
        </p:txBody>
      </p:sp>
      <p:sp>
        <p:nvSpPr>
          <p:cNvPr id="8" name="text-7">
            <a:extLst xmlns:a="http://schemas.openxmlformats.org/drawingml/2006/main">
              <a:ext uri="{FF2B5EF4-FFF2-40B4-BE49-F238E27FC236}">
                <a16:creationId xmlns:a16="http://schemas.microsoft.com/office/drawing/2014/main" id="{9B4E2EEC-D584-464C-8F74-44EC8EC8BFCD}"/>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Detección por separado</a:t>
            </a:r>
          </a:p>
        </p:txBody>
      </p:sp>
      <p:sp>
        <p:nvSpPr>
          <p:cNvPr id="9" name="text-8">
            <a:extLst xmlns:a="http://schemas.openxmlformats.org/drawingml/2006/main">
              <a:ext uri="{FF2B5EF4-FFF2-40B4-BE49-F238E27FC236}">
                <a16:creationId xmlns:a16="http://schemas.microsoft.com/office/drawing/2014/main" id="{B8719368-77BE-41F7-95E9-577D8544C375}"/>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La cara y las dos manos mantienen su propio seguimiento.</a:t>
            </a:r>
          </a:p>
        </p:txBody>
      </p:sp>
      <p:pic>
        <p:nvPicPr>
          <p:cNvPr id="10" name="">
            <a:extLst xmlns:a="http://schemas.openxmlformats.org/drawingml/2006/main">
              <a:ext uri="{FF2B5EF4-FFF2-40B4-BE49-F238E27FC236}">
                <a16:creationId xmlns:a16="http://schemas.microsoft.com/office/drawing/2014/main" id="{42C808A2-5CF1-44F5-8447-932EB8F17423}"/>
              </a:ext>
            </a:extLst>
          </p:cNvPr>
          <p:cNvPicPr>
            <a:picLocks xmlns:a="http://schemas.openxmlformats.org/drawingml/2006/main" noChangeAspect="1"/>
          </p:cNvPicPr>
          <p:nvPr/>
        </p:nvPicPr>
        <p:blipFill>
          <a:blip xmlns:r="http://schemas.openxmlformats.org/officeDocument/2006/relationships" xmlns:a="http://schemas.openxmlformats.org/drawingml/2006/main" r:embed="Rc98a437bf8d04ab5"/>
          <a:stretch xmlns:a="http://schemas.openxmlformats.org/drawingml/2006/main"/>
        </p:blipFill>
        <p:spPr>
          <a:xfrm xmlns:a="http://schemas.openxmlformats.org/drawingml/2006/main">
            <a:off x="5702410" y="1266825"/>
            <a:ext cx="4892456" cy="4876800"/>
          </a:xfrm>
          <a:prstGeom xmlns:a="http://schemas.openxmlformats.org/drawingml/2006/main" prst="rect">
            <a:avLst/>
          </a:prstGeom>
        </p:spPr>
      </p:pic>
    </p:spTree>
    <p:extLst>
      <p:ext uri="{BB962C8B-B14F-4D97-AF65-F5344CB8AC3E}">
        <p14:creationId xmlns:p14="http://schemas.microsoft.com/office/powerpoint/2010/main" val="955100025"/>
      </p:ext>
    </p:extLst>
  </p:cSld>
</p:sld>
</file>

<file path=ppt/slides/slide3.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0B005975-5CE4-4F2A-946A-C4DCDE2C0526}"/>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Reconocimiento de manos más rápido</a:t>
            </a:r>
          </a:p>
        </p:txBody>
      </p:sp>
      <p:sp>
        <p:nvSpPr>
          <p:cNvPr id="2" name="text-1">
            <a:extLst xmlns:a="http://schemas.openxmlformats.org/drawingml/2006/main">
              <a:ext uri="{FF2B5EF4-FFF2-40B4-BE49-F238E27FC236}">
                <a16:creationId xmlns:a16="http://schemas.microsoft.com/office/drawing/2014/main" id="{9F003529-FF90-4C97-A2D9-1544D09E573B}"/>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03</a:t>
            </a:r>
          </a:p>
        </p:txBody>
      </p:sp>
      <p:sp>
        <p:nvSpPr>
          <p:cNvPr id="3" name="text-2">
            <a:extLst xmlns:a="http://schemas.openxmlformats.org/drawingml/2006/main">
              <a:ext uri="{FF2B5EF4-FFF2-40B4-BE49-F238E27FC236}">
                <a16:creationId xmlns:a16="http://schemas.microsoft.com/office/drawing/2014/main" id="{30A263CB-35D5-46DB-ADF4-FCA289B1C51B}"/>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real del diagnóstico local con una imagen de prueba</a:t>
            </a:r>
          </a:p>
        </p:txBody>
      </p:sp>
      <p:sp>
        <p:nvSpPr>
          <p:cNvPr id="4" name="text-3">
            <a:extLst xmlns:a="http://schemas.openxmlformats.org/drawingml/2006/main">
              <a:ext uri="{FF2B5EF4-FFF2-40B4-BE49-F238E27FC236}">
                <a16:creationId xmlns:a16="http://schemas.microsoft.com/office/drawing/2014/main" id="{5A0D3078-CEC8-491F-9BA5-78D4AD0BD47C}"/>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Búsqueda guiada por la cara</a:t>
            </a:r>
          </a:p>
        </p:txBody>
      </p:sp>
      <p:sp>
        <p:nvSpPr>
          <p:cNvPr id="5" name="text-4">
            <a:extLst xmlns:a="http://schemas.openxmlformats.org/drawingml/2006/main">
              <a:ext uri="{FF2B5EF4-FFF2-40B4-BE49-F238E27FC236}">
                <a16:creationId xmlns:a16="http://schemas.microsoft.com/office/drawing/2014/main" id="{CA216E9B-4A54-4B21-8164-67BAA42669A7}"/>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El detector busca primero en regiones donde suelen aparecer las manos.</a:t>
            </a:r>
          </a:p>
        </p:txBody>
      </p:sp>
      <p:sp>
        <p:nvSpPr>
          <p:cNvPr id="6" name="text-5">
            <a:extLst xmlns:a="http://schemas.openxmlformats.org/drawingml/2006/main">
              <a:ext uri="{FF2B5EF4-FFF2-40B4-BE49-F238E27FC236}">
                <a16:creationId xmlns:a16="http://schemas.microsoft.com/office/drawing/2014/main" id="{41F7F846-2E04-453B-A0B9-22051EB10BA0}"/>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21 puntos por mano</a:t>
            </a:r>
          </a:p>
        </p:txBody>
      </p:sp>
      <p:sp>
        <p:nvSpPr>
          <p:cNvPr id="7" name="text-6">
            <a:extLst xmlns:a="http://schemas.openxmlformats.org/drawingml/2006/main">
              <a:ext uri="{FF2B5EF4-FFF2-40B4-BE49-F238E27FC236}">
                <a16:creationId xmlns:a16="http://schemas.microsoft.com/office/drawing/2014/main" id="{C44D4E1D-260B-4ACB-A465-1BC4E059852A}"/>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Se reutiliza el modelo y el procesamiento separado evita bloquear la interfaz.</a:t>
            </a:r>
          </a:p>
        </p:txBody>
      </p:sp>
      <p:sp>
        <p:nvSpPr>
          <p:cNvPr id="8" name="text-7">
            <a:extLst xmlns:a="http://schemas.openxmlformats.org/drawingml/2006/main">
              <a:ext uri="{FF2B5EF4-FFF2-40B4-BE49-F238E27FC236}">
                <a16:creationId xmlns:a16="http://schemas.microsoft.com/office/drawing/2014/main" id="{9C973040-5BB4-47B2-93E5-7051AAF4A2C2}"/>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38 a 74 ms en la prueba</a:t>
            </a:r>
          </a:p>
        </p:txBody>
      </p:sp>
      <p:sp>
        <p:nvSpPr>
          <p:cNvPr id="9" name="text-8">
            <a:extLst xmlns:a="http://schemas.openxmlformats.org/drawingml/2006/main">
              <a:ext uri="{FF2B5EF4-FFF2-40B4-BE49-F238E27FC236}">
                <a16:creationId xmlns:a16="http://schemas.microsoft.com/office/drawing/2014/main" id="{A969136C-34F2-4C51-A951-F28D79394919}"/>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Inferencias tras preparar el modelo. La carga inicial y el equipo influyen.</a:t>
            </a:r>
          </a:p>
        </p:txBody>
      </p:sp>
      <p:pic>
        <p:nvPicPr>
          <p:cNvPr id="10" name="">
            <a:extLst xmlns:a="http://schemas.openxmlformats.org/drawingml/2006/main">
              <a:ext uri="{FF2B5EF4-FFF2-40B4-BE49-F238E27FC236}">
                <a16:creationId xmlns:a16="http://schemas.microsoft.com/office/drawing/2014/main" id="{8A323CFF-F748-47D6-9492-B2EF88F94748}"/>
              </a:ext>
            </a:extLst>
          </p:cNvPr>
          <p:cNvPicPr>
            <a:picLocks xmlns:a="http://schemas.openxmlformats.org/drawingml/2006/main" noChangeAspect="1"/>
          </p:cNvPicPr>
          <p:nvPr/>
        </p:nvPicPr>
        <p:blipFill>
          <a:blip xmlns:r="http://schemas.openxmlformats.org/officeDocument/2006/relationships" xmlns:a="http://schemas.openxmlformats.org/drawingml/2006/main" r:embed="Rd5462e3160dd4f54"/>
          <a:stretch xmlns:a="http://schemas.openxmlformats.org/drawingml/2006/main"/>
        </p:blipFill>
        <p:spPr>
          <a:xfrm xmlns:a="http://schemas.openxmlformats.org/drawingml/2006/main">
            <a:off x="4714875" y="1784862"/>
            <a:ext cx="6867525" cy="3840727"/>
          </a:xfrm>
          <a:prstGeom xmlns:a="http://schemas.openxmlformats.org/drawingml/2006/main" prst="rect">
            <a:avLst/>
          </a:prstGeom>
        </p:spPr>
      </p:pic>
    </p:spTree>
    <p:extLst>
      <p:ext uri="{BB962C8B-B14F-4D97-AF65-F5344CB8AC3E}">
        <p14:creationId xmlns:p14="http://schemas.microsoft.com/office/powerpoint/2010/main" val="82415300"/>
      </p:ext>
    </p:extLst>
  </p:cSld>
</p:sld>
</file>

<file path=ppt/slides/slide4.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C6846F9A-21E3-4DF4-BE68-BEB4B2BA3657}"/>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Inicio y reinicio de la cámara</a:t>
            </a:r>
          </a:p>
        </p:txBody>
      </p:sp>
      <p:sp>
        <p:nvSpPr>
          <p:cNvPr id="2" name="text-1">
            <a:extLst xmlns:a="http://schemas.openxmlformats.org/drawingml/2006/main">
              <a:ext uri="{FF2B5EF4-FFF2-40B4-BE49-F238E27FC236}">
                <a16:creationId xmlns:a16="http://schemas.microsoft.com/office/drawing/2014/main" id="{0F576342-55C9-4227-B454-348B1F21797A}"/>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04</a:t>
            </a:r>
          </a:p>
        </p:txBody>
      </p:sp>
      <p:sp>
        <p:nvSpPr>
          <p:cNvPr id="3" name="text-2">
            <a:extLst xmlns:a="http://schemas.openxmlformats.org/drawingml/2006/main">
              <a:ext uri="{FF2B5EF4-FFF2-40B4-BE49-F238E27FC236}">
                <a16:creationId xmlns:a16="http://schemas.microsoft.com/office/drawing/2014/main" id="{C943F402-E460-4578-9093-ED10A4E709B1}"/>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histórica de la interfaz con la cámara activa</a:t>
            </a:r>
          </a:p>
        </p:txBody>
      </p:sp>
      <p:sp>
        <p:nvSpPr>
          <p:cNvPr id="4" name="text-3">
            <a:extLst xmlns:a="http://schemas.openxmlformats.org/drawingml/2006/main">
              <a:ext uri="{FF2B5EF4-FFF2-40B4-BE49-F238E27FC236}">
                <a16:creationId xmlns:a16="http://schemas.microsoft.com/office/drawing/2014/main" id="{958132B4-83E8-4CC6-9C43-D7A5BD32E011}"/>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Compatibilidad al iniciar</a:t>
            </a:r>
          </a:p>
        </p:txBody>
      </p:sp>
      <p:sp>
        <p:nvSpPr>
          <p:cNvPr id="5" name="text-4">
            <a:extLst xmlns:a="http://schemas.openxmlformats.org/drawingml/2006/main">
              <a:ext uri="{FF2B5EF4-FFF2-40B4-BE49-F238E27FC236}">
                <a16:creationId xmlns:a16="http://schemas.microsoft.com/office/drawing/2014/main" id="{99764D59-E5A8-46D1-807C-4CF6D949E32E}"/>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Se corrigieron fallos de restricciones que dejaban la imagen en negro.</a:t>
            </a:r>
          </a:p>
        </p:txBody>
      </p:sp>
      <p:sp>
        <p:nvSpPr>
          <p:cNvPr id="6" name="text-5">
            <a:extLst xmlns:a="http://schemas.openxmlformats.org/drawingml/2006/main">
              <a:ext uri="{FF2B5EF4-FFF2-40B4-BE49-F238E27FC236}">
                <a16:creationId xmlns:a16="http://schemas.microsoft.com/office/drawing/2014/main" id="{51787566-0AE9-49A7-945F-D53A7AAE5BF9}"/>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Recuperación visible</a:t>
            </a:r>
          </a:p>
        </p:txBody>
      </p:sp>
      <p:sp>
        <p:nvSpPr>
          <p:cNvPr id="7" name="text-6">
            <a:extLst xmlns:a="http://schemas.openxmlformats.org/drawingml/2006/main">
              <a:ext uri="{FF2B5EF4-FFF2-40B4-BE49-F238E27FC236}">
                <a16:creationId xmlns:a16="http://schemas.microsoft.com/office/drawing/2014/main" id="{F32BF8F8-78DF-4825-B8CB-2374BCB01327}"/>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El botón Reiniciar cámara permite volver a intentar la conexión.</a:t>
            </a:r>
          </a:p>
        </p:txBody>
      </p:sp>
      <p:sp>
        <p:nvSpPr>
          <p:cNvPr id="8" name="text-7">
            <a:extLst xmlns:a="http://schemas.openxmlformats.org/drawingml/2006/main">
              <a:ext uri="{FF2B5EF4-FFF2-40B4-BE49-F238E27FC236}">
                <a16:creationId xmlns:a16="http://schemas.microsoft.com/office/drawing/2014/main" id="{5C725923-6B9F-44AC-B741-6C6F9E7246C5}"/>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Sesiones más estables</a:t>
            </a:r>
          </a:p>
        </p:txBody>
      </p:sp>
      <p:sp>
        <p:nvSpPr>
          <p:cNvPr id="9" name="text-8">
            <a:extLst xmlns:a="http://schemas.openxmlformats.org/drawingml/2006/main">
              <a:ext uri="{FF2B5EF4-FFF2-40B4-BE49-F238E27FC236}">
                <a16:creationId xmlns:a16="http://schemas.microsoft.com/office/drawing/2014/main" id="{F71C1BB7-D0C9-4B97-ACD8-4D52ABA39FD1}"/>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Se ajustó el ciclo de apertura y cierre al grabar o revisar una toma.</a:t>
            </a:r>
          </a:p>
        </p:txBody>
      </p:sp>
      <p:pic>
        <p:nvPicPr>
          <p:cNvPr id="10" name="">
            <a:extLst xmlns:a="http://schemas.openxmlformats.org/drawingml/2006/main">
              <a:ext uri="{FF2B5EF4-FFF2-40B4-BE49-F238E27FC236}">
                <a16:creationId xmlns:a16="http://schemas.microsoft.com/office/drawing/2014/main" id="{A82DFBF5-51C3-47A9-81C0-960571E0BFE4}"/>
              </a:ext>
            </a:extLst>
          </p:cNvPr>
          <p:cNvPicPr>
            <a:picLocks xmlns:a="http://schemas.openxmlformats.org/drawingml/2006/main" noChangeAspect="1"/>
          </p:cNvPicPr>
          <p:nvPr/>
        </p:nvPicPr>
        <p:blipFill>
          <a:blip xmlns:r="http://schemas.openxmlformats.org/officeDocument/2006/relationships" xmlns:a="http://schemas.openxmlformats.org/drawingml/2006/main" r:embed="Rb913ce76d2814ba3"/>
          <a:stretch xmlns:a="http://schemas.openxmlformats.org/drawingml/2006/main"/>
        </p:blipFill>
        <p:spPr>
          <a:xfrm xmlns:a="http://schemas.openxmlformats.org/drawingml/2006/main">
            <a:off x="6243638" y="1266825"/>
            <a:ext cx="3810000" cy="4876800"/>
          </a:xfrm>
          <a:prstGeom xmlns:a="http://schemas.openxmlformats.org/drawingml/2006/main" prst="rect">
            <a:avLst/>
          </a:prstGeom>
        </p:spPr>
      </p:pic>
    </p:spTree>
    <p:extLst>
      <p:ext uri="{BB962C8B-B14F-4D97-AF65-F5344CB8AC3E}">
        <p14:creationId xmlns:p14="http://schemas.microsoft.com/office/powerpoint/2010/main" val="2113431938"/>
      </p:ext>
    </p:extLst>
  </p:cSld>
</p:sld>
</file>

<file path=ppt/slides/slide5.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93E0BD35-4238-44D2-8175-A0670EC420E1}"/>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Cámara automática para PC y celular</a:t>
            </a:r>
          </a:p>
        </p:txBody>
      </p:sp>
      <p:sp>
        <p:nvSpPr>
          <p:cNvPr id="2" name="text-1">
            <a:extLst xmlns:a="http://schemas.openxmlformats.org/drawingml/2006/main">
              <a:ext uri="{FF2B5EF4-FFF2-40B4-BE49-F238E27FC236}">
                <a16:creationId xmlns:a16="http://schemas.microsoft.com/office/drawing/2014/main" id="{CDB68FB6-26FA-43C7-BD09-1EEBBA5D1E2D}"/>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05</a:t>
            </a:r>
          </a:p>
        </p:txBody>
      </p:sp>
      <p:sp>
        <p:nvSpPr>
          <p:cNvPr id="3" name="text-2">
            <a:extLst xmlns:a="http://schemas.openxmlformats.org/drawingml/2006/main">
              <a:ext uri="{FF2B5EF4-FFF2-40B4-BE49-F238E27FC236}">
                <a16:creationId xmlns:a16="http://schemas.microsoft.com/office/drawing/2014/main" id="{B9B449AB-D3B3-4810-803A-F594B828AF7B}"/>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Capturas de pruebas locales. El celular se comprobó con emulación del navegador.</a:t>
            </a:r>
          </a:p>
        </p:txBody>
      </p:sp>
      <p:sp>
        <p:nvSpPr>
          <p:cNvPr id="4" name="text-3">
            <a:extLst xmlns:a="http://schemas.openxmlformats.org/drawingml/2006/main">
              <a:ext uri="{FF2B5EF4-FFF2-40B4-BE49-F238E27FC236}">
                <a16:creationId xmlns:a16="http://schemas.microsoft.com/office/drawing/2014/main" id="{6084B4BB-4A1C-474F-B700-1F254181A3FA}"/>
              </a:ext>
            </a:extLst>
          </p:cNvPr>
          <p:cNvSpPr>
            <a:spLocks xmlns:a="http://schemas.openxmlformats.org/drawingml/2006/main" noGrp="1"/>
          </p:cNvSpPr>
          <p:nvPr/>
        </p:nvSpPr>
        <p:spPr>
          <a:xfrm xmlns:a="http://schemas.openxmlformats.org/drawingml/2006/main">
            <a:off x="762000" y="1219200"/>
            <a:ext cx="5429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PC · formato 4:3</a:t>
            </a:r>
          </a:p>
        </p:txBody>
      </p:sp>
      <p:sp>
        <p:nvSpPr>
          <p:cNvPr id="5" name="text-4">
            <a:extLst xmlns:a="http://schemas.openxmlformats.org/drawingml/2006/main">
              <a:ext uri="{FF2B5EF4-FFF2-40B4-BE49-F238E27FC236}">
                <a16:creationId xmlns:a16="http://schemas.microsoft.com/office/drawing/2014/main" id="{84A33D6B-D2AD-4A0D-A46C-BF24E267071D}"/>
              </a:ext>
            </a:extLst>
          </p:cNvPr>
          <p:cNvSpPr>
            <a:spLocks xmlns:a="http://schemas.openxmlformats.org/drawingml/2006/main" noGrp="1"/>
          </p:cNvSpPr>
          <p:nvPr/>
        </p:nvSpPr>
        <p:spPr>
          <a:xfrm xmlns:a="http://schemas.openxmlformats.org/drawingml/2006/main">
            <a:off x="7658100" y="1219200"/>
            <a:ext cx="3924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Celular · formato 9:16</a:t>
            </a:r>
          </a:p>
        </p:txBody>
      </p:sp>
      <p:pic>
        <p:nvPicPr>
          <p:cNvPr id="6" name="">
            <a:extLst xmlns:a="http://schemas.openxmlformats.org/drawingml/2006/main">
              <a:ext uri="{FF2B5EF4-FFF2-40B4-BE49-F238E27FC236}">
                <a16:creationId xmlns:a16="http://schemas.microsoft.com/office/drawing/2014/main" id="{6B99E8F8-B456-4A54-B03E-70DE3A5487C1}"/>
              </a:ext>
            </a:extLst>
          </p:cNvPr>
          <p:cNvPicPr>
            <a:picLocks xmlns:a="http://schemas.openxmlformats.org/drawingml/2006/main" noChangeAspect="1"/>
          </p:cNvPicPr>
          <p:nvPr/>
        </p:nvPicPr>
        <p:blipFill>
          <a:blip xmlns:r="http://schemas.openxmlformats.org/officeDocument/2006/relationships" xmlns:a="http://schemas.openxmlformats.org/drawingml/2006/main" r:embed="R9dec52a2fa2f4bfc"/>
          <a:stretch xmlns:a="http://schemas.openxmlformats.org/drawingml/2006/main"/>
        </p:blipFill>
        <p:spPr>
          <a:xfrm xmlns:a="http://schemas.openxmlformats.org/drawingml/2006/main">
            <a:off x="1460388" y="1733550"/>
            <a:ext cx="4403949" cy="33909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0B4BBFFC-25B7-4B76-B092-7E7D9955FADF}"/>
              </a:ext>
            </a:extLst>
          </p:cNvPr>
          <p:cNvPicPr>
            <a:picLocks xmlns:a="http://schemas.openxmlformats.org/drawingml/2006/main" noChangeAspect="1"/>
          </p:cNvPicPr>
          <p:nvPr/>
        </p:nvPicPr>
        <p:blipFill>
          <a:blip xmlns:r="http://schemas.openxmlformats.org/officeDocument/2006/relationships" xmlns:a="http://schemas.openxmlformats.org/drawingml/2006/main" r:embed="Rcfbf5885e530428c"/>
          <a:stretch xmlns:a="http://schemas.openxmlformats.org/drawingml/2006/main"/>
        </p:blipFill>
        <p:spPr>
          <a:xfrm xmlns:a="http://schemas.openxmlformats.org/drawingml/2006/main">
            <a:off x="8487068" y="1733550"/>
            <a:ext cx="1980613" cy="4286250"/>
          </a:xfrm>
          <a:prstGeom xmlns:a="http://schemas.openxmlformats.org/drawingml/2006/main" prst="rect">
            <a:avLst/>
          </a:prstGeom>
        </p:spPr>
      </p:pic>
      <p:sp>
        <p:nvSpPr>
          <p:cNvPr id="8" name="text-5">
            <a:extLst xmlns:a="http://schemas.openxmlformats.org/drawingml/2006/main">
              <a:ext uri="{FF2B5EF4-FFF2-40B4-BE49-F238E27FC236}">
                <a16:creationId xmlns:a16="http://schemas.microsoft.com/office/drawing/2014/main" id="{F77D48D1-2887-475F-BF0B-D63E4CEEE2AD}"/>
              </a:ext>
            </a:extLst>
          </p:cNvPr>
          <p:cNvSpPr>
            <a:spLocks xmlns:a="http://schemas.openxmlformats.org/drawingml/2006/main" noGrp="1"/>
          </p:cNvSpPr>
          <p:nvPr/>
        </p:nvSpPr>
        <p:spPr>
          <a:xfrm xmlns:a="http://schemas.openxmlformats.org/drawingml/2006/main">
            <a:off x="762000" y="5305425"/>
            <a:ext cx="6000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La web elige el formato según el dispositivo y conserva la proporción al cambiar el tamaño.</a:t>
            </a:r>
          </a:p>
        </p:txBody>
      </p:sp>
    </p:spTree>
    <p:extLst>
      <p:ext uri="{BB962C8B-B14F-4D97-AF65-F5344CB8AC3E}">
        <p14:creationId xmlns:p14="http://schemas.microsoft.com/office/powerpoint/2010/main" val="1006086277"/>
      </p:ext>
    </p:extLst>
  </p:cSld>
</p:sld>
</file>

<file path=ppt/slides/slide6.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06F6F92E-7C4A-4990-9E0A-A40D838B8B67}"/>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Grabación con una o dos manos</a:t>
            </a:r>
          </a:p>
        </p:txBody>
      </p:sp>
      <p:sp>
        <p:nvSpPr>
          <p:cNvPr id="2" name="text-1">
            <a:extLst xmlns:a="http://schemas.openxmlformats.org/drawingml/2006/main">
              <a:ext uri="{FF2B5EF4-FFF2-40B4-BE49-F238E27FC236}">
                <a16:creationId xmlns:a16="http://schemas.microsoft.com/office/drawing/2014/main" id="{5DE81EE4-AAF3-41F0-B5A3-A5009DEF1962}"/>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06</a:t>
            </a:r>
          </a:p>
        </p:txBody>
      </p:sp>
      <p:sp>
        <p:nvSpPr>
          <p:cNvPr id="3" name="text-2">
            <a:extLst xmlns:a="http://schemas.openxmlformats.org/drawingml/2006/main">
              <a:ext uri="{FF2B5EF4-FFF2-40B4-BE49-F238E27FC236}">
                <a16:creationId xmlns:a16="http://schemas.microsoft.com/office/drawing/2014/main" id="{744A5CEE-0B07-46B1-B701-5C7A481C2C09}"/>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real del flujo de preparación para grabar</a:t>
            </a:r>
          </a:p>
        </p:txBody>
      </p:sp>
      <p:sp>
        <p:nvSpPr>
          <p:cNvPr id="4" name="text-3">
            <a:extLst xmlns:a="http://schemas.openxmlformats.org/drawingml/2006/main">
              <a:ext uri="{FF2B5EF4-FFF2-40B4-BE49-F238E27FC236}">
                <a16:creationId xmlns:a16="http://schemas.microsoft.com/office/drawing/2014/main" id="{CD7A0A8B-689E-4352-A0E7-A0E13D71921D}"/>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Preparación sin apuro</a:t>
            </a:r>
          </a:p>
        </p:txBody>
      </p:sp>
      <p:sp>
        <p:nvSpPr>
          <p:cNvPr id="5" name="text-4">
            <a:extLst xmlns:a="http://schemas.openxmlformats.org/drawingml/2006/main">
              <a:ext uri="{FF2B5EF4-FFF2-40B4-BE49-F238E27FC236}">
                <a16:creationId xmlns:a16="http://schemas.microsoft.com/office/drawing/2014/main" id="{AD57908B-C626-484F-BB96-96BCAC872E33}"/>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Primero pulsas Preparar grabación y después colocas las manos.</a:t>
            </a:r>
          </a:p>
        </p:txBody>
      </p:sp>
      <p:sp>
        <p:nvSpPr>
          <p:cNvPr id="6" name="text-5">
            <a:extLst xmlns:a="http://schemas.openxmlformats.org/drawingml/2006/main">
              <a:ext uri="{FF2B5EF4-FFF2-40B4-BE49-F238E27FC236}">
                <a16:creationId xmlns:a16="http://schemas.microsoft.com/office/drawing/2014/main" id="{FB57E6EE-7EAC-497F-955E-3BC0F335AFAE}"/>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Confirmación inicial</a:t>
            </a:r>
          </a:p>
        </p:txBody>
      </p:sp>
      <p:sp>
        <p:nvSpPr>
          <p:cNvPr id="7" name="text-6">
            <a:extLst xmlns:a="http://schemas.openxmlformats.org/drawingml/2006/main">
              <a:ext uri="{FF2B5EF4-FFF2-40B4-BE49-F238E27FC236}">
                <a16:creationId xmlns:a16="http://schemas.microsoft.com/office/drawing/2014/main" id="{A033BCE9-51BA-49AE-A887-12D78FF9EFB7}"/>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La web verifica ambas manos una vez y comienza la cuenta atrás.</a:t>
            </a:r>
          </a:p>
        </p:txBody>
      </p:sp>
      <p:sp>
        <p:nvSpPr>
          <p:cNvPr id="8" name="text-7">
            <a:extLst xmlns:a="http://schemas.openxmlformats.org/drawingml/2006/main">
              <a:ext uri="{FF2B5EF4-FFF2-40B4-BE49-F238E27FC236}">
                <a16:creationId xmlns:a16="http://schemas.microsoft.com/office/drawing/2014/main" id="{58650017-9C70-4576-BB4B-B6CDAC5602E8}"/>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Señas con una mano</a:t>
            </a:r>
          </a:p>
        </p:txBody>
      </p:sp>
      <p:sp>
        <p:nvSpPr>
          <p:cNvPr id="9" name="text-8">
            <a:extLst xmlns:a="http://schemas.openxmlformats.org/drawingml/2006/main">
              <a:ext uri="{FF2B5EF4-FFF2-40B4-BE49-F238E27FC236}">
                <a16:creationId xmlns:a16="http://schemas.microsoft.com/office/drawing/2014/main" id="{D129A1C9-55E6-44CD-BEB7-8D59245483B7}"/>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Tras esa confirmación puedes grabar con una o con las dos manos.</a:t>
            </a:r>
          </a:p>
        </p:txBody>
      </p:sp>
      <p:pic>
        <p:nvPicPr>
          <p:cNvPr id="10" name="">
            <a:extLst xmlns:a="http://schemas.openxmlformats.org/drawingml/2006/main">
              <a:ext uri="{FF2B5EF4-FFF2-40B4-BE49-F238E27FC236}">
                <a16:creationId xmlns:a16="http://schemas.microsoft.com/office/drawing/2014/main" id="{C2289052-EFA6-4DDF-AF10-815B98FEA82B}"/>
              </a:ext>
            </a:extLst>
          </p:cNvPr>
          <p:cNvPicPr>
            <a:picLocks xmlns:a="http://schemas.openxmlformats.org/drawingml/2006/main" noChangeAspect="1"/>
          </p:cNvPicPr>
          <p:nvPr/>
        </p:nvPicPr>
        <p:blipFill>
          <a:blip xmlns:r="http://schemas.openxmlformats.org/officeDocument/2006/relationships" xmlns:a="http://schemas.openxmlformats.org/drawingml/2006/main" r:embed="R1f1c6d56756f4110"/>
          <a:stretch xmlns:a="http://schemas.openxmlformats.org/drawingml/2006/main"/>
        </p:blipFill>
        <p:spPr>
          <a:xfrm xmlns:a="http://schemas.openxmlformats.org/drawingml/2006/main">
            <a:off x="5939349" y="1266825"/>
            <a:ext cx="4418577" cy="4876800"/>
          </a:xfrm>
          <a:prstGeom xmlns:a="http://schemas.openxmlformats.org/drawingml/2006/main" prst="rect">
            <a:avLst/>
          </a:prstGeom>
        </p:spPr>
      </p:pic>
    </p:spTree>
    <p:extLst>
      <p:ext uri="{BB962C8B-B14F-4D97-AF65-F5344CB8AC3E}">
        <p14:creationId xmlns:p14="http://schemas.microsoft.com/office/powerpoint/2010/main" val="446838201"/>
      </p:ext>
    </p:extLst>
  </p:cSld>
</p:sld>
</file>

<file path=ppt/slides/slide7.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40071C62-187D-4B76-98FF-72438BE5EE5E}"/>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Ayuda durante la detección de manos</a:t>
            </a:r>
          </a:p>
        </p:txBody>
      </p:sp>
      <p:sp>
        <p:nvSpPr>
          <p:cNvPr id="2" name="text-1">
            <a:extLst xmlns:a="http://schemas.openxmlformats.org/drawingml/2006/main">
              <a:ext uri="{FF2B5EF4-FFF2-40B4-BE49-F238E27FC236}">
                <a16:creationId xmlns:a16="http://schemas.microsoft.com/office/drawing/2014/main" id="{1F7D4A71-CA2D-4A41-AEBF-F72E2EA01F7F}"/>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07</a:t>
            </a:r>
          </a:p>
        </p:txBody>
      </p:sp>
      <p:sp>
        <p:nvSpPr>
          <p:cNvPr id="3" name="text-2">
            <a:extLst xmlns:a="http://schemas.openxmlformats.org/drawingml/2006/main">
              <a:ext uri="{FF2B5EF4-FFF2-40B4-BE49-F238E27FC236}">
                <a16:creationId xmlns:a16="http://schemas.microsoft.com/office/drawing/2014/main" id="{7E4C2593-41A0-4EBB-ADAF-957C33979077}"/>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histórica de la ayuda contextual en la grabación</a:t>
            </a:r>
          </a:p>
        </p:txBody>
      </p:sp>
      <p:sp>
        <p:nvSpPr>
          <p:cNvPr id="4" name="text-3">
            <a:extLst xmlns:a="http://schemas.openxmlformats.org/drawingml/2006/main">
              <a:ext uri="{FF2B5EF4-FFF2-40B4-BE49-F238E27FC236}">
                <a16:creationId xmlns:a16="http://schemas.microsoft.com/office/drawing/2014/main" id="{30ADE612-901F-4229-9567-DAF1D9A4794F}"/>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Estado comprensible</a:t>
            </a:r>
          </a:p>
        </p:txBody>
      </p:sp>
      <p:sp>
        <p:nvSpPr>
          <p:cNvPr id="5" name="text-4">
            <a:extLst xmlns:a="http://schemas.openxmlformats.org/drawingml/2006/main">
              <a:ext uri="{FF2B5EF4-FFF2-40B4-BE49-F238E27FC236}">
                <a16:creationId xmlns:a16="http://schemas.microsoft.com/office/drawing/2014/main" id="{591BFDFD-65BB-45F0-90A1-3AEC1396670F}"/>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La pantalla indica cuándo está buscando una mano o cuándo ya la detectó.</a:t>
            </a:r>
          </a:p>
        </p:txBody>
      </p:sp>
      <p:sp>
        <p:nvSpPr>
          <p:cNvPr id="6" name="text-5">
            <a:extLst xmlns:a="http://schemas.openxmlformats.org/drawingml/2006/main">
              <a:ext uri="{FF2B5EF4-FFF2-40B4-BE49-F238E27FC236}">
                <a16:creationId xmlns:a16="http://schemas.microsoft.com/office/drawing/2014/main" id="{BAD6882A-3266-434D-9B96-83660E7C3539}"/>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Consejos para corregir</a:t>
            </a:r>
          </a:p>
        </p:txBody>
      </p:sp>
      <p:sp>
        <p:nvSpPr>
          <p:cNvPr id="7" name="text-6">
            <a:extLst xmlns:a="http://schemas.openxmlformats.org/drawingml/2006/main">
              <a:ext uri="{FF2B5EF4-FFF2-40B4-BE49-F238E27FC236}">
                <a16:creationId xmlns:a16="http://schemas.microsoft.com/office/drawing/2014/main" id="{53D0976D-8C2E-40C8-86F4-6AC609504FEB}"/>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Separar las manos, mejorar la luz o sacarlas y volver a mostrarlas.</a:t>
            </a:r>
          </a:p>
        </p:txBody>
      </p:sp>
      <p:sp>
        <p:nvSpPr>
          <p:cNvPr id="8" name="text-7">
            <a:extLst xmlns:a="http://schemas.openxmlformats.org/drawingml/2006/main">
              <a:ext uri="{FF2B5EF4-FFF2-40B4-BE49-F238E27FC236}">
                <a16:creationId xmlns:a16="http://schemas.microsoft.com/office/drawing/2014/main" id="{63612DEA-C583-43C1-B792-975CF66105C7}"/>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Primeras secuencias</a:t>
            </a:r>
          </a:p>
        </p:txBody>
      </p:sp>
      <p:sp>
        <p:nvSpPr>
          <p:cNvPr id="9" name="text-8">
            <a:extLst xmlns:a="http://schemas.openxmlformats.org/drawingml/2006/main">
              <a:ext uri="{FF2B5EF4-FFF2-40B4-BE49-F238E27FC236}">
                <a16:creationId xmlns:a16="http://schemas.microsoft.com/office/drawing/2014/main" id="{ABEE09B5-4827-461D-8CDC-DF8042BFAA0D}"/>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Los mensajes explican que la primera detección puede tardar más.</a:t>
            </a:r>
          </a:p>
        </p:txBody>
      </p:sp>
      <p:pic>
        <p:nvPicPr>
          <p:cNvPr id="10" name="">
            <a:extLst xmlns:a="http://schemas.openxmlformats.org/drawingml/2006/main">
              <a:ext uri="{FF2B5EF4-FFF2-40B4-BE49-F238E27FC236}">
                <a16:creationId xmlns:a16="http://schemas.microsoft.com/office/drawing/2014/main" id="{90544A88-9BC5-459E-98D2-43249E027AEA}"/>
              </a:ext>
            </a:extLst>
          </p:cNvPr>
          <p:cNvPicPr>
            <a:picLocks xmlns:a="http://schemas.openxmlformats.org/drawingml/2006/main" noChangeAspect="1"/>
          </p:cNvPicPr>
          <p:nvPr/>
        </p:nvPicPr>
        <p:blipFill>
          <a:blip xmlns:r="http://schemas.openxmlformats.org/officeDocument/2006/relationships" xmlns:a="http://schemas.openxmlformats.org/drawingml/2006/main" r:embed="Rb25d49983b414e68"/>
          <a:stretch xmlns:a="http://schemas.openxmlformats.org/drawingml/2006/main"/>
        </p:blipFill>
        <p:spPr>
          <a:xfrm xmlns:a="http://schemas.openxmlformats.org/drawingml/2006/main">
            <a:off x="4714875" y="2207795"/>
            <a:ext cx="6867525" cy="2994861"/>
          </a:xfrm>
          <a:prstGeom xmlns:a="http://schemas.openxmlformats.org/drawingml/2006/main" prst="rect">
            <a:avLst/>
          </a:prstGeom>
        </p:spPr>
      </p:pic>
    </p:spTree>
    <p:extLst>
      <p:ext uri="{BB962C8B-B14F-4D97-AF65-F5344CB8AC3E}">
        <p14:creationId xmlns:p14="http://schemas.microsoft.com/office/powerpoint/2010/main" val="1547947001"/>
      </p:ext>
    </p:extLst>
  </p:cSld>
</p:sld>
</file>

<file path=ppt/slides/slide8.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318AE1EA-FAF2-4BB0-8082-597582D1956D}"/>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Filtro del dedo medio levantado</a:t>
            </a:r>
          </a:p>
        </p:txBody>
      </p:sp>
      <p:sp>
        <p:nvSpPr>
          <p:cNvPr id="2" name="text-1">
            <a:extLst xmlns:a="http://schemas.openxmlformats.org/drawingml/2006/main">
              <a:ext uri="{FF2B5EF4-FFF2-40B4-BE49-F238E27FC236}">
                <a16:creationId xmlns:a16="http://schemas.microsoft.com/office/drawing/2014/main" id="{271DB0B8-DAB8-46C3-9975-5EEBC133BC25}"/>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08</a:t>
            </a:r>
          </a:p>
        </p:txBody>
      </p:sp>
      <p:sp>
        <p:nvSpPr>
          <p:cNvPr id="3" name="text-2">
            <a:extLst xmlns:a="http://schemas.openxmlformats.org/drawingml/2006/main">
              <a:ext uri="{FF2B5EF4-FFF2-40B4-BE49-F238E27FC236}">
                <a16:creationId xmlns:a16="http://schemas.microsoft.com/office/drawing/2014/main" id="{EC78D25E-C317-48F0-B31E-05DFE8B75630}"/>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de la web durante una prueba controlada del filtro</a:t>
            </a:r>
          </a:p>
        </p:txBody>
      </p:sp>
      <p:sp>
        <p:nvSpPr>
          <p:cNvPr id="4" name="text-3">
            <a:extLst xmlns:a="http://schemas.openxmlformats.org/drawingml/2006/main">
              <a:ext uri="{FF2B5EF4-FFF2-40B4-BE49-F238E27FC236}">
                <a16:creationId xmlns:a16="http://schemas.microsoft.com/office/drawing/2014/main" id="{8FCB33D9-B160-498D-B18C-D16DC6572C6F}"/>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Aviso en la pantalla</a:t>
            </a:r>
          </a:p>
        </p:txBody>
      </p:sp>
      <p:sp>
        <p:nvSpPr>
          <p:cNvPr id="5" name="text-4">
            <a:extLst xmlns:a="http://schemas.openxmlformats.org/drawingml/2006/main">
              <a:ext uri="{FF2B5EF4-FFF2-40B4-BE49-F238E27FC236}">
                <a16:creationId xmlns:a16="http://schemas.microsoft.com/office/drawing/2014/main" id="{DA2D0CEC-DF42-4D75-9870-68368C408076}"/>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La configuración del dedo medio levantado muestra el motivo del bloqueo.</a:t>
            </a:r>
          </a:p>
        </p:txBody>
      </p:sp>
      <p:sp>
        <p:nvSpPr>
          <p:cNvPr id="6" name="text-5">
            <a:extLst xmlns:a="http://schemas.openxmlformats.org/drawingml/2006/main">
              <a:ext uri="{FF2B5EF4-FFF2-40B4-BE49-F238E27FC236}">
                <a16:creationId xmlns:a16="http://schemas.microsoft.com/office/drawing/2014/main" id="{D71A329F-2D78-4488-ABD2-41E1D153CF10}"/>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Bloqueo de la toma</a:t>
            </a:r>
          </a:p>
        </p:txBody>
      </p:sp>
      <p:sp>
        <p:nvSpPr>
          <p:cNvPr id="7" name="text-6">
            <a:extLst xmlns:a="http://schemas.openxmlformats.org/drawingml/2006/main">
              <a:ext uri="{FF2B5EF4-FFF2-40B4-BE49-F238E27FC236}">
                <a16:creationId xmlns:a16="http://schemas.microsoft.com/office/drawing/2014/main" id="{D84156B3-DB61-4676-9F8B-8ED8199BEC6A}"/>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El filtro impide preparar o completar una grabación con ese gesto.</a:t>
            </a:r>
          </a:p>
        </p:txBody>
      </p:sp>
      <p:sp>
        <p:nvSpPr>
          <p:cNvPr id="8" name="text-7">
            <a:extLst xmlns:a="http://schemas.openxmlformats.org/drawingml/2006/main">
              <a:ext uri="{FF2B5EF4-FFF2-40B4-BE49-F238E27FC236}">
                <a16:creationId xmlns:a16="http://schemas.microsoft.com/office/drawing/2014/main" id="{CEB28A3D-39F7-4301-8B7E-108A4FFDF065}"/>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Alcance concreto</a:t>
            </a:r>
          </a:p>
        </p:txBody>
      </p:sp>
      <p:sp>
        <p:nvSpPr>
          <p:cNvPr id="9" name="text-8">
            <a:extLst xmlns:a="http://schemas.openxmlformats.org/drawingml/2006/main">
              <a:ext uri="{FF2B5EF4-FFF2-40B4-BE49-F238E27FC236}">
                <a16:creationId xmlns:a16="http://schemas.microsoft.com/office/drawing/2014/main" id="{1682F469-8FCF-4562-A25B-3036BCD1CE13}"/>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Otros gestos requieren ejemplos y revisión para evitar bloquear señas válidas.</a:t>
            </a:r>
          </a:p>
        </p:txBody>
      </p:sp>
      <p:pic>
        <p:nvPicPr>
          <p:cNvPr id="10" name="">
            <a:extLst xmlns:a="http://schemas.openxmlformats.org/drawingml/2006/main">
              <a:ext uri="{FF2B5EF4-FFF2-40B4-BE49-F238E27FC236}">
                <a16:creationId xmlns:a16="http://schemas.microsoft.com/office/drawing/2014/main" id="{2BE7540A-2212-435C-9D91-57FB1A3FD6DB}"/>
              </a:ext>
            </a:extLst>
          </p:cNvPr>
          <p:cNvPicPr>
            <a:picLocks xmlns:a="http://schemas.openxmlformats.org/drawingml/2006/main" noChangeAspect="1"/>
          </p:cNvPicPr>
          <p:nvPr/>
        </p:nvPicPr>
        <p:blipFill>
          <a:blip xmlns:r="http://schemas.openxmlformats.org/officeDocument/2006/relationships" xmlns:a="http://schemas.openxmlformats.org/drawingml/2006/main" r:embed="R2ed83b5173a54c18"/>
          <a:stretch xmlns:a="http://schemas.openxmlformats.org/drawingml/2006/main"/>
        </p:blipFill>
        <p:spPr>
          <a:xfrm xmlns:a="http://schemas.openxmlformats.org/drawingml/2006/main">
            <a:off x="4714875" y="1451126"/>
            <a:ext cx="6867525" cy="4508198"/>
          </a:xfrm>
          <a:prstGeom xmlns:a="http://schemas.openxmlformats.org/drawingml/2006/main" prst="rect">
            <a:avLst/>
          </a:prstGeom>
        </p:spPr>
      </p:pic>
    </p:spTree>
    <p:extLst>
      <p:ext uri="{BB962C8B-B14F-4D97-AF65-F5344CB8AC3E}">
        <p14:creationId xmlns:p14="http://schemas.microsoft.com/office/powerpoint/2010/main" val="343186597"/>
      </p:ext>
    </p:extLst>
  </p:cSld>
</p:sld>
</file>

<file path=ppt/slides/slide9.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C88AA2D0-0AE7-44E6-AF88-5E53DD26B50A}"/>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Vista previa antes de enviar</a:t>
            </a:r>
          </a:p>
        </p:txBody>
      </p:sp>
      <p:sp>
        <p:nvSpPr>
          <p:cNvPr id="2" name="text-1">
            <a:extLst xmlns:a="http://schemas.openxmlformats.org/drawingml/2006/main">
              <a:ext uri="{FF2B5EF4-FFF2-40B4-BE49-F238E27FC236}">
                <a16:creationId xmlns:a16="http://schemas.microsoft.com/office/drawing/2014/main" id="{1E680486-365B-4754-AA16-35E93B7F4140}"/>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09</a:t>
            </a:r>
          </a:p>
        </p:txBody>
      </p:sp>
      <p:sp>
        <p:nvSpPr>
          <p:cNvPr id="3" name="text-2">
            <a:extLst xmlns:a="http://schemas.openxmlformats.org/drawingml/2006/main">
              <a:ext uri="{FF2B5EF4-FFF2-40B4-BE49-F238E27FC236}">
                <a16:creationId xmlns:a16="http://schemas.microsoft.com/office/drawing/2014/main" id="{24D04B65-6270-4D47-97AA-4463ADE0AF96}"/>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real de la interfaz. La imagen y el servidor son de una prueba controlada.</a:t>
            </a:r>
          </a:p>
        </p:txBody>
      </p:sp>
      <p:sp>
        <p:nvSpPr>
          <p:cNvPr id="4" name="text-3">
            <a:extLst xmlns:a="http://schemas.openxmlformats.org/drawingml/2006/main">
              <a:ext uri="{FF2B5EF4-FFF2-40B4-BE49-F238E27FC236}">
                <a16:creationId xmlns:a16="http://schemas.microsoft.com/office/drawing/2014/main" id="{9C086221-8216-4FD0-95D3-25B8CEB27C29}"/>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Revisión de la toma</a:t>
            </a:r>
          </a:p>
        </p:txBody>
      </p:sp>
      <p:sp>
        <p:nvSpPr>
          <p:cNvPr id="5" name="text-4">
            <a:extLst xmlns:a="http://schemas.openxmlformats.org/drawingml/2006/main">
              <a:ext uri="{FF2B5EF4-FFF2-40B4-BE49-F238E27FC236}">
                <a16:creationId xmlns:a16="http://schemas.microsoft.com/office/drawing/2014/main" id="{B675C752-F0EF-48DA-A97C-CCE51CC60C5B}"/>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La grabación se reproduce antes de decidir si se envía.</a:t>
            </a:r>
          </a:p>
        </p:txBody>
      </p:sp>
      <p:sp>
        <p:nvSpPr>
          <p:cNvPr id="6" name="text-5">
            <a:extLst xmlns:a="http://schemas.openxmlformats.org/drawingml/2006/main">
              <a:ext uri="{FF2B5EF4-FFF2-40B4-BE49-F238E27FC236}">
                <a16:creationId xmlns:a16="http://schemas.microsoft.com/office/drawing/2014/main" id="{7E589766-343C-4E1D-89D6-A602C9676E11}"/>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Control del usuario</a:t>
            </a:r>
          </a:p>
        </p:txBody>
      </p:sp>
      <p:sp>
        <p:nvSpPr>
          <p:cNvPr id="7" name="text-6">
            <a:extLst xmlns:a="http://schemas.openxmlformats.org/drawingml/2006/main">
              <a:ext uri="{FF2B5EF4-FFF2-40B4-BE49-F238E27FC236}">
                <a16:creationId xmlns:a16="http://schemas.microsoft.com/office/drawing/2014/main" id="{94839F68-1922-454E-A16E-F27611FEF423}"/>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Puedes pausar, repetir la grabación o guardarla para después.</a:t>
            </a:r>
          </a:p>
        </p:txBody>
      </p:sp>
      <p:sp>
        <p:nvSpPr>
          <p:cNvPr id="8" name="text-7">
            <a:extLst xmlns:a="http://schemas.openxmlformats.org/drawingml/2006/main">
              <a:ext uri="{FF2B5EF4-FFF2-40B4-BE49-F238E27FC236}">
                <a16:creationId xmlns:a16="http://schemas.microsoft.com/office/drawing/2014/main" id="{AD5B7B8D-A540-4825-850D-394CAED96B0A}"/>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Envío explícito</a:t>
            </a:r>
          </a:p>
        </p:txBody>
      </p:sp>
      <p:sp>
        <p:nvSpPr>
          <p:cNvPr id="9" name="text-8">
            <a:extLst xmlns:a="http://schemas.openxmlformats.org/drawingml/2006/main">
              <a:ext uri="{FF2B5EF4-FFF2-40B4-BE49-F238E27FC236}">
                <a16:creationId xmlns:a16="http://schemas.microsoft.com/office/drawing/2014/main" id="{9474076A-E36E-433B-AA09-42BB6E100544}"/>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Solo Enviar seña inicia la subida. La cámara se cierra durante la revisión.</a:t>
            </a:r>
          </a:p>
        </p:txBody>
      </p:sp>
      <p:pic>
        <p:nvPicPr>
          <p:cNvPr id="10" name="">
            <a:extLst xmlns:a="http://schemas.openxmlformats.org/drawingml/2006/main">
              <a:ext uri="{FF2B5EF4-FFF2-40B4-BE49-F238E27FC236}">
                <a16:creationId xmlns:a16="http://schemas.microsoft.com/office/drawing/2014/main" id="{7A0DC1D1-4A34-45B1-8A42-325E35908805}"/>
              </a:ext>
            </a:extLst>
          </p:cNvPr>
          <p:cNvPicPr>
            <a:picLocks xmlns:a="http://schemas.openxmlformats.org/drawingml/2006/main" noChangeAspect="1"/>
          </p:cNvPicPr>
          <p:nvPr/>
        </p:nvPicPr>
        <p:blipFill>
          <a:blip xmlns:r="http://schemas.openxmlformats.org/officeDocument/2006/relationships" xmlns:a="http://schemas.openxmlformats.org/drawingml/2006/main" r:embed="Recfa9c9ee4614dc6"/>
          <a:stretch xmlns:a="http://schemas.openxmlformats.org/drawingml/2006/main"/>
        </p:blipFill>
        <p:spPr>
          <a:xfrm xmlns:a="http://schemas.openxmlformats.org/drawingml/2006/main">
            <a:off x="5849995" y="1266825"/>
            <a:ext cx="4597285" cy="4876800"/>
          </a:xfrm>
          <a:prstGeom xmlns:a="http://schemas.openxmlformats.org/drawingml/2006/main" prst="rect">
            <a:avLst/>
          </a:prstGeom>
        </p:spPr>
      </p:pic>
    </p:spTree>
    <p:extLst>
      <p:ext uri="{BB962C8B-B14F-4D97-AF65-F5344CB8AC3E}">
        <p14:creationId xmlns:p14="http://schemas.microsoft.com/office/powerpoint/2010/main" val="1667151702"/>
      </p:ext>
    </p:extLst>
  </p:cSld>
</p:sld>
</file>

<file path=ppt/slides/slide10.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04C6B447-856E-430D-A8D1-A69C074D37BB}"/>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Guardado local y reintento del envío</a:t>
            </a:r>
          </a:p>
        </p:txBody>
      </p:sp>
      <p:sp>
        <p:nvSpPr>
          <p:cNvPr id="2" name="text-1">
            <a:extLst xmlns:a="http://schemas.openxmlformats.org/drawingml/2006/main">
              <a:ext uri="{FF2B5EF4-FFF2-40B4-BE49-F238E27FC236}">
                <a16:creationId xmlns:a16="http://schemas.microsoft.com/office/drawing/2014/main" id="{862FFB99-06D6-4FF4-B19F-4BBE0BBD8270}"/>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10</a:t>
            </a:r>
          </a:p>
        </p:txBody>
      </p:sp>
      <p:sp>
        <p:nvSpPr>
          <p:cNvPr id="3" name="text-2">
            <a:extLst xmlns:a="http://schemas.openxmlformats.org/drawingml/2006/main">
              <a:ext uri="{FF2B5EF4-FFF2-40B4-BE49-F238E27FC236}">
                <a16:creationId xmlns:a16="http://schemas.microsoft.com/office/drawing/2014/main" id="{83BC4FC5-21CB-43F8-9F66-249179F4D2C1}"/>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del fallo de conexión provocado para comprobar la recuperación</a:t>
            </a:r>
          </a:p>
        </p:txBody>
      </p:sp>
      <p:sp>
        <p:nvSpPr>
          <p:cNvPr id="4" name="text-3">
            <a:extLst xmlns:a="http://schemas.openxmlformats.org/drawingml/2006/main">
              <a:ext uri="{FF2B5EF4-FFF2-40B4-BE49-F238E27FC236}">
                <a16:creationId xmlns:a16="http://schemas.microsoft.com/office/drawing/2014/main" id="{DCCBEEFA-E87D-4AFE-A666-EE9B44B320F2}"/>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La toma se conserva</a:t>
            </a:r>
          </a:p>
        </p:txBody>
      </p:sp>
      <p:sp>
        <p:nvSpPr>
          <p:cNvPr id="5" name="text-4">
            <a:extLst xmlns:a="http://schemas.openxmlformats.org/drawingml/2006/main">
              <a:ext uri="{FF2B5EF4-FFF2-40B4-BE49-F238E27FC236}">
                <a16:creationId xmlns:a16="http://schemas.microsoft.com/office/drawing/2014/main" id="{357180CA-5C04-48A9-B6F3-3BEC20FDD4FD}"/>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Al volver a abrir la misma web puedes recuperar la grabación pendiente.</a:t>
            </a:r>
          </a:p>
        </p:txBody>
      </p:sp>
      <p:sp>
        <p:nvSpPr>
          <p:cNvPr id="6" name="text-5">
            <a:extLst xmlns:a="http://schemas.openxmlformats.org/drawingml/2006/main">
              <a:ext uri="{FF2B5EF4-FFF2-40B4-BE49-F238E27FC236}">
                <a16:creationId xmlns:a16="http://schemas.microsoft.com/office/drawing/2014/main" id="{DF90E20F-F9EF-409F-89AD-56E6D32271F9}"/>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Reintentos sin duplicar</a:t>
            </a:r>
          </a:p>
        </p:txBody>
      </p:sp>
      <p:sp>
        <p:nvSpPr>
          <p:cNvPr id="7" name="text-6">
            <a:extLst xmlns:a="http://schemas.openxmlformats.org/drawingml/2006/main">
              <a:ext uri="{FF2B5EF4-FFF2-40B4-BE49-F238E27FC236}">
                <a16:creationId xmlns:a16="http://schemas.microsoft.com/office/drawing/2014/main" id="{203AE1FC-C637-48E0-BB1A-86D3BD7DF8A1}"/>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La subida comprueba el archivo y el registro antes de repetir pasos.</a:t>
            </a:r>
          </a:p>
        </p:txBody>
      </p:sp>
      <p:sp>
        <p:nvSpPr>
          <p:cNvPr id="8" name="text-7">
            <a:extLst xmlns:a="http://schemas.openxmlformats.org/drawingml/2006/main">
              <a:ext uri="{FF2B5EF4-FFF2-40B4-BE49-F238E27FC236}">
                <a16:creationId xmlns:a16="http://schemas.microsoft.com/office/drawing/2014/main" id="{530217A3-3824-420E-B7C4-E9B0D7DDC534}"/>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Errores visibles</a:t>
            </a:r>
          </a:p>
        </p:txBody>
      </p:sp>
      <p:sp>
        <p:nvSpPr>
          <p:cNvPr id="9" name="text-8">
            <a:extLst xmlns:a="http://schemas.openxmlformats.org/drawingml/2006/main">
              <a:ext uri="{FF2B5EF4-FFF2-40B4-BE49-F238E27FC236}">
                <a16:creationId xmlns:a16="http://schemas.microsoft.com/office/drawing/2014/main" id="{83E010D0-CC74-4ECC-B359-AAD2706112F6}"/>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Si falla la conexión, aparece Reintentar envío y se mantiene la toma.</a:t>
            </a:r>
          </a:p>
        </p:txBody>
      </p:sp>
      <p:pic>
        <p:nvPicPr>
          <p:cNvPr id="10" name="">
            <a:extLst xmlns:a="http://schemas.openxmlformats.org/drawingml/2006/main">
              <a:ext uri="{FF2B5EF4-FFF2-40B4-BE49-F238E27FC236}">
                <a16:creationId xmlns:a16="http://schemas.microsoft.com/office/drawing/2014/main" id="{AF98F9B2-635E-43ED-927C-BF751C5333BB}"/>
              </a:ext>
            </a:extLst>
          </p:cNvPr>
          <p:cNvPicPr>
            <a:picLocks xmlns:a="http://schemas.openxmlformats.org/drawingml/2006/main" noChangeAspect="1"/>
          </p:cNvPicPr>
          <p:nvPr/>
        </p:nvPicPr>
        <p:blipFill>
          <a:blip xmlns:r="http://schemas.openxmlformats.org/officeDocument/2006/relationships" xmlns:a="http://schemas.openxmlformats.org/drawingml/2006/main" r:embed="Rd295882ab0004cd2"/>
          <a:stretch xmlns:a="http://schemas.openxmlformats.org/drawingml/2006/main"/>
        </p:blipFill>
        <p:spPr>
          <a:xfrm xmlns:a="http://schemas.openxmlformats.org/drawingml/2006/main">
            <a:off x="4714875" y="1835246"/>
            <a:ext cx="6867525" cy="3739958"/>
          </a:xfrm>
          <a:prstGeom xmlns:a="http://schemas.openxmlformats.org/drawingml/2006/main" prst="rect">
            <a:avLst/>
          </a:prstGeom>
        </p:spPr>
      </p:pic>
    </p:spTree>
    <p:extLst>
      <p:ext uri="{BB962C8B-B14F-4D97-AF65-F5344CB8AC3E}">
        <p14:creationId xmlns:p14="http://schemas.microsoft.com/office/powerpoint/2010/main" val="854473867"/>
      </p:ext>
    </p:extLst>
  </p:cSld>
</p:sld>
</file>

<file path=ppt/slides/slide11.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5BCD47A8-0417-4D59-92CA-6A1814E52546}"/>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Grabación sin elegir Persona 1 o 2</a:t>
            </a:r>
          </a:p>
        </p:txBody>
      </p:sp>
      <p:sp>
        <p:nvSpPr>
          <p:cNvPr id="2" name="text-1">
            <a:extLst xmlns:a="http://schemas.openxmlformats.org/drawingml/2006/main">
              <a:ext uri="{FF2B5EF4-FFF2-40B4-BE49-F238E27FC236}">
                <a16:creationId xmlns:a16="http://schemas.microsoft.com/office/drawing/2014/main" id="{FA4C0F34-A693-4EC0-8F2B-8D05C64A0670}"/>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11</a:t>
            </a:r>
          </a:p>
        </p:txBody>
      </p:sp>
      <p:sp>
        <p:nvSpPr>
          <p:cNvPr id="3" name="text-2">
            <a:extLst xmlns:a="http://schemas.openxmlformats.org/drawingml/2006/main">
              <a:ext uri="{FF2B5EF4-FFF2-40B4-BE49-F238E27FC236}">
                <a16:creationId xmlns:a16="http://schemas.microsoft.com/office/drawing/2014/main" id="{D9B9686D-368A-4AD4-A2E0-ADBF6478057B}"/>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Recorte de los controles actuales. Se retiró el selector de personas.</a:t>
            </a:r>
          </a:p>
        </p:txBody>
      </p:sp>
      <p:sp>
        <p:nvSpPr>
          <p:cNvPr id="4" name="text-3">
            <a:extLst xmlns:a="http://schemas.openxmlformats.org/drawingml/2006/main">
              <a:ext uri="{FF2B5EF4-FFF2-40B4-BE49-F238E27FC236}">
                <a16:creationId xmlns:a16="http://schemas.microsoft.com/office/drawing/2014/main" id="{137CC8A2-FBC5-4623-A0C6-81A4DF829DAC}"/>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Menos pasos al grabar</a:t>
            </a:r>
          </a:p>
        </p:txBody>
      </p:sp>
      <p:sp>
        <p:nvSpPr>
          <p:cNvPr id="5" name="text-4">
            <a:extLst xmlns:a="http://schemas.openxmlformats.org/drawingml/2006/main">
              <a:ext uri="{FF2B5EF4-FFF2-40B4-BE49-F238E27FC236}">
                <a16:creationId xmlns:a16="http://schemas.microsoft.com/office/drawing/2014/main" id="{B859B169-9C79-4D37-8068-A120C556B539}"/>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El usuario ya no selecciona Persona 1, Persona 2 ni crea un perfil.</a:t>
            </a:r>
          </a:p>
        </p:txBody>
      </p:sp>
      <p:sp>
        <p:nvSpPr>
          <p:cNvPr id="6" name="text-5">
            <a:extLst xmlns:a="http://schemas.openxmlformats.org/drawingml/2006/main">
              <a:ext uri="{FF2B5EF4-FFF2-40B4-BE49-F238E27FC236}">
                <a16:creationId xmlns:a16="http://schemas.microsoft.com/office/drawing/2014/main" id="{AAAD04FC-1F49-45A0-A4E9-6ABEE00B347F}"/>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Origen automático</a:t>
            </a:r>
          </a:p>
        </p:txBody>
      </p:sp>
      <p:sp>
        <p:nvSpPr>
          <p:cNvPr id="7" name="text-6">
            <a:extLst xmlns:a="http://schemas.openxmlformats.org/drawingml/2006/main">
              <a:ext uri="{FF2B5EF4-FFF2-40B4-BE49-F238E27FC236}">
                <a16:creationId xmlns:a16="http://schemas.microsoft.com/office/drawing/2014/main" id="{ED74CC8C-884A-439B-AE8B-C68AB37E4FB6}"/>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Cada navegador conserva un código local para organizar las tomas.</a:t>
            </a:r>
          </a:p>
        </p:txBody>
      </p:sp>
      <p:sp>
        <p:nvSpPr>
          <p:cNvPr id="8" name="text-7">
            <a:extLst xmlns:a="http://schemas.openxmlformats.org/drawingml/2006/main">
              <a:ext uri="{FF2B5EF4-FFF2-40B4-BE49-F238E27FC236}">
                <a16:creationId xmlns:a16="http://schemas.microsoft.com/office/drawing/2014/main" id="{E1C38804-FEB4-4E5E-A070-E896494DFAD6}"/>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Evaluación responsable</a:t>
            </a:r>
          </a:p>
        </p:txBody>
      </p:sp>
      <p:sp>
        <p:nvSpPr>
          <p:cNvPr id="9" name="text-8">
            <a:extLst xmlns:a="http://schemas.openxmlformats.org/drawingml/2006/main">
              <a:ext uri="{FF2B5EF4-FFF2-40B4-BE49-F238E27FC236}">
                <a16:creationId xmlns:a16="http://schemas.microsoft.com/office/drawing/2014/main" id="{798C0C1F-7FA0-42E9-B5E9-EEB8E0B6E16A}"/>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Ese código no acredita que las grabaciones sean de personas distintas.</a:t>
            </a:r>
          </a:p>
        </p:txBody>
      </p:sp>
      <p:pic>
        <p:nvPicPr>
          <p:cNvPr id="10" name="">
            <a:extLst xmlns:a="http://schemas.openxmlformats.org/drawingml/2006/main">
              <a:ext uri="{FF2B5EF4-FFF2-40B4-BE49-F238E27FC236}">
                <a16:creationId xmlns:a16="http://schemas.microsoft.com/office/drawing/2014/main" id="{52ABFA0B-9BC7-4F1E-9163-409C70DD2E67}"/>
              </a:ext>
            </a:extLst>
          </p:cNvPr>
          <p:cNvPicPr>
            <a:picLocks xmlns:a="http://schemas.openxmlformats.org/drawingml/2006/main" noChangeAspect="1"/>
          </p:cNvPicPr>
          <p:nvPr/>
        </p:nvPicPr>
        <p:blipFill>
          <a:blip xmlns:r="http://schemas.openxmlformats.org/officeDocument/2006/relationships" xmlns:a="http://schemas.openxmlformats.org/drawingml/2006/main" r:embed="R04a300708d714111"/>
          <a:stretch xmlns:a="http://schemas.openxmlformats.org/drawingml/2006/main"/>
        </p:blipFill>
        <p:spPr>
          <a:xfrm xmlns:a="http://schemas.openxmlformats.org/drawingml/2006/main">
            <a:off x="4714875" y="1938579"/>
            <a:ext cx="6867525" cy="3533292"/>
          </a:xfrm>
          <a:prstGeom xmlns:a="http://schemas.openxmlformats.org/drawingml/2006/main" prst="rect">
            <a:avLst/>
          </a:prstGeom>
        </p:spPr>
      </p:pic>
    </p:spTree>
    <p:extLst>
      <p:ext uri="{BB962C8B-B14F-4D97-AF65-F5344CB8AC3E}">
        <p14:creationId xmlns:p14="http://schemas.microsoft.com/office/powerpoint/2010/main" val="1518628373"/>
      </p:ext>
    </p:extLst>
  </p:cSld>
</p:sld>
</file>

<file path=ppt/slides/slide12.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B1D8A572-B0B5-45D2-B06C-857069CF680E}"/>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Herramientas técnicas fuera del menú</a:t>
            </a:r>
          </a:p>
        </p:txBody>
      </p:sp>
      <p:sp>
        <p:nvSpPr>
          <p:cNvPr id="2" name="text-1">
            <a:extLst xmlns:a="http://schemas.openxmlformats.org/drawingml/2006/main">
              <a:ext uri="{FF2B5EF4-FFF2-40B4-BE49-F238E27FC236}">
                <a16:creationId xmlns:a16="http://schemas.microsoft.com/office/drawing/2014/main" id="{017E5EC5-187D-419E-8971-37DBA284454E}"/>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12</a:t>
            </a:r>
          </a:p>
        </p:txBody>
      </p:sp>
      <p:sp>
        <p:nvSpPr>
          <p:cNvPr id="3" name="text-2">
            <a:extLst xmlns:a="http://schemas.openxmlformats.org/drawingml/2006/main">
              <a:ext uri="{FF2B5EF4-FFF2-40B4-BE49-F238E27FC236}">
                <a16:creationId xmlns:a16="http://schemas.microsoft.com/office/drawing/2014/main" id="{1381B80D-5507-4F9C-8234-037491EDCFF1}"/>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histórica del menú público, centrada en sus categorías</a:t>
            </a:r>
          </a:p>
        </p:txBody>
      </p:sp>
      <p:sp>
        <p:nvSpPr>
          <p:cNvPr id="4" name="text-3">
            <a:extLst xmlns:a="http://schemas.openxmlformats.org/drawingml/2006/main">
              <a:ext uri="{FF2B5EF4-FFF2-40B4-BE49-F238E27FC236}">
                <a16:creationId xmlns:a16="http://schemas.microsoft.com/office/drawing/2014/main" id="{835E0FE1-0ED7-4450-BEF9-618FC4B0F5BE}"/>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Menú de participación</a:t>
            </a:r>
          </a:p>
        </p:txBody>
      </p:sp>
      <p:sp>
        <p:nvSpPr>
          <p:cNvPr id="5" name="text-4">
            <a:extLst xmlns:a="http://schemas.openxmlformats.org/drawingml/2006/main">
              <a:ext uri="{FF2B5EF4-FFF2-40B4-BE49-F238E27FC236}">
                <a16:creationId xmlns:a16="http://schemas.microsoft.com/office/drawing/2014/main" id="{399BC5EA-E476-4714-AC08-BBD9CD8F88FA}"/>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El visualizador técnico independiente dejó de aparecer en el menú público.</a:t>
            </a:r>
          </a:p>
        </p:txBody>
      </p:sp>
      <p:sp>
        <p:nvSpPr>
          <p:cNvPr id="6" name="text-5">
            <a:extLst xmlns:a="http://schemas.openxmlformats.org/drawingml/2006/main">
              <a:ext uri="{FF2B5EF4-FFF2-40B4-BE49-F238E27FC236}">
                <a16:creationId xmlns:a16="http://schemas.microsoft.com/office/drawing/2014/main" id="{CAC6EDBE-AFCB-49CF-8EB6-469A2AB92B6F}"/>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Pruebas en administración</a:t>
            </a:r>
          </a:p>
        </p:txBody>
      </p:sp>
      <p:sp>
        <p:nvSpPr>
          <p:cNvPr id="7" name="text-6">
            <a:extLst xmlns:a="http://schemas.openxmlformats.org/drawingml/2006/main">
              <a:ext uri="{FF2B5EF4-FFF2-40B4-BE49-F238E27FC236}">
                <a16:creationId xmlns:a16="http://schemas.microsoft.com/office/drawing/2014/main" id="{6AFE4135-90CD-49D1-B428-883320DFAD02}"/>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El material de LSCh, diagnóstico y entrenamiento se abren en el panel privado.</a:t>
            </a:r>
          </a:p>
        </p:txBody>
      </p:sp>
      <p:sp>
        <p:nvSpPr>
          <p:cNvPr id="8" name="text-7">
            <a:extLst xmlns:a="http://schemas.openxmlformats.org/drawingml/2006/main">
              <a:ext uri="{FF2B5EF4-FFF2-40B4-BE49-F238E27FC236}">
                <a16:creationId xmlns:a16="http://schemas.microsoft.com/office/drawing/2014/main" id="{15AF8C95-5244-4E52-923B-3C0FF8DFD21A}"/>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Trazado al grabar</a:t>
            </a:r>
          </a:p>
        </p:txBody>
      </p:sp>
      <p:sp>
        <p:nvSpPr>
          <p:cNvPr id="9" name="text-8">
            <a:extLst xmlns:a="http://schemas.openxmlformats.org/drawingml/2006/main">
              <a:ext uri="{FF2B5EF4-FFF2-40B4-BE49-F238E27FC236}">
                <a16:creationId xmlns:a16="http://schemas.microsoft.com/office/drawing/2014/main" id="{A659E645-53FF-48A6-924B-D271E2FD655F}"/>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La guía sobre manos y cara permanece disponible en la cámara.</a:t>
            </a:r>
          </a:p>
        </p:txBody>
      </p:sp>
      <p:pic>
        <p:nvPicPr>
          <p:cNvPr id="10" name="">
            <a:extLst xmlns:a="http://schemas.openxmlformats.org/drawingml/2006/main">
              <a:ext uri="{FF2B5EF4-FFF2-40B4-BE49-F238E27FC236}">
                <a16:creationId xmlns:a16="http://schemas.microsoft.com/office/drawing/2014/main" id="{17B1E8A1-5762-4FB8-8586-94F7CB212107}"/>
              </a:ext>
            </a:extLst>
          </p:cNvPr>
          <p:cNvPicPr>
            <a:picLocks xmlns:a="http://schemas.openxmlformats.org/drawingml/2006/main" noChangeAspect="1"/>
          </p:cNvPicPr>
          <p:nvPr/>
        </p:nvPicPr>
        <p:blipFill>
          <a:blip xmlns:r="http://schemas.openxmlformats.org/officeDocument/2006/relationships" xmlns:a="http://schemas.openxmlformats.org/drawingml/2006/main" r:embed="Re9bfc5eeefb440aa"/>
          <a:stretch xmlns:a="http://schemas.openxmlformats.org/drawingml/2006/main"/>
        </p:blipFill>
        <p:spPr>
          <a:xfrm xmlns:a="http://schemas.openxmlformats.org/drawingml/2006/main">
            <a:off x="4714875" y="1479638"/>
            <a:ext cx="6867525" cy="4451174"/>
          </a:xfrm>
          <a:prstGeom xmlns:a="http://schemas.openxmlformats.org/drawingml/2006/main" prst="rect">
            <a:avLst/>
          </a:prstGeom>
        </p:spPr>
      </p:pic>
    </p:spTree>
    <p:extLst>
      <p:ext uri="{BB962C8B-B14F-4D97-AF65-F5344CB8AC3E}">
        <p14:creationId xmlns:p14="http://schemas.microsoft.com/office/powerpoint/2010/main" val="1837008137"/>
      </p:ext>
    </p:extLst>
  </p:cSld>
</p:sld>
</file>

<file path=ppt/slides/slide13.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3420BA8E-793F-47CC-97DC-BF06C73E6A9B}"/>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Administrador oculto con contraseña</a:t>
            </a:r>
          </a:p>
        </p:txBody>
      </p:sp>
      <p:sp>
        <p:nvSpPr>
          <p:cNvPr id="2" name="text-1">
            <a:extLst xmlns:a="http://schemas.openxmlformats.org/drawingml/2006/main">
              <a:ext uri="{FF2B5EF4-FFF2-40B4-BE49-F238E27FC236}">
                <a16:creationId xmlns:a16="http://schemas.microsoft.com/office/drawing/2014/main" id="{BA8494EB-3773-4D68-AAD8-13925F4C9840}"/>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13</a:t>
            </a:r>
          </a:p>
        </p:txBody>
      </p:sp>
      <p:sp>
        <p:nvSpPr>
          <p:cNvPr id="3" name="text-2">
            <a:extLst xmlns:a="http://schemas.openxmlformats.org/drawingml/2006/main">
              <a:ext uri="{FF2B5EF4-FFF2-40B4-BE49-F238E27FC236}">
                <a16:creationId xmlns:a16="http://schemas.microsoft.com/office/drawing/2014/main" id="{B7C581B1-027D-477D-A561-74CDC69A76A7}"/>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actual del acceso privado. La contraseña no aparece.</a:t>
            </a:r>
          </a:p>
        </p:txBody>
      </p:sp>
      <p:sp>
        <p:nvSpPr>
          <p:cNvPr id="4" name="text-3">
            <a:extLst xmlns:a="http://schemas.openxmlformats.org/drawingml/2006/main">
              <a:ext uri="{FF2B5EF4-FFF2-40B4-BE49-F238E27FC236}">
                <a16:creationId xmlns:a16="http://schemas.microsoft.com/office/drawing/2014/main" id="{7A9F6CE5-F9B5-44E5-95CA-AB4F3F977AB7}"/>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Entrada discreta</a:t>
            </a:r>
          </a:p>
        </p:txBody>
      </p:sp>
      <p:sp>
        <p:nvSpPr>
          <p:cNvPr id="5" name="text-4">
            <a:extLst xmlns:a="http://schemas.openxmlformats.org/drawingml/2006/main">
              <a:ext uri="{FF2B5EF4-FFF2-40B4-BE49-F238E27FC236}">
                <a16:creationId xmlns:a16="http://schemas.microsoft.com/office/drawing/2014/main" id="{94414A37-FF2E-4798-9BE3-3AE9E420814D}"/>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Cinco pulsaciones seguidas sobre el logo abren el acceso al administrador.</a:t>
            </a:r>
          </a:p>
        </p:txBody>
      </p:sp>
      <p:sp>
        <p:nvSpPr>
          <p:cNvPr id="6" name="text-5">
            <a:extLst xmlns:a="http://schemas.openxmlformats.org/drawingml/2006/main">
              <a:ext uri="{FF2B5EF4-FFF2-40B4-BE49-F238E27FC236}">
                <a16:creationId xmlns:a16="http://schemas.microsoft.com/office/drawing/2014/main" id="{CD094BCA-1F92-43CA-A04F-FDEFC2E6376A}"/>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Autenticación del servidor</a:t>
            </a:r>
          </a:p>
        </p:txBody>
      </p:sp>
      <p:sp>
        <p:nvSpPr>
          <p:cNvPr id="7" name="text-6">
            <a:extLst xmlns:a="http://schemas.openxmlformats.org/drawingml/2006/main">
              <a:ext uri="{FF2B5EF4-FFF2-40B4-BE49-F238E27FC236}">
                <a16:creationId xmlns:a16="http://schemas.microsoft.com/office/drawing/2014/main" id="{54ED9F3F-B71E-4ACD-B4F0-3B860D42A3E5}"/>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La contraseña se valida en el servidor y habilita una sesión temporal.</a:t>
            </a:r>
          </a:p>
        </p:txBody>
      </p:sp>
      <p:sp>
        <p:nvSpPr>
          <p:cNvPr id="8" name="text-7">
            <a:extLst xmlns:a="http://schemas.openxmlformats.org/drawingml/2006/main">
              <a:ext uri="{FF2B5EF4-FFF2-40B4-BE49-F238E27FC236}">
                <a16:creationId xmlns:a16="http://schemas.microsoft.com/office/drawing/2014/main" id="{89090448-D664-4DE0-B506-E63C6B67C6FA}"/>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Trabajo centralizado</a:t>
            </a:r>
          </a:p>
        </p:txBody>
      </p:sp>
      <p:sp>
        <p:nvSpPr>
          <p:cNvPr id="9" name="text-8">
            <a:extLst xmlns:a="http://schemas.openxmlformats.org/drawingml/2006/main">
              <a:ext uri="{FF2B5EF4-FFF2-40B4-BE49-F238E27FC236}">
                <a16:creationId xmlns:a16="http://schemas.microsoft.com/office/drawing/2014/main" id="{85A300E9-56AE-4ADB-BA4E-C46896403A9A}"/>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El equipo revisa grabaciones y datos de entrenamiento desde este panel.</a:t>
            </a:r>
          </a:p>
        </p:txBody>
      </p:sp>
      <p:pic>
        <p:nvPicPr>
          <p:cNvPr id="10" name="">
            <a:extLst xmlns:a="http://schemas.openxmlformats.org/drawingml/2006/main">
              <a:ext uri="{FF2B5EF4-FFF2-40B4-BE49-F238E27FC236}">
                <a16:creationId xmlns:a16="http://schemas.microsoft.com/office/drawing/2014/main" id="{4A4515CD-D0D7-4030-80C9-A5849481FF11}"/>
              </a:ext>
            </a:extLst>
          </p:cNvPr>
          <p:cNvPicPr>
            <a:picLocks xmlns:a="http://schemas.openxmlformats.org/drawingml/2006/main" noChangeAspect="1"/>
          </p:cNvPicPr>
          <p:nvPr/>
        </p:nvPicPr>
        <p:blipFill>
          <a:blip xmlns:r="http://schemas.openxmlformats.org/officeDocument/2006/relationships" xmlns:a="http://schemas.openxmlformats.org/drawingml/2006/main" r:embed="Rcedf828547ea4e81"/>
          <a:stretch xmlns:a="http://schemas.openxmlformats.org/drawingml/2006/main"/>
        </p:blipFill>
        <p:spPr>
          <a:xfrm xmlns:a="http://schemas.openxmlformats.org/drawingml/2006/main">
            <a:off x="4714875" y="2569299"/>
            <a:ext cx="6867525" cy="2271852"/>
          </a:xfrm>
          <a:prstGeom xmlns:a="http://schemas.openxmlformats.org/drawingml/2006/main" prst="rect">
            <a:avLst/>
          </a:prstGeom>
        </p:spPr>
      </p:pic>
    </p:spTree>
    <p:extLst>
      <p:ext uri="{BB962C8B-B14F-4D97-AF65-F5344CB8AC3E}">
        <p14:creationId xmlns:p14="http://schemas.microsoft.com/office/powerpoint/2010/main" val="56266857"/>
      </p:ext>
    </p:extLst>
  </p:cSld>
</p:sld>
</file>

<file path=ppt/slides/slide14.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567182DE-6B82-453F-A13F-D49EE59D95F8}"/>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Moderación de todas las grabaciones</a:t>
            </a:r>
          </a:p>
        </p:txBody>
      </p:sp>
      <p:sp>
        <p:nvSpPr>
          <p:cNvPr id="2" name="text-1">
            <a:extLst xmlns:a="http://schemas.openxmlformats.org/drawingml/2006/main">
              <a:ext uri="{FF2B5EF4-FFF2-40B4-BE49-F238E27FC236}">
                <a16:creationId xmlns:a16="http://schemas.microsoft.com/office/drawing/2014/main" id="{5356C537-1163-41EA-89E7-622C8D00D68F}"/>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14</a:t>
            </a:r>
          </a:p>
        </p:txBody>
      </p:sp>
      <p:sp>
        <p:nvSpPr>
          <p:cNvPr id="3" name="text-2">
            <a:extLst xmlns:a="http://schemas.openxmlformats.org/drawingml/2006/main">
              <a:ext uri="{FF2B5EF4-FFF2-40B4-BE49-F238E27FC236}">
                <a16:creationId xmlns:a16="http://schemas.microsoft.com/office/drawing/2014/main" id="{01EA737C-996F-4C07-AC33-65D86F408F5A}"/>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actual del administrador con los estados reales de las grabaciones</a:t>
            </a:r>
          </a:p>
        </p:txBody>
      </p:sp>
      <p:sp>
        <p:nvSpPr>
          <p:cNvPr id="4" name="text-3">
            <a:extLst xmlns:a="http://schemas.openxmlformats.org/drawingml/2006/main">
              <a:ext uri="{FF2B5EF4-FFF2-40B4-BE49-F238E27FC236}">
                <a16:creationId xmlns:a16="http://schemas.microsoft.com/office/drawing/2014/main" id="{BC7378FA-848F-4A79-B9FC-8D2121C629A0}"/>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Pendientes de revisión</a:t>
            </a:r>
          </a:p>
        </p:txBody>
      </p:sp>
      <p:sp>
        <p:nvSpPr>
          <p:cNvPr id="5" name="text-4">
            <a:extLst xmlns:a="http://schemas.openxmlformats.org/drawingml/2006/main">
              <a:ext uri="{FF2B5EF4-FFF2-40B4-BE49-F238E27FC236}">
                <a16:creationId xmlns:a16="http://schemas.microsoft.com/office/drawing/2014/main" id="{C4ADC738-5AAE-44B8-BF4B-9310C742FE0B}"/>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Las nuevas grabaciones esperan una decisión del administrador.</a:t>
            </a:r>
          </a:p>
        </p:txBody>
      </p:sp>
      <p:sp>
        <p:nvSpPr>
          <p:cNvPr id="6" name="text-5">
            <a:extLst xmlns:a="http://schemas.openxmlformats.org/drawingml/2006/main">
              <a:ext uri="{FF2B5EF4-FFF2-40B4-BE49-F238E27FC236}">
                <a16:creationId xmlns:a16="http://schemas.microsoft.com/office/drawing/2014/main" id="{8D8FA9A5-602C-4A3A-B0AB-13D08F2F0648}"/>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Búsqueda y filtros</a:t>
            </a:r>
          </a:p>
        </p:txBody>
      </p:sp>
      <p:sp>
        <p:nvSpPr>
          <p:cNvPr id="7" name="text-6">
            <a:extLst xmlns:a="http://schemas.openxmlformats.org/drawingml/2006/main">
              <a:ext uri="{FF2B5EF4-FFF2-40B4-BE49-F238E27FC236}">
                <a16:creationId xmlns:a16="http://schemas.microsoft.com/office/drawing/2014/main" id="{0C3998D8-8C16-42D5-B94C-6860E70A1411}"/>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Se puede buscar por palabra o categoría y filtrar por estado.</a:t>
            </a:r>
          </a:p>
        </p:txBody>
      </p:sp>
      <p:sp>
        <p:nvSpPr>
          <p:cNvPr id="8" name="text-7">
            <a:extLst xmlns:a="http://schemas.openxmlformats.org/drawingml/2006/main">
              <a:ext uri="{FF2B5EF4-FFF2-40B4-BE49-F238E27FC236}">
                <a16:creationId xmlns:a16="http://schemas.microsoft.com/office/drawing/2014/main" id="{870A3475-3FB6-49C1-B6BB-77D273ACE912}"/>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Decisiones por lote</a:t>
            </a:r>
          </a:p>
        </p:txBody>
      </p:sp>
      <p:sp>
        <p:nvSpPr>
          <p:cNvPr id="9" name="text-8">
            <a:extLst xmlns:a="http://schemas.openxmlformats.org/drawingml/2006/main">
              <a:ext uri="{FF2B5EF4-FFF2-40B4-BE49-F238E27FC236}">
                <a16:creationId xmlns:a16="http://schemas.microsoft.com/office/drawing/2014/main" id="{BA80712D-ABDA-4432-ACCE-08057E8F4BCE}"/>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La selección de una página permite revisar grupos de grabaciones.</a:t>
            </a:r>
          </a:p>
        </p:txBody>
      </p:sp>
      <p:pic>
        <p:nvPicPr>
          <p:cNvPr id="10" name="">
            <a:extLst xmlns:a="http://schemas.openxmlformats.org/drawingml/2006/main">
              <a:ext uri="{FF2B5EF4-FFF2-40B4-BE49-F238E27FC236}">
                <a16:creationId xmlns:a16="http://schemas.microsoft.com/office/drawing/2014/main" id="{C3FA492B-2C95-4EEC-BCA9-FB70F23D69D0}"/>
              </a:ext>
            </a:extLst>
          </p:cNvPr>
          <p:cNvPicPr>
            <a:picLocks xmlns:a="http://schemas.openxmlformats.org/drawingml/2006/main" noChangeAspect="1"/>
          </p:cNvPicPr>
          <p:nvPr/>
        </p:nvPicPr>
        <p:blipFill>
          <a:blip xmlns:r="http://schemas.openxmlformats.org/officeDocument/2006/relationships" xmlns:a="http://schemas.openxmlformats.org/drawingml/2006/main" r:embed="R69bb5c9c0c844849"/>
          <a:stretch xmlns:a="http://schemas.openxmlformats.org/drawingml/2006/main"/>
        </p:blipFill>
        <p:spPr>
          <a:xfrm xmlns:a="http://schemas.openxmlformats.org/drawingml/2006/main">
            <a:off x="4907948" y="1266825"/>
            <a:ext cx="6481379" cy="4876800"/>
          </a:xfrm>
          <a:prstGeom xmlns:a="http://schemas.openxmlformats.org/drawingml/2006/main" prst="rect">
            <a:avLst/>
          </a:prstGeom>
        </p:spPr>
      </p:pic>
    </p:spTree>
    <p:extLst>
      <p:ext uri="{BB962C8B-B14F-4D97-AF65-F5344CB8AC3E}">
        <p14:creationId xmlns:p14="http://schemas.microsoft.com/office/powerpoint/2010/main" val="1980411695"/>
      </p:ext>
    </p:extLst>
  </p:cSld>
</p:sld>
</file>

<file path=ppt/slides/slide15.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693EC9CD-5025-4691-9712-4B17970757BF}"/>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Aprobar o rechazar después de revisar</a:t>
            </a:r>
          </a:p>
        </p:txBody>
      </p:sp>
      <p:sp>
        <p:nvSpPr>
          <p:cNvPr id="2" name="text-1">
            <a:extLst xmlns:a="http://schemas.openxmlformats.org/drawingml/2006/main">
              <a:ext uri="{FF2B5EF4-FFF2-40B4-BE49-F238E27FC236}">
                <a16:creationId xmlns:a16="http://schemas.microsoft.com/office/drawing/2014/main" id="{1E2A144E-AA78-49FB-B492-586836D5DDDC}"/>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15</a:t>
            </a:r>
          </a:p>
        </p:txBody>
      </p:sp>
      <p:sp>
        <p:nvSpPr>
          <p:cNvPr id="3" name="text-2">
            <a:extLst xmlns:a="http://schemas.openxmlformats.org/drawingml/2006/main">
              <a:ext uri="{FF2B5EF4-FFF2-40B4-BE49-F238E27FC236}">
                <a16:creationId xmlns:a16="http://schemas.microsoft.com/office/drawing/2014/main" id="{07614143-FB2F-4176-9112-4D05019605B7}"/>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actual de una grabación real pendiente de revisión</a:t>
            </a:r>
          </a:p>
        </p:txBody>
      </p:sp>
      <p:sp>
        <p:nvSpPr>
          <p:cNvPr id="4" name="text-3">
            <a:extLst xmlns:a="http://schemas.openxmlformats.org/drawingml/2006/main">
              <a:ext uri="{FF2B5EF4-FFF2-40B4-BE49-F238E27FC236}">
                <a16:creationId xmlns:a16="http://schemas.microsoft.com/office/drawing/2014/main" id="{1ACDB674-2A8F-4FA2-8112-9E05A02227E3}"/>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Vista previa del original</a:t>
            </a:r>
          </a:p>
        </p:txBody>
      </p:sp>
      <p:sp>
        <p:nvSpPr>
          <p:cNvPr id="5" name="text-4">
            <a:extLst xmlns:a="http://schemas.openxmlformats.org/drawingml/2006/main">
              <a:ext uri="{FF2B5EF4-FFF2-40B4-BE49-F238E27FC236}">
                <a16:creationId xmlns:a16="http://schemas.microsoft.com/office/drawing/2014/main" id="{CA098BC0-9DAD-4A0B-B9BF-4F598E40F4E9}"/>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El administrador reproduce la secuencia completa y puede pausarla.</a:t>
            </a:r>
          </a:p>
        </p:txBody>
      </p:sp>
      <p:sp>
        <p:nvSpPr>
          <p:cNvPr id="6" name="text-5">
            <a:extLst xmlns:a="http://schemas.openxmlformats.org/drawingml/2006/main">
              <a:ext uri="{FF2B5EF4-FFF2-40B4-BE49-F238E27FC236}">
                <a16:creationId xmlns:a16="http://schemas.microsoft.com/office/drawing/2014/main" id="{1EFAC1E2-4313-4725-A75E-E69A674B3B95}"/>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Tres decisiones</a:t>
            </a:r>
          </a:p>
        </p:txBody>
      </p:sp>
      <p:sp>
        <p:nvSpPr>
          <p:cNvPr id="7" name="text-6">
            <a:extLst xmlns:a="http://schemas.openxmlformats.org/drawingml/2006/main">
              <a:ext uri="{FF2B5EF4-FFF2-40B4-BE49-F238E27FC236}">
                <a16:creationId xmlns:a16="http://schemas.microsoft.com/office/drawing/2014/main" id="{DB8F0461-7A03-4F49-B7ED-4A3356A61EDA}"/>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Aprobar, rechazar o devolver la grabación a pendientes.</a:t>
            </a:r>
          </a:p>
        </p:txBody>
      </p:sp>
      <p:sp>
        <p:nvSpPr>
          <p:cNvPr id="8" name="text-7">
            <a:extLst xmlns:a="http://schemas.openxmlformats.org/drawingml/2006/main">
              <a:ext uri="{FF2B5EF4-FFF2-40B4-BE49-F238E27FC236}">
                <a16:creationId xmlns:a16="http://schemas.microsoft.com/office/drawing/2014/main" id="{1C3E48B8-D595-453D-A646-2193319A129C}"/>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Original conservado</a:t>
            </a:r>
          </a:p>
        </p:txBody>
      </p:sp>
      <p:sp>
        <p:nvSpPr>
          <p:cNvPr id="9" name="text-8">
            <a:extLst xmlns:a="http://schemas.openxmlformats.org/drawingml/2006/main">
              <a:ext uri="{FF2B5EF4-FFF2-40B4-BE49-F238E27FC236}">
                <a16:creationId xmlns:a16="http://schemas.microsoft.com/office/drawing/2014/main" id="{E32B5C85-F623-4AEB-B66D-7599F62FE6BC}"/>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La revisión cambia su estado y conserva el archivo para futuras comprobaciones.</a:t>
            </a:r>
          </a:p>
        </p:txBody>
      </p:sp>
      <p:pic>
        <p:nvPicPr>
          <p:cNvPr id="10" name="">
            <a:extLst xmlns:a="http://schemas.openxmlformats.org/drawingml/2006/main">
              <a:ext uri="{FF2B5EF4-FFF2-40B4-BE49-F238E27FC236}">
                <a16:creationId xmlns:a16="http://schemas.microsoft.com/office/drawing/2014/main" id="{0A867708-30A5-4484-8BC9-01FC5974D750}"/>
              </a:ext>
            </a:extLst>
          </p:cNvPr>
          <p:cNvPicPr>
            <a:picLocks xmlns:a="http://schemas.openxmlformats.org/drawingml/2006/main" noChangeAspect="1"/>
          </p:cNvPicPr>
          <p:nvPr/>
        </p:nvPicPr>
        <p:blipFill>
          <a:blip xmlns:r="http://schemas.openxmlformats.org/officeDocument/2006/relationships" xmlns:a="http://schemas.openxmlformats.org/drawingml/2006/main" r:embed="R04a362726891428f"/>
          <a:stretch xmlns:a="http://schemas.openxmlformats.org/drawingml/2006/main"/>
        </p:blipFill>
        <p:spPr>
          <a:xfrm xmlns:a="http://schemas.openxmlformats.org/drawingml/2006/main">
            <a:off x="4714875" y="2138687"/>
            <a:ext cx="6867525" cy="3133076"/>
          </a:xfrm>
          <a:prstGeom xmlns:a="http://schemas.openxmlformats.org/drawingml/2006/main" prst="rect">
            <a:avLst/>
          </a:prstGeom>
        </p:spPr>
      </p:pic>
    </p:spTree>
    <p:extLst>
      <p:ext uri="{BB962C8B-B14F-4D97-AF65-F5344CB8AC3E}">
        <p14:creationId xmlns:p14="http://schemas.microsoft.com/office/powerpoint/2010/main" val="180463359"/>
      </p:ext>
    </p:extLst>
  </p:cSld>
</p:sld>
</file>

<file path=ppt/slides/slide16.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E9E50F21-17D3-4CEC-BE46-6CD0DDB03E9C}"/>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Material de LSCh dentro del administrador</a:t>
            </a:r>
          </a:p>
        </p:txBody>
      </p:sp>
      <p:sp>
        <p:nvSpPr>
          <p:cNvPr id="2" name="text-1">
            <a:extLst xmlns:a="http://schemas.openxmlformats.org/drawingml/2006/main">
              <a:ext uri="{FF2B5EF4-FFF2-40B4-BE49-F238E27FC236}">
                <a16:creationId xmlns:a16="http://schemas.microsoft.com/office/drawing/2014/main" id="{8FF248A2-7FF7-44C6-95CB-131EBC55F2C1}"/>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16</a:t>
            </a:r>
          </a:p>
        </p:txBody>
      </p:sp>
      <p:sp>
        <p:nvSpPr>
          <p:cNvPr id="3" name="text-2">
            <a:extLst xmlns:a="http://schemas.openxmlformats.org/drawingml/2006/main">
              <a:ext uri="{FF2B5EF4-FFF2-40B4-BE49-F238E27FC236}">
                <a16:creationId xmlns:a16="http://schemas.microsoft.com/office/drawing/2014/main" id="{C44A0DA0-F102-4434-83EB-ECEB3A56F502}"/>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actual de las referencias educativas del catálogo privado</a:t>
            </a:r>
          </a:p>
        </p:txBody>
      </p:sp>
      <p:sp>
        <p:nvSpPr>
          <p:cNvPr id="4" name="text-3">
            <a:extLst xmlns:a="http://schemas.openxmlformats.org/drawingml/2006/main">
              <a:ext uri="{FF2B5EF4-FFF2-40B4-BE49-F238E27FC236}">
                <a16:creationId xmlns:a16="http://schemas.microsoft.com/office/drawing/2014/main" id="{11387A14-CC86-417E-A9A4-A385C35C9173}"/>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Referencias para investigar</a:t>
            </a:r>
          </a:p>
        </p:txBody>
      </p:sp>
      <p:sp>
        <p:nvSpPr>
          <p:cNvPr id="5" name="text-4">
            <a:extLst xmlns:a="http://schemas.openxmlformats.org/drawingml/2006/main">
              <a:ext uri="{FF2B5EF4-FFF2-40B4-BE49-F238E27FC236}">
                <a16:creationId xmlns:a16="http://schemas.microsoft.com/office/drawing/2014/main" id="{1E5FB924-8D96-466B-BF2C-9F99E3072407}"/>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Ocho recursos educativos y un catálogo académico de 379 videos.</a:t>
            </a:r>
          </a:p>
        </p:txBody>
      </p:sp>
      <p:sp>
        <p:nvSpPr>
          <p:cNvPr id="6" name="text-5">
            <a:extLst xmlns:a="http://schemas.openxmlformats.org/drawingml/2006/main">
              <a:ext uri="{FF2B5EF4-FFF2-40B4-BE49-F238E27FC236}">
                <a16:creationId xmlns:a16="http://schemas.microsoft.com/office/drawing/2014/main" id="{B499AF83-E14D-47CB-909B-74BC02D955F8}"/>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Búsqueda por tema o fuente</a:t>
            </a:r>
          </a:p>
        </p:txBody>
      </p:sp>
      <p:sp>
        <p:nvSpPr>
          <p:cNvPr id="7" name="text-6">
            <a:extLst xmlns:a="http://schemas.openxmlformats.org/drawingml/2006/main">
              <a:ext uri="{FF2B5EF4-FFF2-40B4-BE49-F238E27FC236}">
                <a16:creationId xmlns:a16="http://schemas.microsoft.com/office/drawing/2014/main" id="{8ED5E6D1-275B-4EFE-ADC8-20FFD2FCE5D4}"/>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El panel permite localizar ejemplos y consultar quién los publicó.</a:t>
            </a:r>
          </a:p>
        </p:txBody>
      </p:sp>
      <p:sp>
        <p:nvSpPr>
          <p:cNvPr id="8" name="text-7">
            <a:extLst xmlns:a="http://schemas.openxmlformats.org/drawingml/2006/main">
              <a:ext uri="{FF2B5EF4-FFF2-40B4-BE49-F238E27FC236}">
                <a16:creationId xmlns:a16="http://schemas.microsoft.com/office/drawing/2014/main" id="{F044BDD6-7927-4C63-9F95-6BA03DDBC24C}"/>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Revisión antes de entrenar</a:t>
            </a:r>
          </a:p>
        </p:txBody>
      </p:sp>
      <p:sp>
        <p:nvSpPr>
          <p:cNvPr id="9" name="text-8">
            <a:extLst xmlns:a="http://schemas.openxmlformats.org/drawingml/2006/main">
              <a:ext uri="{FF2B5EF4-FFF2-40B4-BE49-F238E27FC236}">
                <a16:creationId xmlns:a16="http://schemas.microsoft.com/office/drawing/2014/main" id="{6F1F0D89-31AA-4643-9998-2B0EB025373A}"/>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Cada fragmento necesita significado confirmado y permiso de uso.</a:t>
            </a:r>
          </a:p>
        </p:txBody>
      </p:sp>
      <p:pic>
        <p:nvPicPr>
          <p:cNvPr id="10" name="">
            <a:extLst xmlns:a="http://schemas.openxmlformats.org/drawingml/2006/main">
              <a:ext uri="{FF2B5EF4-FFF2-40B4-BE49-F238E27FC236}">
                <a16:creationId xmlns:a16="http://schemas.microsoft.com/office/drawing/2014/main" id="{113B6867-043A-4556-83B8-43DF0B6942DF}"/>
              </a:ext>
            </a:extLst>
          </p:cNvPr>
          <p:cNvPicPr>
            <a:picLocks xmlns:a="http://schemas.openxmlformats.org/drawingml/2006/main" noChangeAspect="1"/>
          </p:cNvPicPr>
          <p:nvPr/>
        </p:nvPicPr>
        <p:blipFill>
          <a:blip xmlns:r="http://schemas.openxmlformats.org/officeDocument/2006/relationships" xmlns:a="http://schemas.openxmlformats.org/drawingml/2006/main" r:embed="Ra2cf418987ef41ef"/>
          <a:stretch xmlns:a="http://schemas.openxmlformats.org/drawingml/2006/main"/>
        </p:blipFill>
        <p:spPr>
          <a:xfrm xmlns:a="http://schemas.openxmlformats.org/drawingml/2006/main">
            <a:off x="5147530" y="1266825"/>
            <a:ext cx="6002215" cy="4876800"/>
          </a:xfrm>
          <a:prstGeom xmlns:a="http://schemas.openxmlformats.org/drawingml/2006/main" prst="rect">
            <a:avLst/>
          </a:prstGeom>
        </p:spPr>
      </p:pic>
    </p:spTree>
    <p:extLst>
      <p:ext uri="{BB962C8B-B14F-4D97-AF65-F5344CB8AC3E}">
        <p14:creationId xmlns:p14="http://schemas.microsoft.com/office/powerpoint/2010/main" val="1315502859"/>
      </p:ext>
    </p:extLst>
  </p:cSld>
</p:sld>
</file>

<file path=ppt/slides/slide17.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2215A23C-D1F9-4C84-A510-694B442DEA2C}"/>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Prioridades de las 531 entradas</a:t>
            </a:r>
          </a:p>
        </p:txBody>
      </p:sp>
      <p:sp>
        <p:nvSpPr>
          <p:cNvPr id="2" name="text-1">
            <a:extLst xmlns:a="http://schemas.openxmlformats.org/drawingml/2006/main">
              <a:ext uri="{FF2B5EF4-FFF2-40B4-BE49-F238E27FC236}">
                <a16:creationId xmlns:a16="http://schemas.microsoft.com/office/drawing/2014/main" id="{58324F1F-71D4-4467-AF4F-288790F903A2}"/>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17</a:t>
            </a:r>
          </a:p>
        </p:txBody>
      </p:sp>
      <p:sp>
        <p:nvSpPr>
          <p:cNvPr id="3" name="text-2">
            <a:extLst xmlns:a="http://schemas.openxmlformats.org/drawingml/2006/main">
              <a:ext uri="{FF2B5EF4-FFF2-40B4-BE49-F238E27FC236}">
                <a16:creationId xmlns:a16="http://schemas.microsoft.com/office/drawing/2014/main" id="{DB874966-7ECC-44F0-9A77-78E574E8A9BA}"/>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actual del panel de entrenamiento en el modo de evaluación independiente</a:t>
            </a:r>
          </a:p>
        </p:txBody>
      </p:sp>
      <p:sp>
        <p:nvSpPr>
          <p:cNvPr id="4" name="text-3">
            <a:extLst xmlns:a="http://schemas.openxmlformats.org/drawingml/2006/main">
              <a:ext uri="{FF2B5EF4-FFF2-40B4-BE49-F238E27FC236}">
                <a16:creationId xmlns:a16="http://schemas.microsoft.com/office/drawing/2014/main" id="{24F1DF29-9534-46C1-B5CC-7CB1415C9C58}"/>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Cobertura visible</a:t>
            </a:r>
          </a:p>
        </p:txBody>
      </p:sp>
      <p:sp>
        <p:nvSpPr>
          <p:cNvPr id="5" name="text-4">
            <a:extLst xmlns:a="http://schemas.openxmlformats.org/drawingml/2006/main">
              <a:ext uri="{FF2B5EF4-FFF2-40B4-BE49-F238E27FC236}">
                <a16:creationId xmlns:a16="http://schemas.microsoft.com/office/drawing/2014/main" id="{EBCAC24A-FE35-4EEE-B826-8775CFF80352}"/>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El panel organiza el vocabulario según muestras revisadas y calidad disponible.</a:t>
            </a:r>
          </a:p>
        </p:txBody>
      </p:sp>
      <p:sp>
        <p:nvSpPr>
          <p:cNvPr id="6" name="text-5">
            <a:extLst xmlns:a="http://schemas.openxmlformats.org/drawingml/2006/main">
              <a:ext uri="{FF2B5EF4-FFF2-40B4-BE49-F238E27FC236}">
                <a16:creationId xmlns:a16="http://schemas.microsoft.com/office/drawing/2014/main" id="{34F3277A-1267-4B55-BDFA-7857B80E7296}"/>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Muestras suficientes</a:t>
            </a:r>
          </a:p>
        </p:txBody>
      </p:sp>
      <p:sp>
        <p:nvSpPr>
          <p:cNvPr id="7" name="text-6">
            <a:extLst xmlns:a="http://schemas.openxmlformats.org/drawingml/2006/main">
              <a:ext uri="{FF2B5EF4-FFF2-40B4-BE49-F238E27FC236}">
                <a16:creationId xmlns:a16="http://schemas.microsoft.com/office/drawing/2014/main" id="{AE5DAFEC-10FA-4A2B-9546-18D11D5ABAE5}"/>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El modo independiente reserva originales de personas distintas para la prueba.</a:t>
            </a:r>
          </a:p>
        </p:txBody>
      </p:sp>
      <p:sp>
        <p:nvSpPr>
          <p:cNvPr id="8" name="text-7">
            <a:extLst xmlns:a="http://schemas.openxmlformats.org/drawingml/2006/main">
              <a:ext uri="{FF2B5EF4-FFF2-40B4-BE49-F238E27FC236}">
                <a16:creationId xmlns:a16="http://schemas.microsoft.com/office/drawing/2014/main" id="{B35BF87C-464B-4BB1-AC12-9383BCA812C4}"/>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Material externo preparado</a:t>
            </a:r>
          </a:p>
        </p:txBody>
      </p:sp>
      <p:sp>
        <p:nvSpPr>
          <p:cNvPr id="9" name="text-8">
            <a:extLst xmlns:a="http://schemas.openxmlformats.org/drawingml/2006/main">
              <a:ext uri="{FF2B5EF4-FFF2-40B4-BE49-F238E27FC236}">
                <a16:creationId xmlns:a16="http://schemas.microsoft.com/office/drawing/2014/main" id="{CEDCEFDA-2736-4D0B-BE29-87939307294E}"/>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Existe un flujo para importar datos revisados. Tener enlaces no entrena el modelo.</a:t>
            </a:r>
          </a:p>
        </p:txBody>
      </p:sp>
      <p:pic>
        <p:nvPicPr>
          <p:cNvPr id="10" name="">
            <a:extLst xmlns:a="http://schemas.openxmlformats.org/drawingml/2006/main">
              <a:ext uri="{FF2B5EF4-FFF2-40B4-BE49-F238E27FC236}">
                <a16:creationId xmlns:a16="http://schemas.microsoft.com/office/drawing/2014/main" id="{2CBCEED4-22A2-4288-97F9-1D67BF8FA573}"/>
              </a:ext>
            </a:extLst>
          </p:cNvPr>
          <p:cNvPicPr>
            <a:picLocks xmlns:a="http://schemas.openxmlformats.org/drawingml/2006/main" noChangeAspect="1"/>
          </p:cNvPicPr>
          <p:nvPr/>
        </p:nvPicPr>
        <p:blipFill>
          <a:blip xmlns:r="http://schemas.openxmlformats.org/officeDocument/2006/relationships" xmlns:a="http://schemas.openxmlformats.org/drawingml/2006/main" r:embed="R4546d4fb8cc54d7f"/>
          <a:stretch xmlns:a="http://schemas.openxmlformats.org/drawingml/2006/main"/>
        </p:blipFill>
        <p:spPr>
          <a:xfrm xmlns:a="http://schemas.openxmlformats.org/drawingml/2006/main">
            <a:off x="4855908" y="1266825"/>
            <a:ext cx="6585460" cy="4876800"/>
          </a:xfrm>
          <a:prstGeom xmlns:a="http://schemas.openxmlformats.org/drawingml/2006/main" prst="rect">
            <a:avLst/>
          </a:prstGeom>
        </p:spPr>
      </p:pic>
    </p:spTree>
    <p:extLst>
      <p:ext uri="{BB962C8B-B14F-4D97-AF65-F5344CB8AC3E}">
        <p14:creationId xmlns:p14="http://schemas.microsoft.com/office/powerpoint/2010/main" val="1743829157"/>
      </p:ext>
    </p:extLst>
  </p:cSld>
</p:sld>
</file>

<file path=ppt/slides/slide18.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9DCECAA6-A9E4-4BE2-B46F-5C17D545FF3B}"/>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Recuperación de las 110 aprobadas</a:t>
            </a:r>
          </a:p>
        </p:txBody>
      </p:sp>
      <p:sp>
        <p:nvSpPr>
          <p:cNvPr id="2" name="text-1">
            <a:extLst xmlns:a="http://schemas.openxmlformats.org/drawingml/2006/main">
              <a:ext uri="{FF2B5EF4-FFF2-40B4-BE49-F238E27FC236}">
                <a16:creationId xmlns:a16="http://schemas.microsoft.com/office/drawing/2014/main" id="{A56D35C0-9195-4D85-8E11-E83F7003655D}"/>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18</a:t>
            </a:r>
          </a:p>
        </p:txBody>
      </p:sp>
      <p:sp>
        <p:nvSpPr>
          <p:cNvPr id="3" name="text-2">
            <a:extLst xmlns:a="http://schemas.openxmlformats.org/drawingml/2006/main">
              <a:ext uri="{FF2B5EF4-FFF2-40B4-BE49-F238E27FC236}">
                <a16:creationId xmlns:a16="http://schemas.microsoft.com/office/drawing/2014/main" id="{BCAB50DF-CA0E-49C3-835C-1ACF405BA0D7}"/>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real de los resultados de recuperación de las grabaciones antiguas</a:t>
            </a:r>
          </a:p>
        </p:txBody>
      </p:sp>
      <p:sp>
        <p:nvSpPr>
          <p:cNvPr id="4" name="text-3">
            <a:extLst xmlns:a="http://schemas.openxmlformats.org/drawingml/2006/main">
              <a:ext uri="{FF2B5EF4-FFF2-40B4-BE49-F238E27FC236}">
                <a16:creationId xmlns:a16="http://schemas.microsoft.com/office/drawing/2014/main" id="{CEFA0AB2-E3CD-4AB1-A24D-E9C8670CB896}"/>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110 archivos conservados</a:t>
            </a:r>
          </a:p>
        </p:txBody>
      </p:sp>
      <p:sp>
        <p:nvSpPr>
          <p:cNvPr id="5" name="text-4">
            <a:extLst xmlns:a="http://schemas.openxmlformats.org/drawingml/2006/main">
              <a:ext uri="{FF2B5EF4-FFF2-40B4-BE49-F238E27FC236}">
                <a16:creationId xmlns:a16="http://schemas.microsoft.com/office/drawing/2014/main" id="{7BB10F65-E4C6-4F65-B8A1-67701C447A23}"/>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Se extrajeron nuevamente puntos de los fotogramas existentes.</a:t>
            </a:r>
          </a:p>
        </p:txBody>
      </p:sp>
      <p:sp>
        <p:nvSpPr>
          <p:cNvPr id="6" name="text-5">
            <a:extLst xmlns:a="http://schemas.openxmlformats.org/drawingml/2006/main">
              <a:ext uri="{FF2B5EF4-FFF2-40B4-BE49-F238E27FC236}">
                <a16:creationId xmlns:a16="http://schemas.microsoft.com/office/drawing/2014/main" id="{717D569F-6730-47CE-B946-A5A4677745FE}"/>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44 con calidad utilizable</a:t>
            </a:r>
          </a:p>
        </p:txBody>
      </p:sp>
      <p:sp>
        <p:nvSpPr>
          <p:cNvPr id="7" name="text-6">
            <a:extLst xmlns:a="http://schemas.openxmlformats.org/drawingml/2006/main">
              <a:ext uri="{FF2B5EF4-FFF2-40B4-BE49-F238E27FC236}">
                <a16:creationId xmlns:a16="http://schemas.microsoft.com/office/drawing/2014/main" id="{93B36D8F-9F22-4B43-9303-06EC7FAE0B90}"/>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La comprobación técnica permite aprovechar material para experimentos.</a:t>
            </a:r>
          </a:p>
        </p:txBody>
      </p:sp>
      <p:sp>
        <p:nvSpPr>
          <p:cNvPr id="8" name="text-7">
            <a:extLst xmlns:a="http://schemas.openxmlformats.org/drawingml/2006/main">
              <a:ext uri="{FF2B5EF4-FFF2-40B4-BE49-F238E27FC236}">
                <a16:creationId xmlns:a16="http://schemas.microsoft.com/office/drawing/2014/main" id="{25CF9F8D-ACD4-47BA-A523-8638C5C74231}"/>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Dos clases iniciales</a:t>
            </a:r>
          </a:p>
        </p:txBody>
      </p:sp>
      <p:sp>
        <p:nvSpPr>
          <p:cNvPr id="9" name="text-8">
            <a:extLst xmlns:a="http://schemas.openxmlformats.org/drawingml/2006/main">
              <a:ext uri="{FF2B5EF4-FFF2-40B4-BE49-F238E27FC236}">
                <a16:creationId xmlns:a16="http://schemas.microsoft.com/office/drawing/2014/main" id="{A76DF3F1-D706-482C-B695-689308BFEE25}"/>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Cerdo y día tienen dos originales distintos para un primer prototipo.</a:t>
            </a:r>
          </a:p>
        </p:txBody>
      </p:sp>
      <p:pic>
        <p:nvPicPr>
          <p:cNvPr id="10" name="">
            <a:extLst xmlns:a="http://schemas.openxmlformats.org/drawingml/2006/main">
              <a:ext uri="{FF2B5EF4-FFF2-40B4-BE49-F238E27FC236}">
                <a16:creationId xmlns:a16="http://schemas.microsoft.com/office/drawing/2014/main" id="{BB168C8B-FADC-48BA-B227-D4B1B1D31DD9}"/>
              </a:ext>
            </a:extLst>
          </p:cNvPr>
          <p:cNvPicPr>
            <a:picLocks xmlns:a="http://schemas.openxmlformats.org/drawingml/2006/main" noChangeAspect="1"/>
          </p:cNvPicPr>
          <p:nvPr/>
        </p:nvPicPr>
        <p:blipFill>
          <a:blip xmlns:r="http://schemas.openxmlformats.org/officeDocument/2006/relationships" xmlns:a="http://schemas.openxmlformats.org/drawingml/2006/main" r:embed="R4538cd36e0a4418c"/>
          <a:stretch xmlns:a="http://schemas.openxmlformats.org/drawingml/2006/main"/>
        </p:blipFill>
        <p:spPr>
          <a:xfrm xmlns:a="http://schemas.openxmlformats.org/drawingml/2006/main">
            <a:off x="4985586" y="1266825"/>
            <a:ext cx="6326103" cy="4876800"/>
          </a:xfrm>
          <a:prstGeom xmlns:a="http://schemas.openxmlformats.org/drawingml/2006/main" prst="rect">
            <a:avLst/>
          </a:prstGeom>
        </p:spPr>
      </p:pic>
    </p:spTree>
    <p:extLst>
      <p:ext uri="{BB962C8B-B14F-4D97-AF65-F5344CB8AC3E}">
        <p14:creationId xmlns:p14="http://schemas.microsoft.com/office/powerpoint/2010/main" val="786040590"/>
      </p:ext>
    </p:extLst>
  </p:cSld>
</p:sld>
</file>

<file path=ppt/slides/slide19.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2B379C4B-FCDA-430A-BCF3-5B6CAA91F723}"/>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Revisión de etiquetas recuperadas</a:t>
            </a:r>
          </a:p>
        </p:txBody>
      </p:sp>
      <p:sp>
        <p:nvSpPr>
          <p:cNvPr id="2" name="text-1">
            <a:extLst xmlns:a="http://schemas.openxmlformats.org/drawingml/2006/main">
              <a:ext uri="{FF2B5EF4-FFF2-40B4-BE49-F238E27FC236}">
                <a16:creationId xmlns:a16="http://schemas.microsoft.com/office/drawing/2014/main" id="{0B2EBF2D-1C7C-46E3-BBF0-C1C187A45DD5}"/>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19</a:t>
            </a:r>
          </a:p>
        </p:txBody>
      </p:sp>
      <p:sp>
        <p:nvSpPr>
          <p:cNvPr id="3" name="text-2">
            <a:extLst xmlns:a="http://schemas.openxmlformats.org/drawingml/2006/main">
              <a:ext uri="{FF2B5EF4-FFF2-40B4-BE49-F238E27FC236}">
                <a16:creationId xmlns:a16="http://schemas.microsoft.com/office/drawing/2014/main" id="{9BB80EE6-4FCE-4CB0-BC13-9FAA765D2487}"/>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Captura actual del editor de revisión, sin cambiar la grabación</a:t>
            </a:r>
          </a:p>
        </p:txBody>
      </p:sp>
      <p:sp>
        <p:nvSpPr>
          <p:cNvPr id="4" name="text-3">
            <a:extLst xmlns:a="http://schemas.openxmlformats.org/drawingml/2006/main">
              <a:ext uri="{FF2B5EF4-FFF2-40B4-BE49-F238E27FC236}">
                <a16:creationId xmlns:a16="http://schemas.microsoft.com/office/drawing/2014/main" id="{CD35DAD7-0257-4DA8-AC1B-C875CA4B3B76}"/>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Seña exacta</a:t>
            </a:r>
          </a:p>
        </p:txBody>
      </p:sp>
      <p:sp>
        <p:nvSpPr>
          <p:cNvPr id="5" name="text-4">
            <a:extLst xmlns:a="http://schemas.openxmlformats.org/drawingml/2006/main">
              <a:ext uri="{FF2B5EF4-FFF2-40B4-BE49-F238E27FC236}">
                <a16:creationId xmlns:a16="http://schemas.microsoft.com/office/drawing/2014/main" id="{AF98FE70-07F5-474F-A24C-1D7BC9F03D94}"/>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El administrador comprueba si la etiqueta corresponde a toda la secuencia.</a:t>
            </a:r>
          </a:p>
        </p:txBody>
      </p:sp>
      <p:sp>
        <p:nvSpPr>
          <p:cNvPr id="6" name="text-5">
            <a:extLst xmlns:a="http://schemas.openxmlformats.org/drawingml/2006/main">
              <a:ext uri="{FF2B5EF4-FFF2-40B4-BE49-F238E27FC236}">
                <a16:creationId xmlns:a16="http://schemas.microsoft.com/office/drawing/2014/main" id="{645F622D-CB5B-49A1-BFFD-F0E3EED160FE}"/>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Confirmación antes de guardar</a:t>
            </a:r>
          </a:p>
        </p:txBody>
      </p:sp>
      <p:sp>
        <p:nvSpPr>
          <p:cNvPr id="7" name="text-6">
            <a:extLst xmlns:a="http://schemas.openxmlformats.org/drawingml/2006/main">
              <a:ext uri="{FF2B5EF4-FFF2-40B4-BE49-F238E27FC236}">
                <a16:creationId xmlns:a16="http://schemas.microsoft.com/office/drawing/2014/main" id="{EE13032C-77E4-48D3-A071-7A4BC5433B78}"/>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La revisión conserva una anotación local y mantiene intacto el original.</a:t>
            </a:r>
          </a:p>
        </p:txBody>
      </p:sp>
      <p:sp>
        <p:nvSpPr>
          <p:cNvPr id="8" name="text-7">
            <a:extLst xmlns:a="http://schemas.openxmlformats.org/drawingml/2006/main">
              <a:ext uri="{FF2B5EF4-FFF2-40B4-BE49-F238E27FC236}">
                <a16:creationId xmlns:a16="http://schemas.microsoft.com/office/drawing/2014/main" id="{80E1DE9E-AA4C-48EE-9838-A50BF5B1C4C7}"/>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Datos desconocidos visibles</a:t>
            </a:r>
          </a:p>
        </p:txBody>
      </p:sp>
      <p:sp>
        <p:nvSpPr>
          <p:cNvPr id="9" name="text-8">
            <a:extLst xmlns:a="http://schemas.openxmlformats.org/drawingml/2006/main">
              <a:ext uri="{FF2B5EF4-FFF2-40B4-BE49-F238E27FC236}">
                <a16:creationId xmlns:a16="http://schemas.microsoft.com/office/drawing/2014/main" id="{658C9854-B94A-466F-8AF6-3BCBE98AD756}"/>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Cuando faltan tiempos o identidad, la herramienta lo indica.</a:t>
            </a:r>
          </a:p>
        </p:txBody>
      </p:sp>
      <p:pic>
        <p:nvPicPr>
          <p:cNvPr id="10" name="">
            <a:extLst xmlns:a="http://schemas.openxmlformats.org/drawingml/2006/main">
              <a:ext uri="{FF2B5EF4-FFF2-40B4-BE49-F238E27FC236}">
                <a16:creationId xmlns:a16="http://schemas.microsoft.com/office/drawing/2014/main" id="{FCA0EC09-A393-46D9-9833-26D185FB1A9C}"/>
              </a:ext>
            </a:extLst>
          </p:cNvPr>
          <p:cNvPicPr>
            <a:picLocks xmlns:a="http://schemas.openxmlformats.org/drawingml/2006/main" noChangeAspect="1"/>
          </p:cNvPicPr>
          <p:nvPr/>
        </p:nvPicPr>
        <p:blipFill>
          <a:blip xmlns:r="http://schemas.openxmlformats.org/officeDocument/2006/relationships" xmlns:a="http://schemas.openxmlformats.org/drawingml/2006/main" r:embed="R933943d70177495d"/>
          <a:stretch xmlns:a="http://schemas.openxmlformats.org/drawingml/2006/main"/>
        </p:blipFill>
        <p:spPr>
          <a:xfrm xmlns:a="http://schemas.openxmlformats.org/drawingml/2006/main">
            <a:off x="4714875" y="2294598"/>
            <a:ext cx="6867525" cy="2821254"/>
          </a:xfrm>
          <a:prstGeom xmlns:a="http://schemas.openxmlformats.org/drawingml/2006/main" prst="rect">
            <a:avLst/>
          </a:prstGeom>
        </p:spPr>
      </p:pic>
    </p:spTree>
    <p:extLst>
      <p:ext uri="{BB962C8B-B14F-4D97-AF65-F5344CB8AC3E}">
        <p14:creationId xmlns:p14="http://schemas.microsoft.com/office/powerpoint/2010/main" val="1937598835"/>
      </p:ext>
    </p:extLst>
  </p:cSld>
</p:sld>
</file>

<file path=ppt/slides/slide20.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D9C4E88B-FB44-4DCB-BE42-96B5A51178A8}"/>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Primer prototipo entrenado y guardado</a:t>
            </a:r>
          </a:p>
        </p:txBody>
      </p:sp>
      <p:sp>
        <p:nvSpPr>
          <p:cNvPr id="2" name="text-1">
            <a:extLst xmlns:a="http://schemas.openxmlformats.org/drawingml/2006/main">
              <a:ext uri="{FF2B5EF4-FFF2-40B4-BE49-F238E27FC236}">
                <a16:creationId xmlns:a16="http://schemas.microsoft.com/office/drawing/2014/main" id="{24FE2D43-1032-4853-8A02-2DDAD83B78FC}"/>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20</a:t>
            </a:r>
          </a:p>
        </p:txBody>
      </p:sp>
      <p:sp>
        <p:nvSpPr>
          <p:cNvPr id="3" name="text-2">
            <a:extLst xmlns:a="http://schemas.openxmlformats.org/drawingml/2006/main">
              <a:ext uri="{FF2B5EF4-FFF2-40B4-BE49-F238E27FC236}">
                <a16:creationId xmlns:a16="http://schemas.microsoft.com/office/drawing/2014/main" id="{BF881754-A611-4A99-8671-4C9645600C78}"/>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Informe real del modelo local guardado. Resultado interno sobre solo dos tomas.</a:t>
            </a:r>
          </a:p>
        </p:txBody>
      </p:sp>
      <p:sp>
        <p:nvSpPr>
          <p:cNvPr id="4" name="text-3">
            <a:extLst xmlns:a="http://schemas.openxmlformats.org/drawingml/2006/main">
              <a:ext uri="{FF2B5EF4-FFF2-40B4-BE49-F238E27FC236}">
                <a16:creationId xmlns:a16="http://schemas.microsoft.com/office/drawing/2014/main" id="{70A40666-E759-4B24-AF12-08F7E647E614}"/>
              </a:ext>
            </a:extLst>
          </p:cNvPr>
          <p:cNvSpPr>
            <a:spLocks xmlns:a="http://schemas.openxmlformats.org/drawingml/2006/main" noGrp="1"/>
          </p:cNvSpPr>
          <p:nvPr/>
        </p:nvSpPr>
        <p:spPr>
          <a:xfrm xmlns:a="http://schemas.openxmlformats.org/drawingml/2006/main">
            <a:off x="609600" y="149542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Dos señas aisladas</a:t>
            </a:r>
          </a:p>
        </p:txBody>
      </p:sp>
      <p:sp>
        <p:nvSpPr>
          <p:cNvPr id="5" name="text-4">
            <a:extLst xmlns:a="http://schemas.openxmlformats.org/drawingml/2006/main">
              <a:ext uri="{FF2B5EF4-FFF2-40B4-BE49-F238E27FC236}">
                <a16:creationId xmlns:a16="http://schemas.microsoft.com/office/drawing/2014/main" id="{0D7AEB75-2164-4E9B-BA8D-AB95ECCBB967}"/>
              </a:ext>
            </a:extLst>
          </p:cNvPr>
          <p:cNvSpPr>
            <a:spLocks xmlns:a="http://schemas.openxmlformats.org/drawingml/2006/main" noGrp="1"/>
          </p:cNvSpPr>
          <p:nvPr/>
        </p:nvSpPr>
        <p:spPr>
          <a:xfrm xmlns:a="http://schemas.openxmlformats.org/drawingml/2006/main">
            <a:off x="609600" y="195262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Se entrenó un candidato para alimentos/cerdo y tiempo/día.</a:t>
            </a:r>
          </a:p>
        </p:txBody>
      </p:sp>
      <p:sp>
        <p:nvSpPr>
          <p:cNvPr id="6" name="text-5">
            <a:extLst xmlns:a="http://schemas.openxmlformats.org/drawingml/2006/main">
              <a:ext uri="{FF2B5EF4-FFF2-40B4-BE49-F238E27FC236}">
                <a16:creationId xmlns:a16="http://schemas.microsoft.com/office/drawing/2014/main" id="{CA4C83F0-AE47-4DA9-9AAD-F45C6AF71527}"/>
              </a:ext>
            </a:extLst>
          </p:cNvPr>
          <p:cNvSpPr>
            <a:spLocks xmlns:a="http://schemas.openxmlformats.org/drawingml/2006/main" noGrp="1"/>
          </p:cNvSpPr>
          <p:nvPr/>
        </p:nvSpPr>
        <p:spPr>
          <a:xfrm xmlns:a="http://schemas.openxmlformats.org/drawingml/2006/main">
            <a:off x="609600" y="2952750"/>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Un acierto de dos pruebas</a:t>
            </a:r>
          </a:p>
        </p:txBody>
      </p:sp>
      <p:sp>
        <p:nvSpPr>
          <p:cNvPr id="7" name="text-6">
            <a:extLst xmlns:a="http://schemas.openxmlformats.org/drawingml/2006/main">
              <a:ext uri="{FF2B5EF4-FFF2-40B4-BE49-F238E27FC236}">
                <a16:creationId xmlns:a16="http://schemas.microsoft.com/office/drawing/2014/main" id="{01038B6A-A3DB-4845-B0A0-7C5D8B625903}"/>
              </a:ext>
            </a:extLst>
          </p:cNvPr>
          <p:cNvSpPr>
            <a:spLocks xmlns:a="http://schemas.openxmlformats.org/drawingml/2006/main" noGrp="1"/>
          </p:cNvSpPr>
          <p:nvPr/>
        </p:nvSpPr>
        <p:spPr>
          <a:xfrm xmlns:a="http://schemas.openxmlformats.org/drawingml/2006/main">
            <a:off x="609600" y="3409950"/>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Cerdo acertó y día falló. El resultado interno fue 50% sobre dos tomas.</a:t>
            </a:r>
          </a:p>
        </p:txBody>
      </p:sp>
      <p:sp>
        <p:nvSpPr>
          <p:cNvPr id="8" name="text-7">
            <a:extLst xmlns:a="http://schemas.openxmlformats.org/drawingml/2006/main">
              <a:ext uri="{FF2B5EF4-FFF2-40B4-BE49-F238E27FC236}">
                <a16:creationId xmlns:a16="http://schemas.microsoft.com/office/drawing/2014/main" id="{F6ACB002-0BDE-45C8-85A8-9E26FD70B3E0}"/>
              </a:ext>
            </a:extLst>
          </p:cNvPr>
          <p:cNvSpPr>
            <a:spLocks xmlns:a="http://schemas.openxmlformats.org/drawingml/2006/main" noGrp="1"/>
          </p:cNvSpPr>
          <p:nvPr/>
        </p:nvSpPr>
        <p:spPr>
          <a:xfrm xmlns:a="http://schemas.openxmlformats.org/drawingml/2006/main">
            <a:off x="609600" y="4410075"/>
            <a:ext cx="3762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5DE0DC"/>
                </a:solidFill>
                <a:latin typeface="Arial"/>
                <a:ea typeface="Arial"/>
                <a:cs typeface="Arial"/>
              </a:defRPr>
            </a:defPPr>
          </a:lstStyle>
          <a:p xmlns:a="http://schemas.openxmlformats.org/drawingml/2006/main">
            <a:pPr algn="l">
              <a:defRPr sz="2100" b="1">
                <a:solidFill>
                  <a:srgbClr val="5DE0DC"/>
                </a:solidFill>
                <a:latin typeface="Arial"/>
                <a:ea typeface="Arial"/>
                <a:cs typeface="Arial"/>
              </a:defRPr>
            </a:pPr>
            <a:r>
              <a:rPr sz="2100" b="1">
                <a:solidFill>
                  <a:srgbClr val="5DE0DC"/>
                </a:solidFill>
                <a:latin typeface="Arial"/>
                <a:ea typeface="Arial"/>
                <a:cs typeface="Arial"/>
              </a:rPr>
              <a:t>Modelo e informe persistentes</a:t>
            </a:r>
          </a:p>
        </p:txBody>
      </p:sp>
      <p:sp>
        <p:nvSpPr>
          <p:cNvPr id="9" name="text-8">
            <a:extLst xmlns:a="http://schemas.openxmlformats.org/drawingml/2006/main">
              <a:ext uri="{FF2B5EF4-FFF2-40B4-BE49-F238E27FC236}">
                <a16:creationId xmlns:a16="http://schemas.microsoft.com/office/drawing/2014/main" id="{01C11C96-F3A9-49EE-B992-240993230024}"/>
              </a:ext>
            </a:extLst>
          </p:cNvPr>
          <p:cNvSpPr>
            <a:spLocks xmlns:a="http://schemas.openxmlformats.org/drawingml/2006/main" noGrp="1"/>
          </p:cNvSpPr>
          <p:nvPr/>
        </p:nvSpPr>
        <p:spPr>
          <a:xfrm xmlns:a="http://schemas.openxmlformats.org/drawingml/2006/main">
            <a:off x="609600" y="4867275"/>
            <a:ext cx="37623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El administrador puede abrir el informe después de recargar el navegador.</a:t>
            </a:r>
          </a:p>
        </p:txBody>
      </p:sp>
      <p:pic>
        <p:nvPicPr>
          <p:cNvPr id="10" name="">
            <a:extLst xmlns:a="http://schemas.openxmlformats.org/drawingml/2006/main">
              <a:ext uri="{FF2B5EF4-FFF2-40B4-BE49-F238E27FC236}">
                <a16:creationId xmlns:a16="http://schemas.microsoft.com/office/drawing/2014/main" id="{FB692370-9B55-4BC9-A8B1-3635DD0C28CB}"/>
              </a:ext>
            </a:extLst>
          </p:cNvPr>
          <p:cNvPicPr>
            <a:picLocks xmlns:a="http://schemas.openxmlformats.org/drawingml/2006/main" noChangeAspect="1"/>
          </p:cNvPicPr>
          <p:nvPr/>
        </p:nvPicPr>
        <p:blipFill>
          <a:blip xmlns:r="http://schemas.openxmlformats.org/officeDocument/2006/relationships" xmlns:a="http://schemas.openxmlformats.org/drawingml/2006/main" r:embed="Rd6785f01a8024bd4"/>
          <a:stretch xmlns:a="http://schemas.openxmlformats.org/drawingml/2006/main"/>
        </p:blipFill>
        <p:spPr>
          <a:xfrm xmlns:a="http://schemas.openxmlformats.org/drawingml/2006/main">
            <a:off x="4714875" y="1477920"/>
            <a:ext cx="6867525" cy="4454611"/>
          </a:xfrm>
          <a:prstGeom xmlns:a="http://schemas.openxmlformats.org/drawingml/2006/main" prst="rect">
            <a:avLst/>
          </a:prstGeom>
        </p:spPr>
      </p:pic>
    </p:spTree>
    <p:extLst>
      <p:ext uri="{BB962C8B-B14F-4D97-AF65-F5344CB8AC3E}">
        <p14:creationId xmlns:p14="http://schemas.microsoft.com/office/powerpoint/2010/main" val="587227901"/>
      </p:ext>
    </p:extLst>
  </p:cSld>
</p:sld>
</file>

<file path=ppt/slides/slide21.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2" name="text-0">
            <a:extLst xmlns:a="http://schemas.openxmlformats.org/drawingml/2006/main">
              <a:ext uri="{FF2B5EF4-FFF2-40B4-BE49-F238E27FC236}">
                <a16:creationId xmlns:a16="http://schemas.microsoft.com/office/drawing/2014/main" id="{5B10850B-5CD7-4CC6-8461-846EBB940ADC}"/>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Archivos preparados para Cloudflare</a:t>
            </a:r>
          </a:p>
        </p:txBody>
      </p:sp>
      <p:sp>
        <p:nvSpPr>
          <p:cNvPr id="2" name="text-1">
            <a:extLst xmlns:a="http://schemas.openxmlformats.org/drawingml/2006/main">
              <a:ext uri="{FF2B5EF4-FFF2-40B4-BE49-F238E27FC236}">
                <a16:creationId xmlns:a16="http://schemas.microsoft.com/office/drawing/2014/main" id="{286AF5AE-B26D-4DFF-8D95-1BEEF0346329}"/>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21</a:t>
            </a:r>
          </a:p>
        </p:txBody>
      </p:sp>
      <p:sp>
        <p:nvSpPr>
          <p:cNvPr id="3" name="text-2">
            <a:extLst xmlns:a="http://schemas.openxmlformats.org/drawingml/2006/main">
              <a:ext uri="{FF2B5EF4-FFF2-40B4-BE49-F238E27FC236}">
                <a16:creationId xmlns:a16="http://schemas.microsoft.com/office/drawing/2014/main" id="{723F3C3D-8E47-476B-B914-00BE52E0CD4D}"/>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Preparación local comprobada. La publicación de esta versión requiere subir el paquete completo.</a:t>
            </a:r>
          </a:p>
        </p:txBody>
      </p:sp>
      <p:sp>
        <p:nvSpPr>
          <p:cNvPr id="4" name="text-3">
            <a:extLst xmlns:a="http://schemas.openxmlformats.org/drawingml/2006/main">
              <a:ext uri="{FF2B5EF4-FFF2-40B4-BE49-F238E27FC236}">
                <a16:creationId xmlns:a16="http://schemas.microsoft.com/office/drawing/2014/main" id="{0E2AE38F-429C-49A2-9C69-96A25A7804B2}"/>
              </a:ext>
            </a:extLst>
          </p:cNvPr>
          <p:cNvSpPr>
            <a:spLocks xmlns:a="http://schemas.openxmlformats.org/drawingml/2006/main" noGrp="1"/>
          </p:cNvSpPr>
          <p:nvPr/>
        </p:nvSpPr>
        <p:spPr>
          <a:xfrm xmlns:a="http://schemas.openxmlformats.org/drawingml/2006/main">
            <a:off x="609600" y="152400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5DE0DC"/>
                </a:solidFill>
                <a:latin typeface="Arial"/>
                <a:ea typeface="Arial"/>
                <a:cs typeface="Arial"/>
              </a:defRPr>
            </a:defPPr>
          </a:lstStyle>
          <a:p xmlns:a="http://schemas.openxmlformats.org/drawingml/2006/main">
            <a:pPr algn="l">
              <a:defRPr sz="2250" b="1">
                <a:solidFill>
                  <a:srgbClr val="5DE0DC"/>
                </a:solidFill>
                <a:latin typeface="Arial"/>
                <a:ea typeface="Arial"/>
                <a:cs typeface="Arial"/>
              </a:defRPr>
            </a:pPr>
            <a:r>
              <a:rPr sz="2250" b="1">
                <a:solidFill>
                  <a:srgbClr val="5DE0DC"/>
                </a:solidFill>
                <a:latin typeface="Arial"/>
                <a:ea typeface="Arial"/>
                <a:cs typeface="Arial"/>
              </a:rPr>
              <a:t>Versión de la web</a:t>
            </a:r>
          </a:p>
        </p:txBody>
      </p:sp>
      <p:sp>
        <p:nvSpPr>
          <p:cNvPr id="5" name="text-4">
            <a:extLst xmlns:a="http://schemas.openxmlformats.org/drawingml/2006/main">
              <a:ext uri="{FF2B5EF4-FFF2-40B4-BE49-F238E27FC236}">
                <a16:creationId xmlns:a16="http://schemas.microsoft.com/office/drawing/2014/main" id="{1BBC430B-95C8-426A-B85A-E55344C0A29E}"/>
              </a:ext>
            </a:extLst>
          </p:cNvPr>
          <p:cNvSpPr>
            <a:spLocks xmlns:a="http://schemas.openxmlformats.org/drawingml/2006/main" noGrp="1"/>
          </p:cNvSpPr>
          <p:nvPr/>
        </p:nvSpPr>
        <p:spPr>
          <a:xfrm xmlns:a="http://schemas.openxmlformats.org/drawingml/2006/main">
            <a:off x="609600" y="2028825"/>
            <a:ext cx="4953000" cy="1171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D6D6E4"/>
                </a:solidFill>
                <a:latin typeface="Arial"/>
                <a:ea typeface="Arial"/>
                <a:cs typeface="Arial"/>
              </a:defRPr>
            </a:defPPr>
          </a:lstStyle>
          <a:p xmlns:a="http://schemas.openxmlformats.org/drawingml/2006/main">
            <a:pPr algn="l">
              <a:defRPr sz="2025" b="0">
                <a:solidFill>
                  <a:srgbClr val="D6D6E4"/>
                </a:solidFill>
                <a:latin typeface="Arial"/>
                <a:ea typeface="Arial"/>
                <a:cs typeface="Arial"/>
              </a:defRPr>
            </a:pPr>
            <a:r>
              <a:rPr sz="2025" b="0">
                <a:solidFill>
                  <a:srgbClr val="D6D6E4"/>
                </a:solidFill>
                <a:latin typeface="Arial"/>
                <a:ea typeface="Arial"/>
                <a:cs typeface="Arial"/>
              </a:rPr>
              <a:t>dist contiene la aplicación compilada, sus recursos y los modelos de seguimiento.</a:t>
            </a:r>
          </a:p>
        </p:txBody>
      </p:sp>
      <p:sp>
        <p:nvSpPr>
          <p:cNvPr id="6" name="text-5">
            <a:extLst xmlns:a="http://schemas.openxmlformats.org/drawingml/2006/main">
              <a:ext uri="{FF2B5EF4-FFF2-40B4-BE49-F238E27FC236}">
                <a16:creationId xmlns:a16="http://schemas.microsoft.com/office/drawing/2014/main" id="{6383AE18-FCF1-45B3-AA31-B73CBDF9DC6C}"/>
              </a:ext>
            </a:extLst>
          </p:cNvPr>
          <p:cNvSpPr>
            <a:spLocks xmlns:a="http://schemas.openxmlformats.org/drawingml/2006/main" noGrp="1"/>
          </p:cNvSpPr>
          <p:nvPr/>
        </p:nvSpPr>
        <p:spPr>
          <a:xfrm xmlns:a="http://schemas.openxmlformats.org/drawingml/2006/main">
            <a:off x="609600" y="3495675"/>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5DE0DC"/>
                </a:solidFill>
                <a:latin typeface="Arial"/>
                <a:ea typeface="Arial"/>
                <a:cs typeface="Arial"/>
              </a:defRPr>
            </a:defPPr>
          </a:lstStyle>
          <a:p xmlns:a="http://schemas.openxmlformats.org/drawingml/2006/main">
            <a:pPr algn="l">
              <a:defRPr sz="2250" b="1">
                <a:solidFill>
                  <a:srgbClr val="5DE0DC"/>
                </a:solidFill>
                <a:latin typeface="Arial"/>
                <a:ea typeface="Arial"/>
                <a:cs typeface="Arial"/>
              </a:defRPr>
            </a:pPr>
            <a:r>
              <a:rPr sz="2250" b="1">
                <a:solidFill>
                  <a:srgbClr val="5DE0DC"/>
                </a:solidFill>
                <a:latin typeface="Arial"/>
                <a:ea typeface="Arial"/>
                <a:cs typeface="Arial"/>
              </a:rPr>
              <a:t>Paquete de publicación</a:t>
            </a:r>
          </a:p>
        </p:txBody>
      </p:sp>
      <p:sp>
        <p:nvSpPr>
          <p:cNvPr id="7" name="text-6">
            <a:extLst xmlns:a="http://schemas.openxmlformats.org/drawingml/2006/main">
              <a:ext uri="{FF2B5EF4-FFF2-40B4-BE49-F238E27FC236}">
                <a16:creationId xmlns:a16="http://schemas.microsoft.com/office/drawing/2014/main" id="{6FC6E9B3-866C-4B73-B4B7-C6F2DD46CDBC}"/>
              </a:ext>
            </a:extLst>
          </p:cNvPr>
          <p:cNvSpPr>
            <a:spLocks xmlns:a="http://schemas.openxmlformats.org/drawingml/2006/main" noGrp="1"/>
          </p:cNvSpPr>
          <p:nvPr/>
        </p:nvSpPr>
        <p:spPr>
          <a:xfrm xmlns:a="http://schemas.openxmlformats.org/drawingml/2006/main">
            <a:off x="609600" y="4000500"/>
            <a:ext cx="5048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D6D6E4"/>
                </a:solidFill>
                <a:latin typeface="Arial"/>
                <a:ea typeface="Arial"/>
                <a:cs typeface="Arial"/>
              </a:defRPr>
            </a:defPPr>
          </a:lstStyle>
          <a:p xmlns:a="http://schemas.openxmlformats.org/drawingml/2006/main">
            <a:pPr algn="l">
              <a:defRPr sz="1950" b="0">
                <a:solidFill>
                  <a:srgbClr val="D6D6E4"/>
                </a:solidFill>
                <a:latin typeface="Arial"/>
                <a:ea typeface="Arial"/>
                <a:cs typeface="Arial"/>
              </a:defRPr>
            </a:pPr>
            <a:r>
              <a:rPr sz="1950" b="0">
                <a:solidFill>
                  <a:srgbClr val="D6D6E4"/>
                </a:solidFill>
                <a:latin typeface="Arial"/>
                <a:ea typeface="Arial"/>
                <a:cs typeface="Arial"/>
              </a:rPr>
              <a:t>DeafApp-sin-selector-personas.zip</a:t>
            </a:r>
          </a:p>
          <a:p xmlns:a="http://schemas.openxmlformats.org/drawingml/2006/main">
            <a:pPr algn="l">
              <a:defRPr sz="1950" b="0">
                <a:solidFill>
                  <a:srgbClr val="D6D6E4"/>
                </a:solidFill>
                <a:latin typeface="Arial"/>
                <a:ea typeface="Arial"/>
                <a:cs typeface="Arial"/>
              </a:defRPr>
            </a:pPr>
            <a:r>
              <a:rPr sz="1950" b="0">
                <a:solidFill>
                  <a:srgbClr val="D6D6E4"/>
                </a:solidFill>
                <a:latin typeface="Arial"/>
                <a:ea typeface="Arial"/>
                <a:cs typeface="Arial"/>
              </a:rPr>
              <a:t>Index en la raíz y carpeta completa lista para cargar.</a:t>
            </a:r>
          </a:p>
        </p:txBody>
      </p:sp>
      <p:sp>
        <p:nvSpPr>
          <p:cNvPr id="8" name="text-7">
            <a:extLst xmlns:a="http://schemas.openxmlformats.org/drawingml/2006/main">
              <a:ext uri="{FF2B5EF4-FFF2-40B4-BE49-F238E27FC236}">
                <a16:creationId xmlns:a16="http://schemas.microsoft.com/office/drawing/2014/main" id="{CE983351-5618-4954-A1FB-51519EDB0D02}"/>
              </a:ext>
            </a:extLst>
          </p:cNvPr>
          <p:cNvSpPr>
            <a:spLocks xmlns:a="http://schemas.openxmlformats.org/drawingml/2006/main" noGrp="1"/>
          </p:cNvSpPr>
          <p:nvPr/>
        </p:nvSpPr>
        <p:spPr>
          <a:xfrm xmlns:a="http://schemas.openxmlformats.org/drawingml/2006/main">
            <a:off x="6419850" y="152400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5DE0DC"/>
                </a:solidFill>
                <a:latin typeface="Arial"/>
                <a:ea typeface="Arial"/>
                <a:cs typeface="Arial"/>
              </a:defRPr>
            </a:defPPr>
          </a:lstStyle>
          <a:p xmlns:a="http://schemas.openxmlformats.org/drawingml/2006/main">
            <a:pPr algn="l">
              <a:defRPr sz="2250" b="1">
                <a:solidFill>
                  <a:srgbClr val="5DE0DC"/>
                </a:solidFill>
                <a:latin typeface="Arial"/>
                <a:ea typeface="Arial"/>
                <a:cs typeface="Arial"/>
              </a:defRPr>
            </a:pPr>
            <a:r>
              <a:rPr sz="2250" b="1">
                <a:solidFill>
                  <a:srgbClr val="5DE0DC"/>
                </a:solidFill>
                <a:latin typeface="Arial"/>
                <a:ea typeface="Arial"/>
                <a:cs typeface="Arial"/>
              </a:rPr>
              <a:t>Dónde están los cambios</a:t>
            </a:r>
          </a:p>
        </p:txBody>
      </p:sp>
      <p:sp>
        <p:nvSpPr>
          <p:cNvPr id="9" name="text-8">
            <a:extLst xmlns:a="http://schemas.openxmlformats.org/drawingml/2006/main">
              <a:ext uri="{FF2B5EF4-FFF2-40B4-BE49-F238E27FC236}">
                <a16:creationId xmlns:a16="http://schemas.microsoft.com/office/drawing/2014/main" id="{B70656DF-B806-46D1-847B-FFDA051877D5}"/>
              </a:ext>
            </a:extLst>
          </p:cNvPr>
          <p:cNvSpPr>
            <a:spLocks xmlns:a="http://schemas.openxmlformats.org/drawingml/2006/main" noGrp="1"/>
          </p:cNvSpPr>
          <p:nvPr/>
        </p:nvSpPr>
        <p:spPr>
          <a:xfrm xmlns:a="http://schemas.openxmlformats.org/drawingml/2006/main">
            <a:off x="6419850" y="2028825"/>
            <a:ext cx="5143500" cy="2047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D6D6E4"/>
                </a:solidFill>
                <a:latin typeface="Arial"/>
                <a:ea typeface="Arial"/>
                <a:cs typeface="Arial"/>
              </a:defRPr>
            </a:defPPr>
          </a:lstStyle>
          <a:p xmlns:a="http://schemas.openxmlformats.org/drawingml/2006/main">
            <a:pPr algn="l">
              <a:defRPr sz="2025" b="0">
                <a:solidFill>
                  <a:srgbClr val="D6D6E4"/>
                </a:solidFill>
                <a:latin typeface="Arial"/>
                <a:ea typeface="Arial"/>
                <a:cs typeface="Arial"/>
              </a:defRPr>
            </a:pPr>
            <a:r>
              <a:rPr sz="2025" b="0">
                <a:solidFill>
                  <a:srgbClr val="D6D6E4"/>
                </a:solidFill>
                <a:latin typeface="Arial"/>
                <a:ea typeface="Arial"/>
                <a:cs typeface="Arial"/>
              </a:rPr>
              <a:t>App.js y módulos de cámara y grabación contienen el flujo público.</a:t>
            </a:r>
          </a:p>
          <a:p xmlns:a="http://schemas.openxmlformats.org/drawingml/2006/main">
            <a:r>
              <a:t/>
            </a:r>
          </a:p>
          <a:p xmlns:a="http://schemas.openxmlformats.org/drawingml/2006/main">
            <a:pPr algn="l">
              <a:defRPr sz="2025" b="0">
                <a:solidFill>
                  <a:srgbClr val="D6D6E4"/>
                </a:solidFill>
                <a:latin typeface="Arial"/>
                <a:ea typeface="Arial"/>
                <a:cs typeface="Arial"/>
              </a:defRPr>
            </a:pPr>
            <a:r>
              <a:rPr sz="2025" b="0">
                <a:solidFill>
                  <a:srgbClr val="D6D6E4"/>
                </a:solidFill>
                <a:latin typeface="Arial"/>
                <a:ea typeface="Arial"/>
                <a:cs typeface="Arial"/>
              </a:rPr>
              <a:t>AdminPanel.js y training contienen revisión, recuperación y entrenamiento.</a:t>
            </a:r>
          </a:p>
        </p:txBody>
      </p:sp>
      <p:sp>
        <p:nvSpPr>
          <p:cNvPr id="10" name="text-9">
            <a:extLst xmlns:a="http://schemas.openxmlformats.org/drawingml/2006/main">
              <a:ext uri="{FF2B5EF4-FFF2-40B4-BE49-F238E27FC236}">
                <a16:creationId xmlns:a16="http://schemas.microsoft.com/office/drawing/2014/main" id="{42C97D57-6CCD-4F6C-9D8B-EC7167BD7B92}"/>
              </a:ext>
            </a:extLst>
          </p:cNvPr>
          <p:cNvSpPr>
            <a:spLocks xmlns:a="http://schemas.openxmlformats.org/drawingml/2006/main" noGrp="1"/>
          </p:cNvSpPr>
          <p:nvPr/>
        </p:nvSpPr>
        <p:spPr>
          <a:xfrm xmlns:a="http://schemas.openxmlformats.org/drawingml/2006/main">
            <a:off x="6419850" y="4457700"/>
            <a:ext cx="5143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F3CE77"/>
                </a:solidFill>
                <a:latin typeface="Arial"/>
                <a:ea typeface="Arial"/>
                <a:cs typeface="Arial"/>
              </a:defRPr>
            </a:defPPr>
          </a:lstStyle>
          <a:p xmlns:a="http://schemas.openxmlformats.org/drawingml/2006/main">
            <a:pPr algn="l">
              <a:defRPr sz="2250" b="1">
                <a:solidFill>
                  <a:srgbClr val="F3CE77"/>
                </a:solidFill>
                <a:latin typeface="Arial"/>
                <a:ea typeface="Arial"/>
                <a:cs typeface="Arial"/>
              </a:defRPr>
            </a:pPr>
            <a:r>
              <a:rPr sz="2250" b="1">
                <a:solidFill>
                  <a:srgbClr val="F3CE77"/>
                </a:solidFill>
                <a:latin typeface="Arial"/>
                <a:ea typeface="Arial"/>
                <a:cs typeface="Arial"/>
              </a:rPr>
              <a:t>Datos locales</a:t>
            </a:r>
          </a:p>
        </p:txBody>
      </p:sp>
      <p:sp>
        <p:nvSpPr>
          <p:cNvPr id="11" name="text-10">
            <a:extLst xmlns:a="http://schemas.openxmlformats.org/drawingml/2006/main">
              <a:ext uri="{FF2B5EF4-FFF2-40B4-BE49-F238E27FC236}">
                <a16:creationId xmlns:a16="http://schemas.microsoft.com/office/drawing/2014/main" id="{B14CA618-DED6-43F3-9CC7-94B907261D79}"/>
              </a:ext>
            </a:extLst>
          </p:cNvPr>
          <p:cNvSpPr>
            <a:spLocks xmlns:a="http://schemas.openxmlformats.org/drawingml/2006/main" noGrp="1"/>
          </p:cNvSpPr>
          <p:nvPr/>
        </p:nvSpPr>
        <p:spPr>
          <a:xfrm xmlns:a="http://schemas.openxmlformats.org/drawingml/2006/main">
            <a:off x="6419850" y="4962525"/>
            <a:ext cx="5143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D6D6E4"/>
                </a:solidFill>
                <a:latin typeface="Arial"/>
                <a:ea typeface="Arial"/>
                <a:cs typeface="Arial"/>
              </a:defRPr>
            </a:defPPr>
          </a:lstStyle>
          <a:p xmlns:a="http://schemas.openxmlformats.org/drawingml/2006/main">
            <a:pPr algn="l">
              <a:defRPr sz="1800" b="0">
                <a:solidFill>
                  <a:srgbClr val="D6D6E4"/>
                </a:solidFill>
                <a:latin typeface="Arial"/>
                <a:ea typeface="Arial"/>
                <a:cs typeface="Arial"/>
              </a:defRPr>
            </a:pPr>
            <a:r>
              <a:rPr sz="1800" b="0">
                <a:solidFill>
                  <a:srgbClr val="D6D6E4"/>
                </a:solidFill>
                <a:latin typeface="Arial"/>
                <a:ea typeface="Arial"/>
                <a:cs typeface="Arial"/>
              </a:rPr>
              <a:t>Los borradores y modelos del navegador local no se copian al sitio oficial con el ZIP.</a:t>
            </a:r>
          </a:p>
        </p:txBody>
      </p:sp>
    </p:spTree>
    <p:extLst>
      <p:ext uri="{BB962C8B-B14F-4D97-AF65-F5344CB8AC3E}">
        <p14:creationId xmlns:p14="http://schemas.microsoft.com/office/powerpoint/2010/main" val="1395601413"/>
      </p:ext>
    </p:extLst>
  </p:cSld>
</p:sld>
</file>

<file path=ppt/slides/slide22.xml><?xml version="1.0" encoding="utf-8"?>
<p:sld xmlns:p="http://schemas.openxmlformats.org/presentationml/2006/main">
  <p:cSld>
    <p:bg>
      <p:bgPr>
        <a:solidFill xmlns:a="http://schemas.openxmlformats.org/drawingml/2006/main">
          <a:srgbClr val="10101F"/>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A59E1417-F933-4D47-8DD7-0850DE56A196}"/>
              </a:ext>
            </a:extLst>
          </p:cNvPr>
          <p:cNvSpPr>
            <a:spLocks xmlns:a="http://schemas.openxmlformats.org/drawingml/2006/main" noGrp="1"/>
          </p:cNvSpPr>
          <p:nvPr/>
        </p:nvSpPr>
        <p:spPr>
          <a:xfrm xmlns:a="http://schemas.openxmlformats.org/drawingml/2006/main">
            <a:off x="609600" y="4191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Estado actual y próxima etapa</a:t>
            </a:r>
          </a:p>
        </p:txBody>
      </p:sp>
      <p:sp>
        <p:nvSpPr>
          <p:cNvPr id="2" name="text-1">
            <a:extLst xmlns:a="http://schemas.openxmlformats.org/drawingml/2006/main">
              <a:ext uri="{FF2B5EF4-FFF2-40B4-BE49-F238E27FC236}">
                <a16:creationId xmlns:a16="http://schemas.microsoft.com/office/drawing/2014/main" id="{3F2786B4-2AAC-4655-BBD9-A7283078323E}"/>
              </a:ext>
            </a:extLst>
          </p:cNvPr>
          <p:cNvSpPr>
            <a:spLocks xmlns:a="http://schemas.openxmlformats.org/drawingml/2006/main" noGrp="1"/>
          </p:cNvSpPr>
          <p:nvPr/>
        </p:nvSpPr>
        <p:spPr>
          <a:xfrm xmlns:a="http://schemas.openxmlformats.org/drawingml/2006/main">
            <a:off x="11106150" y="6467475"/>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22</a:t>
            </a:r>
          </a:p>
        </p:txBody>
      </p:sp>
      <p:sp>
        <p:nvSpPr>
          <p:cNvPr id="3" name="text-2">
            <a:extLst xmlns:a="http://schemas.openxmlformats.org/drawingml/2006/main">
              <a:ext uri="{FF2B5EF4-FFF2-40B4-BE49-F238E27FC236}">
                <a16:creationId xmlns:a16="http://schemas.microsoft.com/office/drawing/2014/main" id="{FE5AD814-6BE0-4990-BD69-9401B09F3FA8}"/>
              </a:ext>
            </a:extLst>
          </p:cNvPr>
          <p:cNvSpPr>
            <a:spLocks xmlns:a="http://schemas.openxmlformats.org/drawingml/2006/main" noGrp="1"/>
          </p:cNvSpPr>
          <p:nvPr/>
        </p:nvSpPr>
        <p:spPr>
          <a:xfrm xmlns:a="http://schemas.openxmlformats.org/drawingml/2006/main">
            <a:off x="609600" y="6296025"/>
            <a:ext cx="1028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ADACBC"/>
                </a:solidFill>
                <a:latin typeface="Arial"/>
                <a:ea typeface="Arial"/>
                <a:cs typeface="Arial"/>
              </a:defRPr>
            </a:defPPr>
          </a:lstStyle>
          <a:p xmlns:a="http://schemas.openxmlformats.org/drawingml/2006/main">
            <a:pPr algn="l">
              <a:defRPr sz="1200" b="0">
                <a:solidFill>
                  <a:srgbClr val="ADACBC"/>
                </a:solidFill>
                <a:latin typeface="Arial"/>
                <a:ea typeface="Arial"/>
                <a:cs typeface="Arial"/>
              </a:defRPr>
            </a:pPr>
            <a:r>
              <a:rPr sz="1200" b="0">
                <a:solidFill>
                  <a:srgbClr val="ADACBC"/>
                </a:solidFill>
                <a:latin typeface="Arial"/>
                <a:ea typeface="Arial"/>
                <a:cs typeface="Arial"/>
              </a:rPr>
              <a:t>El traductor completo sigue en desarrollo. Estas mejoras preparan su captura y entrenamiento.</a:t>
            </a:r>
          </a:p>
        </p:txBody>
      </p:sp>
      <p:sp>
        <p:nvSpPr>
          <p:cNvPr id="4" name="text-3">
            <a:extLst xmlns:a="http://schemas.openxmlformats.org/drawingml/2006/main">
              <a:ext uri="{FF2B5EF4-FFF2-40B4-BE49-F238E27FC236}">
                <a16:creationId xmlns:a16="http://schemas.microsoft.com/office/drawing/2014/main" id="{1F8933B6-8B12-43AB-837E-6266419D58A5}"/>
              </a:ext>
            </a:extLst>
          </p:cNvPr>
          <p:cNvSpPr>
            <a:spLocks xmlns:a="http://schemas.openxmlformats.org/drawingml/2006/main" noGrp="1"/>
          </p:cNvSpPr>
          <p:nvPr/>
        </p:nvSpPr>
        <p:spPr>
          <a:xfrm xmlns:a="http://schemas.openxmlformats.org/drawingml/2006/main">
            <a:off x="609600" y="1524000"/>
            <a:ext cx="323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5DE0DC"/>
                </a:solidFill>
                <a:latin typeface="Arial"/>
                <a:ea typeface="Arial"/>
                <a:cs typeface="Arial"/>
              </a:defRPr>
            </a:defPPr>
          </a:lstStyle>
          <a:p xmlns:a="http://schemas.openxmlformats.org/drawingml/2006/main">
            <a:pPr algn="l">
              <a:defRPr sz="2400" b="1">
                <a:solidFill>
                  <a:srgbClr val="5DE0DC"/>
                </a:solidFill>
                <a:latin typeface="Arial"/>
                <a:ea typeface="Arial"/>
                <a:cs typeface="Arial"/>
              </a:defRPr>
            </a:pPr>
            <a:r>
              <a:rPr sz="2400" b="1">
                <a:solidFill>
                  <a:srgbClr val="5DE0DC"/>
                </a:solidFill>
                <a:latin typeface="Arial"/>
                <a:ea typeface="Arial"/>
                <a:cs typeface="Arial"/>
              </a:rPr>
              <a:t>Implementado</a:t>
            </a:r>
          </a:p>
        </p:txBody>
      </p:sp>
      <p:sp>
        <p:nvSpPr>
          <p:cNvPr id="5" name="text-4">
            <a:extLst xmlns:a="http://schemas.openxmlformats.org/drawingml/2006/main">
              <a:ext uri="{FF2B5EF4-FFF2-40B4-BE49-F238E27FC236}">
                <a16:creationId xmlns:a16="http://schemas.microsoft.com/office/drawing/2014/main" id="{8DB65DAA-C7C9-41F1-A42A-7E344429E82E}"/>
              </a:ext>
            </a:extLst>
          </p:cNvPr>
          <p:cNvSpPr>
            <a:spLocks xmlns:a="http://schemas.openxmlformats.org/drawingml/2006/main" noGrp="1"/>
          </p:cNvSpPr>
          <p:nvPr/>
        </p:nvSpPr>
        <p:spPr>
          <a:xfrm xmlns:a="http://schemas.openxmlformats.org/drawingml/2006/main">
            <a:off x="609600" y="2152650"/>
            <a:ext cx="323850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D6D6E4"/>
                </a:solidFill>
                <a:latin typeface="Arial"/>
                <a:ea typeface="Arial"/>
                <a:cs typeface="Arial"/>
              </a:defRPr>
            </a:defPPr>
          </a:lstStyle>
          <a:p xmlns:a="http://schemas.openxmlformats.org/drawingml/2006/main">
            <a:pPr algn="l">
              <a:defRPr sz="2100" b="0">
                <a:solidFill>
                  <a:srgbClr val="D6D6E4"/>
                </a:solidFill>
                <a:latin typeface="Arial"/>
                <a:ea typeface="Arial"/>
                <a:cs typeface="Arial"/>
              </a:defRPr>
            </a:pPr>
            <a:r>
              <a:rPr sz="2100" b="0">
                <a:solidFill>
                  <a:srgbClr val="D6D6E4"/>
                </a:solidFill>
                <a:latin typeface="Arial"/>
                <a:ea typeface="Arial"/>
                <a:cs typeface="Arial"/>
              </a:rPr>
              <a:t>Cámara y trazados.</a:t>
            </a:r>
          </a:p>
          <a:p xmlns:a="http://schemas.openxmlformats.org/drawingml/2006/main">
            <a:r>
              <a:t/>
            </a:r>
          </a:p>
          <a:p xmlns:a="http://schemas.openxmlformats.org/drawingml/2006/main">
            <a:pPr algn="l">
              <a:defRPr sz="2100" b="0">
                <a:solidFill>
                  <a:srgbClr val="D6D6E4"/>
                </a:solidFill>
                <a:latin typeface="Arial"/>
                <a:ea typeface="Arial"/>
                <a:cs typeface="Arial"/>
              </a:defRPr>
            </a:pPr>
            <a:r>
              <a:rPr sz="2100" b="0">
                <a:solidFill>
                  <a:srgbClr val="D6D6E4"/>
                </a:solidFill>
                <a:latin typeface="Arial"/>
                <a:ea typeface="Arial"/>
                <a:cs typeface="Arial"/>
              </a:rPr>
              <a:t>Grabación con revisión previa.</a:t>
            </a:r>
          </a:p>
          <a:p xmlns:a="http://schemas.openxmlformats.org/drawingml/2006/main">
            <a:r>
              <a:t/>
            </a:r>
          </a:p>
          <a:p xmlns:a="http://schemas.openxmlformats.org/drawingml/2006/main">
            <a:pPr algn="l">
              <a:defRPr sz="2100" b="0">
                <a:solidFill>
                  <a:srgbClr val="D6D6E4"/>
                </a:solidFill>
                <a:latin typeface="Arial"/>
                <a:ea typeface="Arial"/>
                <a:cs typeface="Arial"/>
              </a:defRPr>
            </a:pPr>
            <a:r>
              <a:rPr sz="2100" b="0">
                <a:solidFill>
                  <a:srgbClr val="D6D6E4"/>
                </a:solidFill>
                <a:latin typeface="Arial"/>
                <a:ea typeface="Arial"/>
                <a:cs typeface="Arial"/>
              </a:rPr>
              <a:t>Administración y recuperación de datos.</a:t>
            </a:r>
          </a:p>
        </p:txBody>
      </p:sp>
      <p:sp>
        <p:nvSpPr>
          <p:cNvPr id="6" name="text-5">
            <a:extLst xmlns:a="http://schemas.openxmlformats.org/drawingml/2006/main">
              <a:ext uri="{FF2B5EF4-FFF2-40B4-BE49-F238E27FC236}">
                <a16:creationId xmlns:a16="http://schemas.microsoft.com/office/drawing/2014/main" id="{48209FDE-9605-4D64-90A7-7810B50325B6}"/>
              </a:ext>
            </a:extLst>
          </p:cNvPr>
          <p:cNvSpPr>
            <a:spLocks xmlns:a="http://schemas.openxmlformats.org/drawingml/2006/main" noGrp="1"/>
          </p:cNvSpPr>
          <p:nvPr/>
        </p:nvSpPr>
        <p:spPr>
          <a:xfrm xmlns:a="http://schemas.openxmlformats.org/drawingml/2006/main">
            <a:off x="4495800" y="1524000"/>
            <a:ext cx="323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F3CE77"/>
                </a:solidFill>
                <a:latin typeface="Arial"/>
                <a:ea typeface="Arial"/>
                <a:cs typeface="Arial"/>
              </a:defRPr>
            </a:defPPr>
          </a:lstStyle>
          <a:p xmlns:a="http://schemas.openxmlformats.org/drawingml/2006/main">
            <a:pPr algn="l">
              <a:defRPr sz="2400" b="1">
                <a:solidFill>
                  <a:srgbClr val="F3CE77"/>
                </a:solidFill>
                <a:latin typeface="Arial"/>
                <a:ea typeface="Arial"/>
                <a:cs typeface="Arial"/>
              </a:defRPr>
            </a:pPr>
            <a:r>
              <a:rPr sz="2400" b="1">
                <a:solidFill>
                  <a:srgbClr val="F3CE77"/>
                </a:solidFill>
                <a:latin typeface="Arial"/>
                <a:ea typeface="Arial"/>
                <a:cs typeface="Arial"/>
              </a:rPr>
              <a:t>Experimental</a:t>
            </a:r>
          </a:p>
        </p:txBody>
      </p:sp>
      <p:sp>
        <p:nvSpPr>
          <p:cNvPr id="7" name="text-6">
            <a:extLst xmlns:a="http://schemas.openxmlformats.org/drawingml/2006/main">
              <a:ext uri="{FF2B5EF4-FFF2-40B4-BE49-F238E27FC236}">
                <a16:creationId xmlns:a16="http://schemas.microsoft.com/office/drawing/2014/main" id="{9E5918D8-13DC-4460-819F-B5008C1E1B1E}"/>
              </a:ext>
            </a:extLst>
          </p:cNvPr>
          <p:cNvSpPr>
            <a:spLocks xmlns:a="http://schemas.openxmlformats.org/drawingml/2006/main" noGrp="1"/>
          </p:cNvSpPr>
          <p:nvPr/>
        </p:nvSpPr>
        <p:spPr>
          <a:xfrm xmlns:a="http://schemas.openxmlformats.org/drawingml/2006/main">
            <a:off x="4495800" y="2152650"/>
            <a:ext cx="3238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D6D6E4"/>
                </a:solidFill>
                <a:latin typeface="Arial"/>
                <a:ea typeface="Arial"/>
                <a:cs typeface="Arial"/>
              </a:defRPr>
            </a:defPPr>
          </a:lstStyle>
          <a:p xmlns:a="http://schemas.openxmlformats.org/drawingml/2006/main">
            <a:pPr algn="l">
              <a:defRPr sz="2100" b="0">
                <a:solidFill>
                  <a:srgbClr val="D6D6E4"/>
                </a:solidFill>
                <a:latin typeface="Arial"/>
                <a:ea typeface="Arial"/>
                <a:cs typeface="Arial"/>
              </a:defRPr>
            </a:pPr>
            <a:r>
              <a:rPr sz="2100" b="0">
                <a:solidFill>
                  <a:srgbClr val="D6D6E4"/>
                </a:solidFill>
                <a:latin typeface="Arial"/>
                <a:ea typeface="Arial"/>
                <a:cs typeface="Arial"/>
              </a:rPr>
              <a:t>Modelo privado de dos señas.</a:t>
            </a:r>
          </a:p>
          <a:p xmlns:a="http://schemas.openxmlformats.org/drawingml/2006/main">
            <a:r>
              <a:t/>
            </a:r>
          </a:p>
          <a:p xmlns:a="http://schemas.openxmlformats.org/drawingml/2006/main">
            <a:pPr algn="l">
              <a:defRPr sz="2100" b="0">
                <a:solidFill>
                  <a:srgbClr val="D6D6E4"/>
                </a:solidFill>
                <a:latin typeface="Arial"/>
                <a:ea typeface="Arial"/>
                <a:cs typeface="Arial"/>
              </a:defRPr>
            </a:pPr>
            <a:r>
              <a:rPr sz="2100" b="0">
                <a:solidFill>
                  <a:srgbClr val="D6D6E4"/>
                </a:solidFill>
                <a:latin typeface="Arial"/>
                <a:ea typeface="Arial"/>
                <a:cs typeface="Arial"/>
              </a:rPr>
              <a:t>Evaluación interna pequeña.</a:t>
            </a:r>
          </a:p>
          <a:p xmlns:a="http://schemas.openxmlformats.org/drawingml/2006/main">
            <a:r>
              <a:t/>
            </a:r>
          </a:p>
          <a:p xmlns:a="http://schemas.openxmlformats.org/drawingml/2006/main">
            <a:pPr algn="l">
              <a:defRPr sz="2100" b="0">
                <a:solidFill>
                  <a:srgbClr val="D6D6E4"/>
                </a:solidFill>
                <a:latin typeface="Arial"/>
                <a:ea typeface="Arial"/>
                <a:cs typeface="Arial"/>
              </a:defRPr>
            </a:pPr>
            <a:r>
              <a:rPr sz="2100" b="0">
                <a:solidFill>
                  <a:srgbClr val="D6D6E4"/>
                </a:solidFill>
                <a:latin typeface="Arial"/>
                <a:ea typeface="Arial"/>
                <a:cs typeface="Arial"/>
              </a:rPr>
              <a:t>Falta probar otras personas y la cámara en vivo.</a:t>
            </a:r>
          </a:p>
        </p:txBody>
      </p:sp>
      <p:sp>
        <p:nvSpPr>
          <p:cNvPr id="8" name="text-7">
            <a:extLst xmlns:a="http://schemas.openxmlformats.org/drawingml/2006/main">
              <a:ext uri="{FF2B5EF4-FFF2-40B4-BE49-F238E27FC236}">
                <a16:creationId xmlns:a16="http://schemas.microsoft.com/office/drawing/2014/main" id="{55791EF3-8CCF-4CAC-BB0F-FDAE961B8EC0}"/>
              </a:ext>
            </a:extLst>
          </p:cNvPr>
          <p:cNvSpPr>
            <a:spLocks xmlns:a="http://schemas.openxmlformats.org/drawingml/2006/main" noGrp="1"/>
          </p:cNvSpPr>
          <p:nvPr/>
        </p:nvSpPr>
        <p:spPr>
          <a:xfrm xmlns:a="http://schemas.openxmlformats.org/drawingml/2006/main">
            <a:off x="8382000" y="1524000"/>
            <a:ext cx="323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ED3F63"/>
                </a:solidFill>
                <a:latin typeface="Arial"/>
                <a:ea typeface="Arial"/>
                <a:cs typeface="Arial"/>
              </a:defRPr>
            </a:defPPr>
          </a:lstStyle>
          <a:p xmlns:a="http://schemas.openxmlformats.org/drawingml/2006/main">
            <a:pPr algn="l">
              <a:defRPr sz="2400" b="1">
                <a:solidFill>
                  <a:srgbClr val="ED3F63"/>
                </a:solidFill>
                <a:latin typeface="Arial"/>
                <a:ea typeface="Arial"/>
                <a:cs typeface="Arial"/>
              </a:defRPr>
            </a:pPr>
            <a:r>
              <a:rPr sz="2400" b="1">
                <a:solidFill>
                  <a:srgbClr val="ED3F63"/>
                </a:solidFill>
                <a:latin typeface="Arial"/>
                <a:ea typeface="Arial"/>
                <a:cs typeface="Arial"/>
              </a:rPr>
              <a:t>Objetivo siguiente</a:t>
            </a:r>
          </a:p>
        </p:txBody>
      </p:sp>
      <p:sp>
        <p:nvSpPr>
          <p:cNvPr id="9" name="text-8">
            <a:extLst xmlns:a="http://schemas.openxmlformats.org/drawingml/2006/main">
              <a:ext uri="{FF2B5EF4-FFF2-40B4-BE49-F238E27FC236}">
                <a16:creationId xmlns:a16="http://schemas.microsoft.com/office/drawing/2014/main" id="{BE4157FF-3182-468F-B0A4-D596A3235EA4}"/>
              </a:ext>
            </a:extLst>
          </p:cNvPr>
          <p:cNvSpPr>
            <a:spLocks xmlns:a="http://schemas.openxmlformats.org/drawingml/2006/main" noGrp="1"/>
          </p:cNvSpPr>
          <p:nvPr/>
        </p:nvSpPr>
        <p:spPr>
          <a:xfrm xmlns:a="http://schemas.openxmlformats.org/drawingml/2006/main">
            <a:off x="8382000" y="2152650"/>
            <a:ext cx="3238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D6D6E4"/>
                </a:solidFill>
                <a:latin typeface="Arial"/>
                <a:ea typeface="Arial"/>
                <a:cs typeface="Arial"/>
              </a:defRPr>
            </a:defPPr>
          </a:lstStyle>
          <a:p xmlns:a="http://schemas.openxmlformats.org/drawingml/2006/main">
            <a:pPr algn="l">
              <a:defRPr sz="2100" b="0">
                <a:solidFill>
                  <a:srgbClr val="D6D6E4"/>
                </a:solidFill>
                <a:latin typeface="Arial"/>
                <a:ea typeface="Arial"/>
                <a:cs typeface="Arial"/>
              </a:defRPr>
            </a:pPr>
            <a:r>
              <a:rPr sz="2100" b="0">
                <a:solidFill>
                  <a:srgbClr val="D6D6E4"/>
                </a:solidFill>
                <a:latin typeface="Arial"/>
                <a:ea typeface="Arial"/>
                <a:cs typeface="Arial"/>
              </a:rPr>
              <a:t>Más muestras revisadas.</a:t>
            </a:r>
          </a:p>
          <a:p xmlns:a="http://schemas.openxmlformats.org/drawingml/2006/main">
            <a:r>
              <a:t/>
            </a:r>
          </a:p>
          <a:p xmlns:a="http://schemas.openxmlformats.org/drawingml/2006/main">
            <a:pPr algn="l">
              <a:defRPr sz="2100" b="0">
                <a:solidFill>
                  <a:srgbClr val="D6D6E4"/>
                </a:solidFill>
                <a:latin typeface="Arial"/>
                <a:ea typeface="Arial"/>
                <a:cs typeface="Arial"/>
              </a:defRPr>
            </a:pPr>
            <a:r>
              <a:rPr sz="2100" b="0">
                <a:solidFill>
                  <a:srgbClr val="D6D6E4"/>
                </a:solidFill>
                <a:latin typeface="Arial"/>
                <a:ea typeface="Arial"/>
                <a:cs typeface="Arial"/>
              </a:rPr>
              <a:t>Reconocer señas y frases con fiabilidad.</a:t>
            </a:r>
          </a:p>
          <a:p xmlns:a="http://schemas.openxmlformats.org/drawingml/2006/main">
            <a:r>
              <a:t/>
            </a:r>
          </a:p>
          <a:p xmlns:a="http://schemas.openxmlformats.org/drawingml/2006/main">
            <a:pPr algn="l">
              <a:defRPr sz="2100" b="0">
                <a:solidFill>
                  <a:srgbClr val="D6D6E4"/>
                </a:solidFill>
                <a:latin typeface="Arial"/>
                <a:ea typeface="Arial"/>
                <a:cs typeface="Arial"/>
              </a:defRPr>
            </a:pPr>
            <a:r>
              <a:rPr sz="2100" b="0">
                <a:solidFill>
                  <a:srgbClr val="D6D6E4"/>
                </a:solidFill>
                <a:latin typeface="Arial"/>
                <a:ea typeface="Arial"/>
                <a:cs typeface="Arial"/>
              </a:rPr>
              <a:t>Conectar LSCh con voz y texto en tiempo real.</a:t>
            </a:r>
          </a:p>
        </p:txBody>
      </p:sp>
    </p:spTree>
    <p:extLst>
      <p:ext uri="{BB962C8B-B14F-4D97-AF65-F5344CB8AC3E}">
        <p14:creationId xmlns:p14="http://schemas.microsoft.com/office/powerpoint/2010/main" val="17124564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2026-10-04T21:21:48.4780000Z</dcterms:created>
  <dcterms:modified xsi:type="dcterms:W3CDTF">2026-10-04T21:21:48.4790000Z</dcterms:modified>
</coreProperties>
</file>