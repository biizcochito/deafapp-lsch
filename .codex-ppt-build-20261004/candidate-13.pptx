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b178651d38a4454" /><Relationship Type="http://schemas.openxmlformats.org/officeDocument/2006/relationships/extended-properties" Target="/docProps/app.xml" Id="Rcf3126f2234b47c0" /><Relationship Type="http://schemas.openxmlformats.org/officeDocument/2006/relationships/officeDocument" Target="/ppt/presentation.xml" Id="R9248f2da68bc4e9b" /></Relationships>
</file>

<file path=ppt/presentation.xml><?xml version="1.0" encoding="utf-8"?>
<p:presentation xmlns:p="http://schemas.openxmlformats.org/presentationml/2006/main">
  <p:sldMasterIdLst>
    <p:sldMasterId xmlns:r="http://schemas.openxmlformats.org/officeDocument/2006/relationships" id="2147483648" r:id="R027b92d7f27c4e99"/>
  </p:sldMasterIdLst>
  <p:notesMasterIdLst>
    <p:notesMasterId xmlns:r="http://schemas.openxmlformats.org/officeDocument/2006/relationships" r:id="Rbd1597df633e4393"/>
  </p:notesMasterIdLst>
  <p:sldIdLst>
    <p:sldId xmlns:r="http://schemas.openxmlformats.org/officeDocument/2006/relationships" id="256" r:id="Re6bec96cdb8c4f13"/>
    <p:sldId xmlns:r="http://schemas.openxmlformats.org/officeDocument/2006/relationships" id="257" r:id="Rfa711d200ecd4a58"/>
    <p:sldId xmlns:r="http://schemas.openxmlformats.org/officeDocument/2006/relationships" id="258" r:id="R3ff093abd1af4ee5"/>
    <p:sldId xmlns:r="http://schemas.openxmlformats.org/officeDocument/2006/relationships" id="259" r:id="R6f4ed61d321a4795"/>
    <p:sldId xmlns:r="http://schemas.openxmlformats.org/officeDocument/2006/relationships" id="260" r:id="R06a9dec4d1a2402e"/>
    <p:sldId xmlns:r="http://schemas.openxmlformats.org/officeDocument/2006/relationships" id="261" r:id="R37b6719c11e54384"/>
    <p:sldId xmlns:r="http://schemas.openxmlformats.org/officeDocument/2006/relationships" id="262" r:id="Rc9c6619072ea432e"/>
    <p:sldId xmlns:r="http://schemas.openxmlformats.org/officeDocument/2006/relationships" id="263" r:id="Rad3f026c8ccb4140"/>
    <p:sldId xmlns:r="http://schemas.openxmlformats.org/officeDocument/2006/relationships" id="264" r:id="Rca48c834234d422e"/>
    <p:sldId xmlns:r="http://schemas.openxmlformats.org/officeDocument/2006/relationships" id="265" r:id="R36b4ee6ab98b4aee"/>
    <p:sldId xmlns:r="http://schemas.openxmlformats.org/officeDocument/2006/relationships" id="266" r:id="R847bdeacb9b3484f"/>
    <p:sldId xmlns:r="http://schemas.openxmlformats.org/officeDocument/2006/relationships" id="267" r:id="Re2a9f67e72004814"/>
    <p:sldId xmlns:r="http://schemas.openxmlformats.org/officeDocument/2006/relationships" id="268" r:id="Ree82519da4924cd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94b08f0e8f43f6" /><Relationship Type="http://schemas.openxmlformats.org/officeDocument/2006/relationships/slideMaster" Target="/ppt/slideMasters/slideMaster1.xml" Id="R027b92d7f27c4e99" /><Relationship Type="http://schemas.openxmlformats.org/officeDocument/2006/relationships/notesMaster" Target="/ppt/notesMasters/notesMaster1.xml" Id="Rbd1597df633e4393" /><Relationship Type="http://schemas.openxmlformats.org/officeDocument/2006/relationships/presProps" Target="/ppt/presProps.xml" Id="R83d486464ebd4173" /><Relationship Type="http://schemas.openxmlformats.org/officeDocument/2006/relationships/tableStyles" Target="/ppt/tableStyles.xml" Id="R8466a9b2898641f1" /><Relationship Type="http://schemas.openxmlformats.org/officeDocument/2006/relationships/slide" Target="/ppt/slides/slide1.xml" Id="Re6bec96cdb8c4f13" /><Relationship Type="http://schemas.openxmlformats.org/officeDocument/2006/relationships/slide" Target="/ppt/slides/slide2.xml" Id="Rfa711d200ecd4a58" /><Relationship Type="http://schemas.openxmlformats.org/officeDocument/2006/relationships/slide" Target="/ppt/slides/slide3.xml" Id="R3ff093abd1af4ee5" /><Relationship Type="http://schemas.openxmlformats.org/officeDocument/2006/relationships/slide" Target="/ppt/slides/slide4.xml" Id="R6f4ed61d321a4795" /><Relationship Type="http://schemas.openxmlformats.org/officeDocument/2006/relationships/slide" Target="/ppt/slides/slide5.xml" Id="R06a9dec4d1a2402e" /><Relationship Type="http://schemas.openxmlformats.org/officeDocument/2006/relationships/slide" Target="/ppt/slides/slide6.xml" Id="R37b6719c11e54384" /><Relationship Type="http://schemas.openxmlformats.org/officeDocument/2006/relationships/slide" Target="/ppt/slides/slide7.xml" Id="Rc9c6619072ea432e" /><Relationship Type="http://schemas.openxmlformats.org/officeDocument/2006/relationships/slide" Target="/ppt/slides/slide8.xml" Id="Rad3f026c8ccb4140" /><Relationship Type="http://schemas.openxmlformats.org/officeDocument/2006/relationships/slide" Target="/ppt/slides/slide9.xml" Id="Rca48c834234d422e" /><Relationship Type="http://schemas.openxmlformats.org/officeDocument/2006/relationships/slide" Target="/ppt/slides/slide10.xml" Id="R36b4ee6ab98b4aee" /><Relationship Type="http://schemas.openxmlformats.org/officeDocument/2006/relationships/slide" Target="/ppt/slides/slide11.xml" Id="R847bdeacb9b3484f" /><Relationship Type="http://schemas.openxmlformats.org/officeDocument/2006/relationships/slide" Target="/ppt/slides/slide12.xml" Id="Re2a9f67e72004814" /><Relationship Type="http://schemas.openxmlformats.org/officeDocument/2006/relationships/slide" Target="/ppt/slides/slide13.xml" Id="Ree82519da4924c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156afc867943e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741f597d9834ca7" /><Relationship Type="http://schemas.openxmlformats.org/officeDocument/2006/relationships/notesMaster" Target="/ppt/notesMasters/notesMaster1.xml" Id="R4110c452f59a491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692af6458e24b13" /><Relationship Type="http://schemas.openxmlformats.org/officeDocument/2006/relationships/notesMaster" Target="/ppt/notesMasters/notesMaster1.xml" Id="Rcec2af569adc43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cfaa2e79544a98" /><Relationship Type="http://schemas.openxmlformats.org/officeDocument/2006/relationships/notesMaster" Target="/ppt/notesMasters/notesMaster1.xml" Id="Reea2a052b67f47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afef1ff26dc4c56" /><Relationship Type="http://schemas.openxmlformats.org/officeDocument/2006/relationships/notesMaster" Target="/ppt/notesMasters/notesMaster1.xml" Id="R8526ba1eea9f47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28cd9df061f4d46" /><Relationship Type="http://schemas.openxmlformats.org/officeDocument/2006/relationships/notesMaster" Target="/ppt/notesMasters/notesMaster1.xml" Id="Rd079b017d405491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a233effafc4077" /><Relationship Type="http://schemas.openxmlformats.org/officeDocument/2006/relationships/notesMaster" Target="/ppt/notesMasters/notesMaster1.xml" Id="R7632fec3979a468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a7fa0cd55b140aa" /><Relationship Type="http://schemas.openxmlformats.org/officeDocument/2006/relationships/notesMaster" Target="/ppt/notesMasters/notesMaster1.xml" Id="R2a3fb9745ba346df"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fed1d27187411a" /><Relationship Type="http://schemas.openxmlformats.org/officeDocument/2006/relationships/notesMaster" Target="/ppt/notesMasters/notesMaster1.xml" Id="Ra16d1f0a32ed49a0" /></Relationships>
</file>

<file path=ppt/notesSlides/_rels/notesSlide9.xml.rels>&#65279;<?xml version="1.0" encoding="utf-8"?><Relationships xmlns="http://schemas.openxmlformats.org/package/2006/relationships"><Relationship Type="http://schemas.openxmlformats.org/officeDocument/2006/relationships/slide" Target="/ppt/slides/slide9.xml" Id="R93a67b6d7d6f4606" /><Relationship Type="http://schemas.openxmlformats.org/officeDocument/2006/relationships/notesMaster" Target="/ppt/notesMasters/notesMaster1.xml" Id="Rb0aa873ec0834d9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8ac213c234747cf" /><Relationship Type="http://schemas.openxmlformats.org/officeDocument/2006/relationships/notesMaster" Target="/ppt/notesMasters/notesMaster1.xml" Id="Ref74f8123a8d4d5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6c5b7b4fbbe4723" /><Relationship Type="http://schemas.openxmlformats.org/officeDocument/2006/relationships/notesMaster" Target="/ppt/notesMasters/notesMaster1.xml" Id="R289dcf850a5c40c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b362b8d7ce241f9" /><Relationship Type="http://schemas.openxmlformats.org/officeDocument/2006/relationships/notesMaster" Target="/ppt/notesMasters/notesMaster1.xml" Id="R516b8ab204ec437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3dd51ac4154465b" /><Relationship Type="http://schemas.openxmlformats.org/officeDocument/2006/relationships/notesMaster" Target="/ppt/notesMasters/notesMaster1.xml" Id="R1a3e4de6bf7440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Captura actual de http://127.0.0.1:8081/ realizada para esta presentación el 4 de octubre de 2026. Fuente: artifacts/ppt-inicio-actual.jpg. Presentación de mejoras de la versión local. El objetivo final de traducir LSCh y voz/texto todavía está en desarrollo. No se muestran contraseñas ni claves.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artifacts/manos-rapidas-verificacion.md, artifacts/manos-rapidas-camara-real.jpg, artifacts/manos-rapidas-verificacion.jpg. Izquierda: cámara física local. Derecha: interfaz real del diagnóstico con una imagen de prueba. Se corrigieron congelación/desfase y seguimiento por separado. Detector regional MediaPipe HandPose 3D lite con TensorFlow.js en Worker, 21 puntos por mano. En prueba tras preparar el modelo: adquisición 63 ms y siguientes inferencias 38–74 ms. Son tiempos de inferencia local, no latencia total ni garantía en todos los equipos. La carga inicial tuvo picos.</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artifacts/camara-automatica-verificacion.md, camara-automatica-pc.jpg, camara-automatica-celular.jpg, App.js, tests/webCameraCompatibility.test.mjs, scripts/patch-expo-camera.cjs. Capturas reales del bundle con cámara simulada y subidas bloqueadas. Celular emulado, no prueba física. PC 4:3 máximo 600 px y móvil 9:16 máximo 450 px. Una ventana de PC estrecha permanece PC. Se corrigió referencia inexistente OverconstrainedError y se incluyeron alternativas de restricciones/reinicio. No garantía universal de hardware.</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App.js, recordingHandGuard.js, trainingCapture.js, artifacts/grabacion-una-mano.png y artifacts/ayuda-deteccion-manos.png. Captura histórica de la cámara real durante la preparación. Preparar grabación arma la espera, confirmación inicial de ambas manos, cuenta atrás y captura posterior permitida con al menos una mano detectada. Se controla pérdida/antigüedad de puntos y preparación se puede cancelar. Se incorporaron mensajes contextuales para encuadre, luz y primeras secuencias. La captura no demuestra una seña completa.</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artifacts/filtro-gestos-verificacion.md, artifacts/filtro-gestos-app.jpg y gestureModeration.js. Captura real del bundle con entrada simulada basada en la imagen del usuario y subidas bloqueadas. Configuración concreta con 21 puntos, persistencia mínima de 3 detecciones y 250 ms. Puede fallar al confundir dedos. No clasifica intención obscena general. El bloqueo se comprueba durante la preparación y captura completa, con liberación por detecciones limpias. Otros gestos requieren ejemplos y revisión LSCh.</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artifacts/vista-previa-verificacion.md, artifacts/vista-previa-reintento.jpg, recordingDraftStore.js, recordingSubmission.js y App.js. Captura real de la interfaz con cámara, detector y servidor simulados. Figura dibujada de prueba, no una seña real de entrenamiento. Secuencia de 30 fotogramas, proporción original, cerrar cámara al revisar. IndexedDB conserva una toma pendiente por origen/navegador. Repetir no borra la anterior hasta otra válida. Envío explícito, ruta única, consultar registro existente, reutilizar archivo, limpieza solo después de completar, tiempo límite 30 s y Web Locks compatibles. No se subieron grabaciones reales en esta prueba.</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App.js, AdminPanel.js, RecordingProfiles.js, recordingSource.js, training/datasetPreparation.js, admin/README.md, artifacts/ppt-acceso-admin.jpg y artifacts/grabacion-sin-personas.png. Capturas de los controles y login actuales. La cámara negra de la captura de controles se excluye porque no se probó físicamente esa sesión. Se retiró el selector Persona 1/2 y visualizador técnico público. El origen anónimo local automático no demuestra personas distintas. El catálogo, diagnósticos y entrenamiento están en admin. Cinco pulsaciones al logo y contraseña validada en servidor, sesión temporal y límite de intentos. No se muestra contraseña. El bucket antiguo de imágenes mantiene sus permisos previos.</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AdminPanel.js, admin/README.md, artifacts/ppt-moderacion-actual.jpg y artifacts/ppt-revision-grabacion.jpg. Capturas actuales con 20 pendientes, 110 aprobadas, 0 rechazadas. Grabación real pendiente saludos/hola #186 en vista previa pausada. No se cambiaron decisiones. Nuevas contribuciones pendientes, reproducción, decisiones individuales o por lote, búsquedas, filtros y páginas de 25. Comprobación de versión concurrente. Rechazar conserva el archivo y lo excluye de aprobadas. No aprobación automática por votos públicos.</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admin/README.md, training/README.md y artifacts/ppt-material-actual.jpg. Catálogo privado de ocho referencias educativas y metadatos académicos de 379 videos. Incluye referencias UMCE/Mineduc y Universidad de Valparaíso. No se afirma descarga ni autorización del dataset del estudio. Los enlaces son candidatos, no clips revisados automáticamente ni muestras suficientes para entrenar. Cada fragmento requiere revisión lingüística y permiso.</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training/README.md, admin/README.md y artifacts/recuperacion-110-lista.png. 531 entradas por categoría, no 531 señas únicas ni entrenadas. Se incorporó auditoría, prioridades e importación de conjuntos revisados. La recuperación real del 4 de octubre procesó 110 aprobadas y guardó 110 resultados sin errores; 44 técnicamente utilizables y 12 además con etiquetas compatibles/aprobadas. Dos clases con dos originales distintos: alimentos/cerdo y tiempo/dia. Calidad de puntos no confirma corrección lingüística. Se conservan originales y aprobaciones. Caché local por navegador/origen y reanudación sin procesar otra vez 110 resultados vigentes. Tiempos e identidad desconocidos no se inventan.</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training/README.md, admin/README.md, artifacts/ppt-revision-recuperacion.jpg y artifacts/ppt-modelo-guardado.jpg. Editor local de etiqueta exacta/participante solo conocido, confirmación explícita; no se guardaron cambios para esta captura. Modo independiente mínimo 5 originales aprendizaje y 2 prueba por clase con personas separadas; transformaciones artificiales no se cuentan como originales. Modo experimental: Conv1D temporal 32 pasos x 171 características, 30 épocas con variaciones solo de datos de aprendizaje. Cerdo/día, 2 originales aprendizaje totales y 2 reservados totales. Cerdo 1/1, día 0/1, total 1/2 (50%). Podrían ser la misma persona. Modelo, etiquetas e informe persistidos y recuperados tras recargar. No activa reconocimiento público ni traductor continuo. Requiere gestos desconocidos, otras personas y cámara real.</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admin/README.md, training/README.md, package.json, dist/index.html y DeafApp-sin-selector-personas.zip. ZIP actual de 18 entradas, index.html en raíz, biblioteca y modelos de seguimiento locales. Se excluyeron SQL, contraseñas, grabaciones privadas y diagnósticos. Preparar el ZIP no publica la interfaz. IndexedDB de localhost no se transfiere automáticamente al dominio oficial. App.js es fuente Expo, no una aplicación web exportada por sí sola.</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App.js, training/README.md, admin/README.md y conversación del proyecto. La meta del usuario es un traductor en tiempo real entre LSCh y oyentes mediante voz/texto, bidireccional. El estado implementado es captura, moderación, preparación y prototipo aislado privado. Falta comprobar con participantes distintos, gestos desconocidos y cámara real antes de habilitar reconocimiento público. Frases continuas y voz/texto hacia LSCh necesitan etapas adicionales. No se afirma que DeafApp sea la mejor o primera opción nacional.</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eb9c1226ef49d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7ed721606cb42f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d9c0583d0db42b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6872f41bb68408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f5faa5f92ce405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bb7bb94b07b476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DBE83E-0B6D-4FD7-96D4-0EA995AE7B3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E8AB705-F99A-4D7E-A911-07FC6D9F2A5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F61F483-21C7-456C-9717-2BA6433DF2C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632C5F-49D2-466D-9ACE-547265B3AF4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EAAF55C-E78F-427F-BBA6-9DB9C0A250E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E884A90-9879-4AB7-895A-30601755F8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24CE88D-6C49-469A-9B18-77810E84CDF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35D8B27-6C15-4FAB-AD6C-48796D65478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B10C5D5-379A-414A-9A57-F75DC7C73F4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55A56A1-00B6-4483-8CAF-21A077D185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ceaa5941f84992" /><Relationship Type="http://schemas.openxmlformats.org/officeDocument/2006/relationships/slideLayout" Target="/ppt/slideLayouts/slideLayout1.xml" Id="Rc8caa13a95cf4cee" /><Relationship Type="http://schemas.openxmlformats.org/officeDocument/2006/relationships/slideLayout" Target="/ppt/slideLayouts/slideLayout2.xml" Id="R61288415ebad4745" /><Relationship Type="http://schemas.openxmlformats.org/officeDocument/2006/relationships/slideLayout" Target="/ppt/slideLayouts/slideLayout3.xml" Id="R5d3d5c70be684dae" /><Relationship Type="http://schemas.openxmlformats.org/officeDocument/2006/relationships/slideLayout" Target="/ppt/slideLayouts/slideLayout4.xml" Id="Ra6106faf047845b5" /><Relationship Type="http://schemas.openxmlformats.org/officeDocument/2006/relationships/slideLayout" Target="/ppt/slideLayouts/slideLayout5.xml" Id="Ra795d98c523c45e7" /><Relationship Type="http://schemas.openxmlformats.org/officeDocument/2006/relationships/slideLayout" Target="/ppt/slideLayouts/slideLayout6.xml" Id="Rc5db57827388439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caa13a95cf4cee"/>
    <p:sldLayoutId xmlns:r="http://schemas.openxmlformats.org/officeDocument/2006/relationships" id="2147483650" r:id="R61288415ebad4745"/>
    <p:sldLayoutId xmlns:r="http://schemas.openxmlformats.org/officeDocument/2006/relationships" id="2147483651" r:id="R5d3d5c70be684dae"/>
    <p:sldLayoutId xmlns:r="http://schemas.openxmlformats.org/officeDocument/2006/relationships" id="2147483652" r:id="Ra6106faf047845b5"/>
    <p:sldLayoutId xmlns:r="http://schemas.openxmlformats.org/officeDocument/2006/relationships" id="2147483653" r:id="Ra795d98c523c45e7"/>
    <p:sldLayoutId xmlns:r="http://schemas.openxmlformats.org/officeDocument/2006/relationships" id="2147483654" r:id="Rc5db57827388439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1f17c52870c4796" /><Relationship Type="http://schemas.openxmlformats.org/officeDocument/2006/relationships/image" Target="/ppt/media/image.png" Id="Rd94fb6b5c4c8498e" /><Relationship Type="http://schemas.openxmlformats.org/officeDocument/2006/relationships/notesSlide" Target="/ppt/notesSlides/notesSlide1.xml" Id="R9939e8628e624a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f4fb2b0b5874c66" /><Relationship Type="http://schemas.openxmlformats.org/officeDocument/2006/relationships/image" Target="/ppt/media/image2.png" Id="Rf09edc42b0444300" /><Relationship Type="http://schemas.openxmlformats.org/officeDocument/2006/relationships/image" Target="/ppt/media/image3.png" Id="R9c7e96e574664fca" /><Relationship Type="http://schemas.openxmlformats.org/officeDocument/2006/relationships/notesSlide" Target="/ppt/notesSlides/notesSlide2.xml" Id="R0130b43b8a3843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f595a1172ab4d0d" /><Relationship Type="http://schemas.openxmlformats.org/officeDocument/2006/relationships/image" Target="/ppt/media/image4.png" Id="R37788caf5ca1487e" /><Relationship Type="http://schemas.openxmlformats.org/officeDocument/2006/relationships/image" Target="/ppt/media/image5.png" Id="Rfd14c69b27294651" /><Relationship Type="http://schemas.openxmlformats.org/officeDocument/2006/relationships/notesSlide" Target="/ppt/notesSlides/notesSlide3.xml" Id="R05279c5875904a0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28e2bcb75d148b5" /><Relationship Type="http://schemas.openxmlformats.org/officeDocument/2006/relationships/image" Target="/ppt/media/image6.png" Id="R4bf5eb4c52be42d1" /><Relationship Type="http://schemas.openxmlformats.org/officeDocument/2006/relationships/notesSlide" Target="/ppt/notesSlides/notesSlide4.xml" Id="R9c1f760549154f6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50a30015ae04495" /><Relationship Type="http://schemas.openxmlformats.org/officeDocument/2006/relationships/image" Target="/ppt/media/image7.png" Id="Rfe763209350e491c" /><Relationship Type="http://schemas.openxmlformats.org/officeDocument/2006/relationships/notesSlide" Target="/ppt/notesSlides/notesSlide5.xml" Id="R09f2f2b4bdf84c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08449d435f14af0" /><Relationship Type="http://schemas.openxmlformats.org/officeDocument/2006/relationships/image" Target="/ppt/media/image8.png" Id="Rfb7df9cd457b43ea" /><Relationship Type="http://schemas.openxmlformats.org/officeDocument/2006/relationships/notesSlide" Target="/ppt/notesSlides/notesSlide6.xml" Id="R8010d3591e1744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e2fa2ae91b54c22" /><Relationship Type="http://schemas.openxmlformats.org/officeDocument/2006/relationships/image" Target="/ppt/media/image9.png" Id="R5938b7dee109428f" /><Relationship Type="http://schemas.openxmlformats.org/officeDocument/2006/relationships/image" Target="/ppt/media/image10.png" Id="R99d3c3b9d2554dad" /><Relationship Type="http://schemas.openxmlformats.org/officeDocument/2006/relationships/notesSlide" Target="/ppt/notesSlides/notesSlide7.xml" Id="R7d02390b302141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0e1727f72b745dd" /><Relationship Type="http://schemas.openxmlformats.org/officeDocument/2006/relationships/image" Target="/ppt/media/image11.png" Id="Rce0eb4a8155944c7" /><Relationship Type="http://schemas.openxmlformats.org/officeDocument/2006/relationships/image" Target="/ppt/media/image12.png" Id="R1c899093ff414238" /><Relationship Type="http://schemas.openxmlformats.org/officeDocument/2006/relationships/notesSlide" Target="/ppt/notesSlides/notesSlide8.xml" Id="Rb4a06f319a484ba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0578370c84e471a" /><Relationship Type="http://schemas.openxmlformats.org/officeDocument/2006/relationships/image" Target="/ppt/media/image13.png" Id="R08107a14840a4290" /><Relationship Type="http://schemas.openxmlformats.org/officeDocument/2006/relationships/notesSlide" Target="/ppt/notesSlides/notesSlide9.xml" Id="R555ce97635c845e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82868c2e832433f" /><Relationship Type="http://schemas.openxmlformats.org/officeDocument/2006/relationships/image" Target="/ppt/media/image14.png" Id="R0911ac7bd68e4bfb" /><Relationship Type="http://schemas.openxmlformats.org/officeDocument/2006/relationships/notesSlide" Target="/ppt/notesSlides/notesSlide10.xml" Id="R982ba3230095412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bad8cb4ae52444b" /><Relationship Type="http://schemas.openxmlformats.org/officeDocument/2006/relationships/image" Target="/ppt/media/image15.png" Id="Rc29c5da8838f4c62" /><Relationship Type="http://schemas.openxmlformats.org/officeDocument/2006/relationships/image" Target="/ppt/media/image16.png" Id="R4fda58dccdd84298" /><Relationship Type="http://schemas.openxmlformats.org/officeDocument/2006/relationships/notesSlide" Target="/ppt/notesSlides/notesSlide11.xml" Id="Re3c3bb975ace4b3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aaf531a89344034" /><Relationship Type="http://schemas.openxmlformats.org/officeDocument/2006/relationships/notesSlide" Target="/ppt/notesSlides/notesSlide12.xml" Id="Redb3f0e54eb1462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2fe7700028145a4" /><Relationship Type="http://schemas.openxmlformats.org/officeDocument/2006/relationships/notesSlide" Target="/ppt/notesSlides/notesSlide13.xml" Id="R1180bba3ca6149ad" /></Relationships>
</file>

<file path=ppt/slides/slide1.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6" name="slide-1-text-0">
            <a:extLst xmlns:a="http://schemas.openxmlformats.org/drawingml/2006/main">
              <a:ext uri="{FF2B5EF4-FFF2-40B4-BE49-F238E27FC236}">
                <a16:creationId xmlns:a16="http://schemas.microsoft.com/office/drawing/2014/main" id="{87D64C21-E407-41CF-9CBB-75DD3F6B6495}"/>
              </a:ext>
            </a:extLst>
          </p:cNvPr>
          <p:cNvSpPr>
            <a:spLocks xmlns:a="http://schemas.openxmlformats.org/drawingml/2006/main" noGrp="1"/>
          </p:cNvSpPr>
          <p:nvPr/>
        </p:nvSpPr>
        <p:spPr>
          <a:xfrm xmlns:a="http://schemas.openxmlformats.org/drawingml/2006/main">
            <a:off x="609600" y="1190625"/>
            <a:ext cx="5524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5700" b="1">
                <a:solidFill>
                  <a:srgbClr val="FFFFFF"/>
                </a:solidFill>
                <a:latin typeface="Arial"/>
                <a:ea typeface="Arial"/>
                <a:cs typeface="Arial"/>
              </a:defRPr>
            </a:defPPr>
          </a:lstStyle>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DeafApp</a:t>
            </a:r>
          </a:p>
        </p:txBody>
      </p:sp>
      <p:sp>
        <p:nvSpPr>
          <p:cNvPr id="2" name="slide-1-text-1">
            <a:extLst xmlns:a="http://schemas.openxmlformats.org/drawingml/2006/main">
              <a:ext uri="{FF2B5EF4-FFF2-40B4-BE49-F238E27FC236}">
                <a16:creationId xmlns:a16="http://schemas.microsoft.com/office/drawing/2014/main" id="{80F39296-828D-462C-A15B-B7F934643DE8}"/>
              </a:ext>
            </a:extLst>
          </p:cNvPr>
          <p:cNvSpPr>
            <a:spLocks xmlns:a="http://schemas.openxmlformats.org/drawingml/2006/main" noGrp="1"/>
          </p:cNvSpPr>
          <p:nvPr/>
        </p:nvSpPr>
        <p:spPr>
          <a:xfrm xmlns:a="http://schemas.openxmlformats.org/drawingml/2006/main">
            <a:off x="609600" y="2343150"/>
            <a:ext cx="5715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600" b="1">
                <a:solidFill>
                  <a:srgbClr val="5DE0DC"/>
                </a:solidFill>
                <a:latin typeface="Arial"/>
                <a:ea typeface="Arial"/>
                <a:cs typeface="Arial"/>
              </a:defRPr>
            </a:defPPr>
          </a:lstStyle>
          <a:p xmlns:a="http://schemas.openxmlformats.org/drawingml/2006/main">
            <a:pPr algn="l">
              <a:defRPr sz="3600" b="1">
                <a:solidFill>
                  <a:srgbClr val="5DE0DC"/>
                </a:solidFill>
                <a:latin typeface="Arial"/>
                <a:ea typeface="Arial"/>
                <a:cs typeface="Arial"/>
              </a:defRPr>
            </a:pPr>
            <a:r>
              <a:rPr sz="3600" b="1">
                <a:solidFill>
                  <a:srgbClr val="5DE0DC"/>
                </a:solidFill>
                <a:latin typeface="Arial"/>
                <a:ea typeface="Arial"/>
                <a:cs typeface="Arial"/>
              </a:rPr>
              <a:t>Mejoras implementadas</a:t>
            </a:r>
          </a:p>
        </p:txBody>
      </p:sp>
      <p:sp>
        <p:nvSpPr>
          <p:cNvPr id="3" name="slide-1-text-2">
            <a:extLst xmlns:a="http://schemas.openxmlformats.org/drawingml/2006/main">
              <a:ext uri="{FF2B5EF4-FFF2-40B4-BE49-F238E27FC236}">
                <a16:creationId xmlns:a16="http://schemas.microsoft.com/office/drawing/2014/main" id="{B44B8F16-124D-49ED-B384-944C2F552C7E}"/>
              </a:ext>
            </a:extLst>
          </p:cNvPr>
          <p:cNvSpPr>
            <a:spLocks xmlns:a="http://schemas.openxmlformats.org/drawingml/2006/main" noGrp="1"/>
          </p:cNvSpPr>
          <p:nvPr/>
        </p:nvSpPr>
        <p:spPr>
          <a:xfrm xmlns:a="http://schemas.openxmlformats.org/drawingml/2006/main">
            <a:off x="609600" y="3609975"/>
            <a:ext cx="533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0">
                <a:solidFill>
                  <a:srgbClr val="D6D6E4"/>
                </a:solidFill>
                <a:latin typeface="Arial"/>
                <a:ea typeface="Arial"/>
                <a:cs typeface="Arial"/>
              </a:defRPr>
            </a:defPPr>
          </a:lstStyle>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Cámara, grabación y administración de datos de Lengua de Señas Chilena</a:t>
            </a:r>
          </a:p>
        </p:txBody>
      </p:sp>
      <p:sp>
        <p:nvSpPr>
          <p:cNvPr id="4" name="slide-1-text-3">
            <a:extLst xmlns:a="http://schemas.openxmlformats.org/drawingml/2006/main">
              <a:ext uri="{FF2B5EF4-FFF2-40B4-BE49-F238E27FC236}">
                <a16:creationId xmlns:a16="http://schemas.microsoft.com/office/drawing/2014/main" id="{0E2CF916-9892-4E55-938D-284A1208CC55}"/>
              </a:ext>
            </a:extLst>
          </p:cNvPr>
          <p:cNvSpPr>
            <a:spLocks xmlns:a="http://schemas.openxmlformats.org/drawingml/2006/main" noGrp="1"/>
          </p:cNvSpPr>
          <p:nvPr/>
        </p:nvSpPr>
        <p:spPr>
          <a:xfrm xmlns:a="http://schemas.openxmlformats.org/drawingml/2006/main">
            <a:off x="609600" y="58293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ADACBC"/>
                </a:solidFill>
                <a:latin typeface="Arial"/>
                <a:ea typeface="Arial"/>
                <a:cs typeface="Arial"/>
              </a:defRPr>
            </a:defPPr>
          </a:lstStyle>
          <a:p xmlns:a="http://schemas.openxmlformats.org/drawingml/2006/main">
            <a:pPr algn="l">
              <a:defRPr sz="1800" b="0">
                <a:solidFill>
                  <a:srgbClr val="ADACBC"/>
                </a:solidFill>
                <a:latin typeface="Arial"/>
                <a:ea typeface="Arial"/>
                <a:cs typeface="Arial"/>
              </a:defRPr>
            </a:pPr>
            <a:r>
              <a:rPr sz="1800" b="0">
                <a:solidFill>
                  <a:srgbClr val="ADACBC"/>
                </a:solidFill>
                <a:latin typeface="Arial"/>
                <a:ea typeface="Arial"/>
                <a:cs typeface="Arial"/>
              </a:rPr>
              <a:t>4 de octubre de 2026</a:t>
            </a:r>
          </a:p>
        </p:txBody>
      </p:sp>
      <p:pic>
        <p:nvPicPr>
          <p:cNvPr id="5" name="">
            <a:extLst xmlns:a="http://schemas.openxmlformats.org/drawingml/2006/main">
              <a:ext uri="{FF2B5EF4-FFF2-40B4-BE49-F238E27FC236}">
                <a16:creationId xmlns:a16="http://schemas.microsoft.com/office/drawing/2014/main" id="{DAEDD178-10C3-45FB-B510-3516BB1051A4}"/>
              </a:ext>
            </a:extLst>
          </p:cNvPr>
          <p:cNvPicPr>
            <a:picLocks xmlns:a="http://schemas.openxmlformats.org/drawingml/2006/main" noChangeAspect="1"/>
          </p:cNvPicPr>
          <p:nvPr/>
        </p:nvPicPr>
        <p:blipFill>
          <a:blip xmlns:r="http://schemas.openxmlformats.org/officeDocument/2006/relationships" xmlns:a="http://schemas.openxmlformats.org/drawingml/2006/main" r:embed="Rd94fb6b5c4c8498e"/>
          <a:stretch xmlns:a="http://schemas.openxmlformats.org/drawingml/2006/main"/>
        </p:blipFill>
        <p:spPr>
          <a:xfrm xmlns:a="http://schemas.openxmlformats.org/drawingml/2006/main">
            <a:off x="6557596" y="762000"/>
            <a:ext cx="4791808" cy="5191125"/>
          </a:xfrm>
          <a:prstGeom xmlns:a="http://schemas.openxmlformats.org/drawingml/2006/main" prst="rect">
            <a:avLst/>
          </a:prstGeom>
        </p:spPr>
      </p:pic>
    </p:spTree>
    <p:extLst>
      <p:ext uri="{BB962C8B-B14F-4D97-AF65-F5344CB8AC3E}">
        <p14:creationId xmlns:p14="http://schemas.microsoft.com/office/powerpoint/2010/main" val="1876175238"/>
      </p:ext>
    </p:extLst>
  </p:cSld>
</p:sld>
</file>

<file path=ppt/slides/slide2.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4" name="slide-2-text-0">
            <a:extLst xmlns:a="http://schemas.openxmlformats.org/drawingml/2006/main">
              <a:ext uri="{FF2B5EF4-FFF2-40B4-BE49-F238E27FC236}">
                <a16:creationId xmlns:a16="http://schemas.microsoft.com/office/drawing/2014/main" id="{1B32D699-5F1E-47A2-AF44-8369213E83C3}"/>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Trazados de cara y manos en vivo</a:t>
            </a:r>
          </a:p>
        </p:txBody>
      </p:sp>
      <p:sp>
        <p:nvSpPr>
          <p:cNvPr id="2" name="slide-2-text-1">
            <a:extLst xmlns:a="http://schemas.openxmlformats.org/drawingml/2006/main">
              <a:ext uri="{FF2B5EF4-FFF2-40B4-BE49-F238E27FC236}">
                <a16:creationId xmlns:a16="http://schemas.microsoft.com/office/drawing/2014/main" id="{CF940F84-6362-441F-B021-ADF9A867D6FB}"/>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02</a:t>
            </a:r>
          </a:p>
        </p:txBody>
      </p:sp>
      <p:sp>
        <p:nvSpPr>
          <p:cNvPr id="3" name="slide-2-text-2">
            <a:extLst xmlns:a="http://schemas.openxmlformats.org/drawingml/2006/main">
              <a:ext uri="{FF2B5EF4-FFF2-40B4-BE49-F238E27FC236}">
                <a16:creationId xmlns:a16="http://schemas.microsoft.com/office/drawing/2014/main" id="{F1C09EAE-187A-46E8-9048-9D831EEEDEB5}"/>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Cámara real y diagnóstico local. Los tiempos medidos excluyen la preparación inicial del modelo.</a:t>
            </a:r>
          </a:p>
        </p:txBody>
      </p:sp>
      <p:sp>
        <p:nvSpPr>
          <p:cNvPr id="4" name="slide-2-text-3">
            <a:extLst xmlns:a="http://schemas.openxmlformats.org/drawingml/2006/main">
              <a:ext uri="{FF2B5EF4-FFF2-40B4-BE49-F238E27FC236}">
                <a16:creationId xmlns:a16="http://schemas.microsoft.com/office/drawing/2014/main" id="{3FBA767E-CBCD-4C9E-8FC1-88864AB490A2}"/>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Seguimiento continuo</a:t>
            </a:r>
          </a:p>
        </p:txBody>
      </p:sp>
      <p:sp>
        <p:nvSpPr>
          <p:cNvPr id="5" name="slide-2-text-4">
            <a:extLst xmlns:a="http://schemas.openxmlformats.org/drawingml/2006/main">
              <a:ext uri="{FF2B5EF4-FFF2-40B4-BE49-F238E27FC236}">
                <a16:creationId xmlns:a16="http://schemas.microsoft.com/office/drawing/2014/main" id="{E585D3F1-2831-4139-B329-2BBDA1BCE6A6}"/>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cara y cada mano actualizan sus puntos sobre la imagen, sin dejar trazados congelados.</a:t>
            </a:r>
          </a:p>
        </p:txBody>
      </p:sp>
      <p:sp>
        <p:nvSpPr>
          <p:cNvPr id="6" name="slide-2-text-5">
            <a:extLst xmlns:a="http://schemas.openxmlformats.org/drawingml/2006/main">
              <a:ext uri="{FF2B5EF4-FFF2-40B4-BE49-F238E27FC236}">
                <a16:creationId xmlns:a16="http://schemas.microsoft.com/office/drawing/2014/main" id="{9CAF3E4A-092E-40DE-A81C-DE2C4B7F415B}"/>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Manos más rápidas</a:t>
            </a:r>
          </a:p>
        </p:txBody>
      </p:sp>
      <p:sp>
        <p:nvSpPr>
          <p:cNvPr id="7" name="slide-2-text-6">
            <a:extLst xmlns:a="http://schemas.openxmlformats.org/drawingml/2006/main">
              <a:ext uri="{FF2B5EF4-FFF2-40B4-BE49-F238E27FC236}">
                <a16:creationId xmlns:a16="http://schemas.microsoft.com/office/drawing/2014/main" id="{8ABE8129-CF1C-4F43-9D51-CDCEEC084970}"/>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búsqueda guiada por la cara y el modelo reutilizado reducen la espera.</a:t>
            </a:r>
          </a:p>
        </p:txBody>
      </p:sp>
      <p:sp>
        <p:nvSpPr>
          <p:cNvPr id="8" name="slide-2-text-7">
            <a:extLst xmlns:a="http://schemas.openxmlformats.org/drawingml/2006/main">
              <a:ext uri="{FF2B5EF4-FFF2-40B4-BE49-F238E27FC236}">
                <a16:creationId xmlns:a16="http://schemas.microsoft.com/office/drawing/2014/main" id="{AA376897-5AA6-4FB4-AE79-C85AD00FF211}"/>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21 puntos por mano</a:t>
            </a:r>
          </a:p>
        </p:txBody>
      </p:sp>
      <p:sp>
        <p:nvSpPr>
          <p:cNvPr id="9" name="slide-2-text-8">
            <a:extLst xmlns:a="http://schemas.openxmlformats.org/drawingml/2006/main">
              <a:ext uri="{FF2B5EF4-FFF2-40B4-BE49-F238E27FC236}">
                <a16:creationId xmlns:a16="http://schemas.microsoft.com/office/drawing/2014/main" id="{07891831-1685-4CB1-8E21-798B9A0E10F9}"/>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Inferencias de 38 a 74 ms tras preparar el modelo en la prueba local.</a:t>
            </a:r>
          </a:p>
        </p:txBody>
      </p:sp>
      <p:pic>
        <p:nvPicPr>
          <p:cNvPr id="10" name="">
            <a:extLst xmlns:a="http://schemas.openxmlformats.org/drawingml/2006/main">
              <a:ext uri="{FF2B5EF4-FFF2-40B4-BE49-F238E27FC236}">
                <a16:creationId xmlns:a16="http://schemas.microsoft.com/office/drawing/2014/main" id="{17268DC3-D0D7-4C6A-B9C9-659F4D852161}"/>
              </a:ext>
            </a:extLst>
          </p:cNvPr>
          <p:cNvPicPr>
            <a:picLocks xmlns:a="http://schemas.openxmlformats.org/drawingml/2006/main" noChangeAspect="1"/>
          </p:cNvPicPr>
          <p:nvPr/>
        </p:nvPicPr>
        <p:blipFill>
          <a:blip xmlns:r="http://schemas.openxmlformats.org/officeDocument/2006/relationships" xmlns:a="http://schemas.openxmlformats.org/drawingml/2006/main" r:embed="Rf09edc42b0444300"/>
          <a:stretch xmlns:a="http://schemas.openxmlformats.org/drawingml/2006/main"/>
        </p:blipFill>
        <p:spPr>
          <a:xfrm xmlns:a="http://schemas.openxmlformats.org/drawingml/2006/main">
            <a:off x="4714875" y="2527697"/>
            <a:ext cx="3190875" cy="2393156"/>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6D4A3933-1A98-4DDC-9EE3-B61D992C101F}"/>
              </a:ext>
            </a:extLst>
          </p:cNvPr>
          <p:cNvPicPr>
            <a:picLocks xmlns:a="http://schemas.openxmlformats.org/drawingml/2006/main" noChangeAspect="1"/>
          </p:cNvPicPr>
          <p:nvPr/>
        </p:nvPicPr>
        <p:blipFill>
          <a:blip xmlns:r="http://schemas.openxmlformats.org/officeDocument/2006/relationships" xmlns:a="http://schemas.openxmlformats.org/drawingml/2006/main" r:embed="R9c7e96e574664fca"/>
          <a:stretch xmlns:a="http://schemas.openxmlformats.org/drawingml/2006/main"/>
        </p:blipFill>
        <p:spPr>
          <a:xfrm xmlns:a="http://schemas.openxmlformats.org/drawingml/2006/main">
            <a:off x="8096250" y="2409928"/>
            <a:ext cx="3486150" cy="2628695"/>
          </a:xfrm>
          <a:prstGeom xmlns:a="http://schemas.openxmlformats.org/drawingml/2006/main" prst="rect">
            <a:avLst/>
          </a:prstGeom>
        </p:spPr>
      </p:pic>
      <p:sp>
        <p:nvSpPr>
          <p:cNvPr id="12" name="slide-2-text-9">
            <a:extLst xmlns:a="http://schemas.openxmlformats.org/drawingml/2006/main">
              <a:ext uri="{FF2B5EF4-FFF2-40B4-BE49-F238E27FC236}">
                <a16:creationId xmlns:a16="http://schemas.microsoft.com/office/drawing/2014/main" id="{1C5B9E67-0554-415C-8A69-7EEB123A1452}"/>
              </a:ext>
            </a:extLst>
          </p:cNvPr>
          <p:cNvSpPr>
            <a:spLocks xmlns:a="http://schemas.openxmlformats.org/drawingml/2006/main" noGrp="1"/>
          </p:cNvSpPr>
          <p:nvPr/>
        </p:nvSpPr>
        <p:spPr>
          <a:xfrm xmlns:a="http://schemas.openxmlformats.org/drawingml/2006/main">
            <a:off x="4762500" y="5067300"/>
            <a:ext cx="3095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725" b="1">
                <a:solidFill>
                  <a:srgbClr val="5DE0DC"/>
                </a:solidFill>
                <a:latin typeface="Arial"/>
                <a:ea typeface="Arial"/>
                <a:cs typeface="Arial"/>
              </a:defRPr>
            </a:defPPr>
          </a:lstStyle>
          <a:p xmlns:a="http://schemas.openxmlformats.org/drawingml/2006/main">
            <a:pPr algn="l">
              <a:defRPr sz="1725" b="1">
                <a:solidFill>
                  <a:srgbClr val="5DE0DC"/>
                </a:solidFill>
                <a:latin typeface="Arial"/>
                <a:ea typeface="Arial"/>
                <a:cs typeface="Arial"/>
              </a:defRPr>
            </a:pPr>
            <a:r>
              <a:rPr sz="1725" b="1">
                <a:solidFill>
                  <a:srgbClr val="5DE0DC"/>
                </a:solidFill>
                <a:latin typeface="Arial"/>
                <a:ea typeface="Arial"/>
                <a:cs typeface="Arial"/>
              </a:rPr>
              <a:t>Cara en cámara real</a:t>
            </a:r>
          </a:p>
        </p:txBody>
      </p:sp>
      <p:sp>
        <p:nvSpPr>
          <p:cNvPr id="13" name="slide-2-text-10">
            <a:extLst xmlns:a="http://schemas.openxmlformats.org/drawingml/2006/main">
              <a:ext uri="{FF2B5EF4-FFF2-40B4-BE49-F238E27FC236}">
                <a16:creationId xmlns:a16="http://schemas.microsoft.com/office/drawing/2014/main" id="{CA3DC261-39CF-47F1-AA6C-537174899766}"/>
              </a:ext>
            </a:extLst>
          </p:cNvPr>
          <p:cNvSpPr>
            <a:spLocks xmlns:a="http://schemas.openxmlformats.org/drawingml/2006/main" noGrp="1"/>
          </p:cNvSpPr>
          <p:nvPr/>
        </p:nvSpPr>
        <p:spPr>
          <a:xfrm xmlns:a="http://schemas.openxmlformats.org/drawingml/2006/main">
            <a:off x="8153400" y="5067300"/>
            <a:ext cx="3390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725" b="1">
                <a:solidFill>
                  <a:srgbClr val="5DE0DC"/>
                </a:solidFill>
                <a:latin typeface="Arial"/>
                <a:ea typeface="Arial"/>
                <a:cs typeface="Arial"/>
              </a:defRPr>
            </a:defPPr>
          </a:lstStyle>
          <a:p xmlns:a="http://schemas.openxmlformats.org/drawingml/2006/main">
            <a:pPr algn="l">
              <a:defRPr sz="1725" b="1">
                <a:solidFill>
                  <a:srgbClr val="5DE0DC"/>
                </a:solidFill>
                <a:latin typeface="Arial"/>
                <a:ea typeface="Arial"/>
                <a:cs typeface="Arial"/>
              </a:defRPr>
            </a:pPr>
            <a:r>
              <a:rPr sz="1725" b="1">
                <a:solidFill>
                  <a:srgbClr val="5DE0DC"/>
                </a:solidFill>
                <a:latin typeface="Arial"/>
                <a:ea typeface="Arial"/>
                <a:cs typeface="Arial"/>
              </a:rPr>
              <a:t>Manos en diagnóstico</a:t>
            </a:r>
          </a:p>
        </p:txBody>
      </p:sp>
    </p:spTree>
    <p:extLst>
      <p:ext uri="{BB962C8B-B14F-4D97-AF65-F5344CB8AC3E}">
        <p14:creationId xmlns:p14="http://schemas.microsoft.com/office/powerpoint/2010/main" val="407865411"/>
      </p:ext>
    </p:extLst>
  </p:cSld>
</p:sld>
</file>

<file path=ppt/slides/slide3.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9" name="slide-3-text-0">
            <a:extLst xmlns:a="http://schemas.openxmlformats.org/drawingml/2006/main">
              <a:ext uri="{FF2B5EF4-FFF2-40B4-BE49-F238E27FC236}">
                <a16:creationId xmlns:a16="http://schemas.microsoft.com/office/drawing/2014/main" id="{26AC87C5-A2C9-4C8E-A652-D9C638DDB75D}"/>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Cámara automática y más estable</a:t>
            </a:r>
          </a:p>
        </p:txBody>
      </p:sp>
      <p:sp>
        <p:nvSpPr>
          <p:cNvPr id="2" name="slide-3-text-1">
            <a:extLst xmlns:a="http://schemas.openxmlformats.org/drawingml/2006/main">
              <a:ext uri="{FF2B5EF4-FFF2-40B4-BE49-F238E27FC236}">
                <a16:creationId xmlns:a16="http://schemas.microsoft.com/office/drawing/2014/main" id="{D0A00346-473F-4865-8FF0-A9F87672A754}"/>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03</a:t>
            </a:r>
          </a:p>
        </p:txBody>
      </p:sp>
      <p:sp>
        <p:nvSpPr>
          <p:cNvPr id="3" name="slide-3-text-2">
            <a:extLst xmlns:a="http://schemas.openxmlformats.org/drawingml/2006/main">
              <a:ext uri="{FF2B5EF4-FFF2-40B4-BE49-F238E27FC236}">
                <a16:creationId xmlns:a16="http://schemas.microsoft.com/office/drawing/2014/main" id="{F75886A5-2244-4FF0-93DF-A444DDEB3058}"/>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Prueba local con cámara simulada. El celular se comprobó con emulación del navegador.</a:t>
            </a:r>
          </a:p>
        </p:txBody>
      </p:sp>
      <p:sp>
        <p:nvSpPr>
          <p:cNvPr id="4" name="slide-3-text-3">
            <a:extLst xmlns:a="http://schemas.openxmlformats.org/drawingml/2006/main">
              <a:ext uri="{FF2B5EF4-FFF2-40B4-BE49-F238E27FC236}">
                <a16:creationId xmlns:a16="http://schemas.microsoft.com/office/drawing/2014/main" id="{577F9FBB-BA67-48E5-84E5-7C74F6EAAFF0}"/>
              </a:ext>
            </a:extLst>
          </p:cNvPr>
          <p:cNvSpPr>
            <a:spLocks xmlns:a="http://schemas.openxmlformats.org/drawingml/2006/main" noGrp="1"/>
          </p:cNvSpPr>
          <p:nvPr/>
        </p:nvSpPr>
        <p:spPr>
          <a:xfrm xmlns:a="http://schemas.openxmlformats.org/drawingml/2006/main">
            <a:off x="762000" y="1219200"/>
            <a:ext cx="552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PC · 4:3</a:t>
            </a:r>
          </a:p>
        </p:txBody>
      </p:sp>
      <p:sp>
        <p:nvSpPr>
          <p:cNvPr id="5" name="slide-3-text-4">
            <a:extLst xmlns:a="http://schemas.openxmlformats.org/drawingml/2006/main">
              <a:ext uri="{FF2B5EF4-FFF2-40B4-BE49-F238E27FC236}">
                <a16:creationId xmlns:a16="http://schemas.microsoft.com/office/drawing/2014/main" id="{6E3B46A9-F07A-40D7-825F-DB086D81401F}"/>
              </a:ext>
            </a:extLst>
          </p:cNvPr>
          <p:cNvSpPr>
            <a:spLocks xmlns:a="http://schemas.openxmlformats.org/drawingml/2006/main" noGrp="1"/>
          </p:cNvSpPr>
          <p:nvPr/>
        </p:nvSpPr>
        <p:spPr>
          <a:xfrm xmlns:a="http://schemas.openxmlformats.org/drawingml/2006/main">
            <a:off x="7658100" y="1219200"/>
            <a:ext cx="3905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Celular · 9:16</a:t>
            </a:r>
          </a:p>
        </p:txBody>
      </p:sp>
      <p:pic>
        <p:nvPicPr>
          <p:cNvPr id="6" name="">
            <a:extLst xmlns:a="http://schemas.openxmlformats.org/drawingml/2006/main">
              <a:ext uri="{FF2B5EF4-FFF2-40B4-BE49-F238E27FC236}">
                <a16:creationId xmlns:a16="http://schemas.microsoft.com/office/drawing/2014/main" id="{0F28A059-4974-48C5-BA3D-BA11857A7481}"/>
              </a:ext>
            </a:extLst>
          </p:cNvPr>
          <p:cNvPicPr>
            <a:picLocks xmlns:a="http://schemas.openxmlformats.org/drawingml/2006/main" noChangeAspect="1"/>
          </p:cNvPicPr>
          <p:nvPr/>
        </p:nvPicPr>
        <p:blipFill>
          <a:blip xmlns:r="http://schemas.openxmlformats.org/officeDocument/2006/relationships" xmlns:a="http://schemas.openxmlformats.org/drawingml/2006/main" r:embed="R37788caf5ca1487e"/>
          <a:stretch xmlns:a="http://schemas.openxmlformats.org/drawingml/2006/main"/>
        </p:blipFill>
        <p:spPr>
          <a:xfrm xmlns:a="http://schemas.openxmlformats.org/drawingml/2006/main">
            <a:off x="1466573" y="1695450"/>
            <a:ext cx="4391578" cy="338137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01397110-F333-4F55-9A5A-049A5FC84475}"/>
              </a:ext>
            </a:extLst>
          </p:cNvPr>
          <p:cNvPicPr>
            <a:picLocks xmlns:a="http://schemas.openxmlformats.org/drawingml/2006/main" noChangeAspect="1"/>
          </p:cNvPicPr>
          <p:nvPr/>
        </p:nvPicPr>
        <p:blipFill>
          <a:blip xmlns:r="http://schemas.openxmlformats.org/officeDocument/2006/relationships" xmlns:a="http://schemas.openxmlformats.org/drawingml/2006/main" r:embed="Rfd14c69b27294651"/>
          <a:stretch xmlns:a="http://schemas.openxmlformats.org/drawingml/2006/main"/>
        </p:blipFill>
        <p:spPr>
          <a:xfrm xmlns:a="http://schemas.openxmlformats.org/drawingml/2006/main">
            <a:off x="8497677" y="1695450"/>
            <a:ext cx="2007021" cy="4343400"/>
          </a:xfrm>
          <a:prstGeom xmlns:a="http://schemas.openxmlformats.org/drawingml/2006/main" prst="rect">
            <a:avLst/>
          </a:prstGeom>
        </p:spPr>
      </p:pic>
      <p:sp>
        <p:nvSpPr>
          <p:cNvPr id="8" name="slide-3-text-5">
            <a:extLst xmlns:a="http://schemas.openxmlformats.org/drawingml/2006/main">
              <a:ext uri="{FF2B5EF4-FFF2-40B4-BE49-F238E27FC236}">
                <a16:creationId xmlns:a16="http://schemas.microsoft.com/office/drawing/2014/main" id="{B30C21D4-02EC-432A-8DF1-174327097B6D}"/>
              </a:ext>
            </a:extLst>
          </p:cNvPr>
          <p:cNvSpPr>
            <a:spLocks xmlns:a="http://schemas.openxmlformats.org/drawingml/2006/main" noGrp="1"/>
          </p:cNvSpPr>
          <p:nvPr/>
        </p:nvSpPr>
        <p:spPr>
          <a:xfrm xmlns:a="http://schemas.openxmlformats.org/drawingml/2006/main">
            <a:off x="762000" y="5257800"/>
            <a:ext cx="6334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Formato según el dispositivo. Se corrigieron fallos de inicio y se añadió Reiniciar cámara para recuperar la conexión.</a:t>
            </a:r>
          </a:p>
        </p:txBody>
      </p:sp>
    </p:spTree>
    <p:extLst>
      <p:ext uri="{BB962C8B-B14F-4D97-AF65-F5344CB8AC3E}">
        <p14:creationId xmlns:p14="http://schemas.microsoft.com/office/powerpoint/2010/main" val="1179635811"/>
      </p:ext>
    </p:extLst>
  </p:cSld>
</p:sld>
</file>

<file path=ppt/slides/slide4.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4-text-0">
            <a:extLst xmlns:a="http://schemas.openxmlformats.org/drawingml/2006/main">
              <a:ext uri="{FF2B5EF4-FFF2-40B4-BE49-F238E27FC236}">
                <a16:creationId xmlns:a16="http://schemas.microsoft.com/office/drawing/2014/main" id="{9D3B8700-E293-44BC-A89B-F9B041EFD2DA}"/>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Grabación con una o dos manos</a:t>
            </a:r>
          </a:p>
        </p:txBody>
      </p:sp>
      <p:sp>
        <p:nvSpPr>
          <p:cNvPr id="2" name="slide-4-text-1">
            <a:extLst xmlns:a="http://schemas.openxmlformats.org/drawingml/2006/main">
              <a:ext uri="{FF2B5EF4-FFF2-40B4-BE49-F238E27FC236}">
                <a16:creationId xmlns:a16="http://schemas.microsoft.com/office/drawing/2014/main" id="{D5805AD5-FF6A-4048-AB32-91A21A21CCDF}"/>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04</a:t>
            </a:r>
          </a:p>
        </p:txBody>
      </p:sp>
      <p:sp>
        <p:nvSpPr>
          <p:cNvPr id="3" name="slide-4-text-2">
            <a:extLst xmlns:a="http://schemas.openxmlformats.org/drawingml/2006/main">
              <a:ext uri="{FF2B5EF4-FFF2-40B4-BE49-F238E27FC236}">
                <a16:creationId xmlns:a16="http://schemas.microsoft.com/office/drawing/2014/main" id="{F0CEB762-22DC-4E9F-887F-7EAE5EDC21E2}"/>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real del flujo de preparación. Confirmar ambas manos una vez permite grabar después con una.</a:t>
            </a:r>
          </a:p>
        </p:txBody>
      </p:sp>
      <p:sp>
        <p:nvSpPr>
          <p:cNvPr id="4" name="slide-4-text-3">
            <a:extLst xmlns:a="http://schemas.openxmlformats.org/drawingml/2006/main">
              <a:ext uri="{FF2B5EF4-FFF2-40B4-BE49-F238E27FC236}">
                <a16:creationId xmlns:a16="http://schemas.microsoft.com/office/drawing/2014/main" id="{7D0E8C6B-1ACE-4D45-A390-90292A9D4ED5}"/>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Preparar y colocarse</a:t>
            </a:r>
          </a:p>
        </p:txBody>
      </p:sp>
      <p:sp>
        <p:nvSpPr>
          <p:cNvPr id="5" name="slide-4-text-4">
            <a:extLst xmlns:a="http://schemas.openxmlformats.org/drawingml/2006/main">
              <a:ext uri="{FF2B5EF4-FFF2-40B4-BE49-F238E27FC236}">
                <a16:creationId xmlns:a16="http://schemas.microsoft.com/office/drawing/2014/main" id="{55789368-37B7-49BB-A708-C4866A665456}"/>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Pulsas el botón primero. La confirmación de ambas manos inicia la cuenta atrás.</a:t>
            </a:r>
          </a:p>
        </p:txBody>
      </p:sp>
      <p:sp>
        <p:nvSpPr>
          <p:cNvPr id="6" name="slide-4-text-5">
            <a:extLst xmlns:a="http://schemas.openxmlformats.org/drawingml/2006/main">
              <a:ext uri="{FF2B5EF4-FFF2-40B4-BE49-F238E27FC236}">
                <a16:creationId xmlns:a16="http://schemas.microsoft.com/office/drawing/2014/main" id="{903086E9-5DB1-4832-80EE-F4F79C078816}"/>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Una mano también sirve</a:t>
            </a:r>
          </a:p>
        </p:txBody>
      </p:sp>
      <p:sp>
        <p:nvSpPr>
          <p:cNvPr id="7" name="slide-4-text-6">
            <a:extLst xmlns:a="http://schemas.openxmlformats.org/drawingml/2006/main">
              <a:ext uri="{FF2B5EF4-FFF2-40B4-BE49-F238E27FC236}">
                <a16:creationId xmlns:a16="http://schemas.microsoft.com/office/drawing/2014/main" id="{50EC00DF-B80E-4EE4-899C-66501C8985E1}"/>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Después puedes hacer la seña con una o dos manos trazadas. Se puede cancelar.</a:t>
            </a:r>
          </a:p>
        </p:txBody>
      </p:sp>
      <p:sp>
        <p:nvSpPr>
          <p:cNvPr id="8" name="slide-4-text-7">
            <a:extLst xmlns:a="http://schemas.openxmlformats.org/drawingml/2006/main">
              <a:ext uri="{FF2B5EF4-FFF2-40B4-BE49-F238E27FC236}">
                <a16:creationId xmlns:a16="http://schemas.microsoft.com/office/drawing/2014/main" id="{4CD7F38C-A25B-48BE-BCB4-FB4A997F5636}"/>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Ayuda contextual</a:t>
            </a:r>
          </a:p>
        </p:txBody>
      </p:sp>
      <p:sp>
        <p:nvSpPr>
          <p:cNvPr id="9" name="slide-4-text-8">
            <a:extLst xmlns:a="http://schemas.openxmlformats.org/drawingml/2006/main">
              <a:ext uri="{FF2B5EF4-FFF2-40B4-BE49-F238E27FC236}">
                <a16:creationId xmlns:a16="http://schemas.microsoft.com/office/drawing/2014/main" id="{CE862EAF-9534-46F9-97BE-FEC6D5B392A3}"/>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Los mensajes sugieren separar las manos, mejorar la luz y volver a mostrarlas.</a:t>
            </a:r>
          </a:p>
        </p:txBody>
      </p:sp>
      <p:pic>
        <p:nvPicPr>
          <p:cNvPr id="10" name="">
            <a:extLst xmlns:a="http://schemas.openxmlformats.org/drawingml/2006/main">
              <a:ext uri="{FF2B5EF4-FFF2-40B4-BE49-F238E27FC236}">
                <a16:creationId xmlns:a16="http://schemas.microsoft.com/office/drawing/2014/main" id="{56ECE117-2F17-47C3-8825-9EC17F76302A}"/>
              </a:ext>
            </a:extLst>
          </p:cNvPr>
          <p:cNvPicPr>
            <a:picLocks xmlns:a="http://schemas.openxmlformats.org/drawingml/2006/main" noChangeAspect="1"/>
          </p:cNvPicPr>
          <p:nvPr/>
        </p:nvPicPr>
        <p:blipFill>
          <a:blip xmlns:r="http://schemas.openxmlformats.org/officeDocument/2006/relationships" xmlns:a="http://schemas.openxmlformats.org/drawingml/2006/main" r:embed="R4bf5eb4c52be42d1"/>
          <a:stretch xmlns:a="http://schemas.openxmlformats.org/drawingml/2006/main"/>
        </p:blipFill>
        <p:spPr>
          <a:xfrm xmlns:a="http://schemas.openxmlformats.org/drawingml/2006/main">
            <a:off x="5939349" y="1266825"/>
            <a:ext cx="4418577" cy="4876800"/>
          </a:xfrm>
          <a:prstGeom xmlns:a="http://schemas.openxmlformats.org/drawingml/2006/main" prst="rect">
            <a:avLst/>
          </a:prstGeom>
        </p:spPr>
      </p:pic>
    </p:spTree>
    <p:extLst>
      <p:ext uri="{BB962C8B-B14F-4D97-AF65-F5344CB8AC3E}">
        <p14:creationId xmlns:p14="http://schemas.microsoft.com/office/powerpoint/2010/main" val="690584557"/>
      </p:ext>
    </p:extLst>
  </p:cSld>
</p:sld>
</file>

<file path=ppt/slides/slide5.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5-text-0">
            <a:extLst xmlns:a="http://schemas.openxmlformats.org/drawingml/2006/main">
              <a:ext uri="{FF2B5EF4-FFF2-40B4-BE49-F238E27FC236}">
                <a16:creationId xmlns:a16="http://schemas.microsoft.com/office/drawing/2014/main" id="{7195CB6F-F004-4E1F-84BE-53F5DEB0EC1A}"/>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Filtro del dedo medio levantado</a:t>
            </a:r>
          </a:p>
        </p:txBody>
      </p:sp>
      <p:sp>
        <p:nvSpPr>
          <p:cNvPr id="2" name="slide-5-text-1">
            <a:extLst xmlns:a="http://schemas.openxmlformats.org/drawingml/2006/main">
              <a:ext uri="{FF2B5EF4-FFF2-40B4-BE49-F238E27FC236}">
                <a16:creationId xmlns:a16="http://schemas.microsoft.com/office/drawing/2014/main" id="{CB82EBB6-5ADB-4CA2-8F67-5EEEE9F6954C}"/>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05</a:t>
            </a:r>
          </a:p>
        </p:txBody>
      </p:sp>
      <p:sp>
        <p:nvSpPr>
          <p:cNvPr id="3" name="slide-5-text-2">
            <a:extLst xmlns:a="http://schemas.openxmlformats.org/drawingml/2006/main">
              <a:ext uri="{FF2B5EF4-FFF2-40B4-BE49-F238E27FC236}">
                <a16:creationId xmlns:a16="http://schemas.microsoft.com/office/drawing/2014/main" id="{E15B22CD-FB2D-482B-96DA-19DE7DEA7C06}"/>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de la interfaz durante una prueba controlada del filtro</a:t>
            </a:r>
          </a:p>
        </p:txBody>
      </p:sp>
      <p:sp>
        <p:nvSpPr>
          <p:cNvPr id="4" name="slide-5-text-3">
            <a:extLst xmlns:a="http://schemas.openxmlformats.org/drawingml/2006/main">
              <a:ext uri="{FF2B5EF4-FFF2-40B4-BE49-F238E27FC236}">
                <a16:creationId xmlns:a16="http://schemas.microsoft.com/office/drawing/2014/main" id="{959580BD-FF37-4970-A5AA-569F03B1BADD}"/>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Aviso sobre el gesto</a:t>
            </a:r>
          </a:p>
        </p:txBody>
      </p:sp>
      <p:sp>
        <p:nvSpPr>
          <p:cNvPr id="5" name="slide-5-text-4">
            <a:extLst xmlns:a="http://schemas.openxmlformats.org/drawingml/2006/main">
              <a:ext uri="{FF2B5EF4-FFF2-40B4-BE49-F238E27FC236}">
                <a16:creationId xmlns:a16="http://schemas.microsoft.com/office/drawing/2014/main" id="{798C537F-7615-4B65-9C36-4BDD6D743C2A}"/>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pantalla muestra el motivo cuando detecta el dedo medio levantado.</a:t>
            </a:r>
          </a:p>
        </p:txBody>
      </p:sp>
      <p:sp>
        <p:nvSpPr>
          <p:cNvPr id="6" name="slide-5-text-5">
            <a:extLst xmlns:a="http://schemas.openxmlformats.org/drawingml/2006/main">
              <a:ext uri="{FF2B5EF4-FFF2-40B4-BE49-F238E27FC236}">
                <a16:creationId xmlns:a16="http://schemas.microsoft.com/office/drawing/2014/main" id="{16BF2AD0-60FF-420D-BA18-0C77724C8809}"/>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Grabación bloqueada</a:t>
            </a:r>
          </a:p>
        </p:txBody>
      </p:sp>
      <p:sp>
        <p:nvSpPr>
          <p:cNvPr id="7" name="slide-5-text-6">
            <a:extLst xmlns:a="http://schemas.openxmlformats.org/drawingml/2006/main">
              <a:ext uri="{FF2B5EF4-FFF2-40B4-BE49-F238E27FC236}">
                <a16:creationId xmlns:a16="http://schemas.microsoft.com/office/drawing/2014/main" id="{9BE205B9-57B0-456D-82BF-07B9034A3381}"/>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filtro impide preparar o completar una toma que contiene ese gesto.</a:t>
            </a:r>
          </a:p>
        </p:txBody>
      </p:sp>
      <p:sp>
        <p:nvSpPr>
          <p:cNvPr id="8" name="slide-5-text-7">
            <a:extLst xmlns:a="http://schemas.openxmlformats.org/drawingml/2006/main">
              <a:ext uri="{FF2B5EF4-FFF2-40B4-BE49-F238E27FC236}">
                <a16:creationId xmlns:a16="http://schemas.microsoft.com/office/drawing/2014/main" id="{01DA944F-56EE-4D6C-9F30-E3D8EDCB2DD8}"/>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Alcance definido</a:t>
            </a:r>
          </a:p>
        </p:txBody>
      </p:sp>
      <p:sp>
        <p:nvSpPr>
          <p:cNvPr id="9" name="slide-5-text-8">
            <a:extLst xmlns:a="http://schemas.openxmlformats.org/drawingml/2006/main">
              <a:ext uri="{FF2B5EF4-FFF2-40B4-BE49-F238E27FC236}">
                <a16:creationId xmlns:a16="http://schemas.microsoft.com/office/drawing/2014/main" id="{35DCEA39-250D-4F82-8C48-5467C228629F}"/>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Otros gestos requieren ejemplos y revisión para proteger las señas válidas.</a:t>
            </a:r>
          </a:p>
        </p:txBody>
      </p:sp>
      <p:pic>
        <p:nvPicPr>
          <p:cNvPr id="10" name="">
            <a:extLst xmlns:a="http://schemas.openxmlformats.org/drawingml/2006/main">
              <a:ext uri="{FF2B5EF4-FFF2-40B4-BE49-F238E27FC236}">
                <a16:creationId xmlns:a16="http://schemas.microsoft.com/office/drawing/2014/main" id="{EF1BCD90-1509-48F0-ACF4-7D17E4F984E8}"/>
              </a:ext>
            </a:extLst>
          </p:cNvPr>
          <p:cNvPicPr>
            <a:picLocks xmlns:a="http://schemas.openxmlformats.org/drawingml/2006/main" noChangeAspect="1"/>
          </p:cNvPicPr>
          <p:nvPr/>
        </p:nvPicPr>
        <p:blipFill>
          <a:blip xmlns:r="http://schemas.openxmlformats.org/officeDocument/2006/relationships" xmlns:a="http://schemas.openxmlformats.org/drawingml/2006/main" r:embed="Rfe763209350e491c"/>
          <a:stretch xmlns:a="http://schemas.openxmlformats.org/drawingml/2006/main"/>
        </p:blipFill>
        <p:spPr>
          <a:xfrm xmlns:a="http://schemas.openxmlformats.org/drawingml/2006/main">
            <a:off x="4714875" y="1451126"/>
            <a:ext cx="6867525" cy="4508198"/>
          </a:xfrm>
          <a:prstGeom xmlns:a="http://schemas.openxmlformats.org/drawingml/2006/main" prst="rect">
            <a:avLst/>
          </a:prstGeom>
        </p:spPr>
      </p:pic>
    </p:spTree>
    <p:extLst>
      <p:ext uri="{BB962C8B-B14F-4D97-AF65-F5344CB8AC3E}">
        <p14:creationId xmlns:p14="http://schemas.microsoft.com/office/powerpoint/2010/main" val="231848133"/>
      </p:ext>
    </p:extLst>
  </p:cSld>
</p:sld>
</file>

<file path=ppt/slides/slide6.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6-text-0">
            <a:extLst xmlns:a="http://schemas.openxmlformats.org/drawingml/2006/main">
              <a:ext uri="{FF2B5EF4-FFF2-40B4-BE49-F238E27FC236}">
                <a16:creationId xmlns:a16="http://schemas.microsoft.com/office/drawing/2014/main" id="{D58A8465-D45A-4F13-9097-593C0BDF033D}"/>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Revisión, guardado y envío de la toma</a:t>
            </a:r>
          </a:p>
        </p:txBody>
      </p:sp>
      <p:sp>
        <p:nvSpPr>
          <p:cNvPr id="2" name="slide-6-text-1">
            <a:extLst xmlns:a="http://schemas.openxmlformats.org/drawingml/2006/main">
              <a:ext uri="{FF2B5EF4-FFF2-40B4-BE49-F238E27FC236}">
                <a16:creationId xmlns:a16="http://schemas.microsoft.com/office/drawing/2014/main" id="{6BCD01A9-2336-4DC9-9F0D-08933CFC7C60}"/>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06</a:t>
            </a:r>
          </a:p>
        </p:txBody>
      </p:sp>
      <p:sp>
        <p:nvSpPr>
          <p:cNvPr id="3" name="slide-6-text-2">
            <a:extLst xmlns:a="http://schemas.openxmlformats.org/drawingml/2006/main">
              <a:ext uri="{FF2B5EF4-FFF2-40B4-BE49-F238E27FC236}">
                <a16:creationId xmlns:a16="http://schemas.microsoft.com/office/drawing/2014/main" id="{22A4CA8F-AC6C-4566-B9D4-5AEE0E4935EA}"/>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de la interfaz real con una toma y un fallo de conexión simulados para comprobar el flujo</a:t>
            </a:r>
          </a:p>
        </p:txBody>
      </p:sp>
      <p:sp>
        <p:nvSpPr>
          <p:cNvPr id="4" name="slide-6-text-3">
            <a:extLst xmlns:a="http://schemas.openxmlformats.org/drawingml/2006/main">
              <a:ext uri="{FF2B5EF4-FFF2-40B4-BE49-F238E27FC236}">
                <a16:creationId xmlns:a16="http://schemas.microsoft.com/office/drawing/2014/main" id="{3E60B600-8F4C-475C-A30A-E7DB33C5489E}"/>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Revisar antes de enviar</a:t>
            </a:r>
          </a:p>
        </p:txBody>
      </p:sp>
      <p:sp>
        <p:nvSpPr>
          <p:cNvPr id="5" name="slide-6-text-4">
            <a:extLst xmlns:a="http://schemas.openxmlformats.org/drawingml/2006/main">
              <a:ext uri="{FF2B5EF4-FFF2-40B4-BE49-F238E27FC236}">
                <a16:creationId xmlns:a16="http://schemas.microsoft.com/office/drawing/2014/main" id="{E7B048B8-0C41-4CC6-BC98-DB40BF1FDA2A}"/>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Puedes reproducir, pausar o repetir la secuencia. El envío comienza al elegirlo.</a:t>
            </a:r>
          </a:p>
        </p:txBody>
      </p:sp>
      <p:sp>
        <p:nvSpPr>
          <p:cNvPr id="6" name="slide-6-text-5">
            <a:extLst xmlns:a="http://schemas.openxmlformats.org/drawingml/2006/main">
              <a:ext uri="{FF2B5EF4-FFF2-40B4-BE49-F238E27FC236}">
                <a16:creationId xmlns:a16="http://schemas.microsoft.com/office/drawing/2014/main" id="{4E88639F-045B-40AB-B8EF-F6C923F454CF}"/>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Guardar para después</a:t>
            </a:r>
          </a:p>
        </p:txBody>
      </p:sp>
      <p:sp>
        <p:nvSpPr>
          <p:cNvPr id="7" name="slide-6-text-6">
            <a:extLst xmlns:a="http://schemas.openxmlformats.org/drawingml/2006/main">
              <a:ext uri="{FF2B5EF4-FFF2-40B4-BE49-F238E27FC236}">
                <a16:creationId xmlns:a16="http://schemas.microsoft.com/office/drawing/2014/main" id="{0A5A4B51-93AB-4761-BF21-5CA5C9825064}"/>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toma pendiente se recupera al volver a abrir la misma web en ese navegador.</a:t>
            </a:r>
          </a:p>
        </p:txBody>
      </p:sp>
      <p:sp>
        <p:nvSpPr>
          <p:cNvPr id="8" name="slide-6-text-7">
            <a:extLst xmlns:a="http://schemas.openxmlformats.org/drawingml/2006/main">
              <a:ext uri="{FF2B5EF4-FFF2-40B4-BE49-F238E27FC236}">
                <a16:creationId xmlns:a16="http://schemas.microsoft.com/office/drawing/2014/main" id="{2FCA925B-17EF-4DB0-B099-FD3E2D0F6968}"/>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Reintentos sin duplicar</a:t>
            </a:r>
          </a:p>
        </p:txBody>
      </p:sp>
      <p:sp>
        <p:nvSpPr>
          <p:cNvPr id="9" name="slide-6-text-8">
            <a:extLst xmlns:a="http://schemas.openxmlformats.org/drawingml/2006/main">
              <a:ext uri="{FF2B5EF4-FFF2-40B4-BE49-F238E27FC236}">
                <a16:creationId xmlns:a16="http://schemas.microsoft.com/office/drawing/2014/main" id="{66E2AF7D-98C4-48CD-A3B0-8D30A271FC44}"/>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Si falla la conexión, la toma se conserva y la subida comprueba los pasos previos.</a:t>
            </a:r>
          </a:p>
        </p:txBody>
      </p:sp>
      <p:pic>
        <p:nvPicPr>
          <p:cNvPr id="10" name="">
            <a:extLst xmlns:a="http://schemas.openxmlformats.org/drawingml/2006/main">
              <a:ext uri="{FF2B5EF4-FFF2-40B4-BE49-F238E27FC236}">
                <a16:creationId xmlns:a16="http://schemas.microsoft.com/office/drawing/2014/main" id="{E762D9FB-D097-4E2D-8F8E-5E6BB89CD8E3}"/>
              </a:ext>
            </a:extLst>
          </p:cNvPr>
          <p:cNvPicPr>
            <a:picLocks xmlns:a="http://schemas.openxmlformats.org/drawingml/2006/main" noChangeAspect="1"/>
          </p:cNvPicPr>
          <p:nvPr/>
        </p:nvPicPr>
        <p:blipFill>
          <a:blip xmlns:r="http://schemas.openxmlformats.org/officeDocument/2006/relationships" xmlns:a="http://schemas.openxmlformats.org/drawingml/2006/main" r:embed="Rfb7df9cd457b43ea"/>
          <a:stretch xmlns:a="http://schemas.openxmlformats.org/drawingml/2006/main"/>
        </p:blipFill>
        <p:spPr>
          <a:xfrm xmlns:a="http://schemas.openxmlformats.org/drawingml/2006/main">
            <a:off x="6012912" y="1266825"/>
            <a:ext cx="4271451" cy="4876800"/>
          </a:xfrm>
          <a:prstGeom xmlns:a="http://schemas.openxmlformats.org/drawingml/2006/main" prst="rect">
            <a:avLst/>
          </a:prstGeom>
        </p:spPr>
      </p:pic>
    </p:spTree>
    <p:extLst>
      <p:ext uri="{BB962C8B-B14F-4D97-AF65-F5344CB8AC3E}">
        <p14:creationId xmlns:p14="http://schemas.microsoft.com/office/powerpoint/2010/main" val="296156010"/>
      </p:ext>
    </p:extLst>
  </p:cSld>
</p:sld>
</file>

<file path=ppt/slides/slide7.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2" name="slide-7-text-0">
            <a:extLst xmlns:a="http://schemas.openxmlformats.org/drawingml/2006/main">
              <a:ext uri="{FF2B5EF4-FFF2-40B4-BE49-F238E27FC236}">
                <a16:creationId xmlns:a16="http://schemas.microsoft.com/office/drawing/2014/main" id="{88DCDB7F-C726-4A16-A246-5907AD8FA122}"/>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Interfaz pública y administrador privado</a:t>
            </a:r>
          </a:p>
        </p:txBody>
      </p:sp>
      <p:sp>
        <p:nvSpPr>
          <p:cNvPr id="2" name="slide-7-text-1">
            <a:extLst xmlns:a="http://schemas.openxmlformats.org/drawingml/2006/main">
              <a:ext uri="{FF2B5EF4-FFF2-40B4-BE49-F238E27FC236}">
                <a16:creationId xmlns:a16="http://schemas.microsoft.com/office/drawing/2014/main" id="{5FBA0904-AD6D-48F3-9DCC-4AA3A81C14CE}"/>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07</a:t>
            </a:r>
          </a:p>
        </p:txBody>
      </p:sp>
      <p:sp>
        <p:nvSpPr>
          <p:cNvPr id="3" name="slide-7-text-2">
            <a:extLst xmlns:a="http://schemas.openxmlformats.org/drawingml/2006/main">
              <a:ext uri="{FF2B5EF4-FFF2-40B4-BE49-F238E27FC236}">
                <a16:creationId xmlns:a16="http://schemas.microsoft.com/office/drawing/2014/main" id="{4DEFA53F-16C6-4EF1-B3F1-9F799BFCC6E3}"/>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Capturas actuales del acceso privado y los controles de grabación sin selector de personas</a:t>
            </a:r>
          </a:p>
        </p:txBody>
      </p:sp>
      <p:sp>
        <p:nvSpPr>
          <p:cNvPr id="4" name="slide-7-text-3">
            <a:extLst xmlns:a="http://schemas.openxmlformats.org/drawingml/2006/main">
              <a:ext uri="{FF2B5EF4-FFF2-40B4-BE49-F238E27FC236}">
                <a16:creationId xmlns:a16="http://schemas.microsoft.com/office/drawing/2014/main" id="{ED7377B8-00D6-4F2D-824F-809C8B4E91B8}"/>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Menos pasos al participar</a:t>
            </a:r>
          </a:p>
        </p:txBody>
      </p:sp>
      <p:sp>
        <p:nvSpPr>
          <p:cNvPr id="5" name="slide-7-text-4">
            <a:extLst xmlns:a="http://schemas.openxmlformats.org/drawingml/2006/main">
              <a:ext uri="{FF2B5EF4-FFF2-40B4-BE49-F238E27FC236}">
                <a16:creationId xmlns:a16="http://schemas.microsoft.com/office/drawing/2014/main" id="{7A55C81B-FEBC-4695-A304-15A2B5FA4561}"/>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Se retiraron Persona 1 o 2 y el visualizador técnico del menú público.</a:t>
            </a:r>
          </a:p>
        </p:txBody>
      </p:sp>
      <p:sp>
        <p:nvSpPr>
          <p:cNvPr id="6" name="slide-7-text-5">
            <a:extLst xmlns:a="http://schemas.openxmlformats.org/drawingml/2006/main">
              <a:ext uri="{FF2B5EF4-FFF2-40B4-BE49-F238E27FC236}">
                <a16:creationId xmlns:a16="http://schemas.microsoft.com/office/drawing/2014/main" id="{A2FE5A37-9B5C-47C1-B79A-93268009CDD0}"/>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Cinco pulsaciones al logo</a:t>
            </a:r>
          </a:p>
        </p:txBody>
      </p:sp>
      <p:sp>
        <p:nvSpPr>
          <p:cNvPr id="7" name="slide-7-text-6">
            <a:extLst xmlns:a="http://schemas.openxmlformats.org/drawingml/2006/main">
              <a:ext uri="{FF2B5EF4-FFF2-40B4-BE49-F238E27FC236}">
                <a16:creationId xmlns:a16="http://schemas.microsoft.com/office/drawing/2014/main" id="{43D22FA7-AA3A-4E10-8BB8-07847CD80AC6}"/>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administrador se abre con contraseña validada en el servidor.</a:t>
            </a:r>
          </a:p>
        </p:txBody>
      </p:sp>
      <p:sp>
        <p:nvSpPr>
          <p:cNvPr id="8" name="slide-7-text-7">
            <a:extLst xmlns:a="http://schemas.openxmlformats.org/drawingml/2006/main">
              <a:ext uri="{FF2B5EF4-FFF2-40B4-BE49-F238E27FC236}">
                <a16:creationId xmlns:a16="http://schemas.microsoft.com/office/drawing/2014/main" id="{52E043A5-9E09-46B6-AB6C-443676A3C81E}"/>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Pruebas en el panel privado</a:t>
            </a:r>
          </a:p>
        </p:txBody>
      </p:sp>
      <p:sp>
        <p:nvSpPr>
          <p:cNvPr id="9" name="slide-7-text-8">
            <a:extLst xmlns:a="http://schemas.openxmlformats.org/drawingml/2006/main">
              <a:ext uri="{FF2B5EF4-FFF2-40B4-BE49-F238E27FC236}">
                <a16:creationId xmlns:a16="http://schemas.microsoft.com/office/drawing/2014/main" id="{26FCEDF8-0EC5-4537-B974-E53C72CE7753}"/>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Material, diagnóstico y entrenamiento se concentran en administración.</a:t>
            </a:r>
          </a:p>
        </p:txBody>
      </p:sp>
      <p:pic>
        <p:nvPicPr>
          <p:cNvPr id="10" name="">
            <a:extLst xmlns:a="http://schemas.openxmlformats.org/drawingml/2006/main">
              <a:ext uri="{FF2B5EF4-FFF2-40B4-BE49-F238E27FC236}">
                <a16:creationId xmlns:a16="http://schemas.microsoft.com/office/drawing/2014/main" id="{758E4AC3-9A3B-44DA-AE79-2BD0E8BB3524}"/>
              </a:ext>
            </a:extLst>
          </p:cNvPr>
          <p:cNvPicPr>
            <a:picLocks xmlns:a="http://schemas.openxmlformats.org/drawingml/2006/main" noChangeAspect="1"/>
          </p:cNvPicPr>
          <p:nvPr/>
        </p:nvPicPr>
        <p:blipFill>
          <a:blip xmlns:r="http://schemas.openxmlformats.org/officeDocument/2006/relationships" xmlns:a="http://schemas.openxmlformats.org/drawingml/2006/main" r:embed="R5938b7dee109428f"/>
          <a:stretch xmlns:a="http://schemas.openxmlformats.org/drawingml/2006/main"/>
        </p:blipFill>
        <p:spPr>
          <a:xfrm xmlns:a="http://schemas.openxmlformats.org/drawingml/2006/main">
            <a:off x="4736680" y="1295400"/>
            <a:ext cx="6823915" cy="22574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D629C9D0-4BA6-4DED-8224-EE9E9E472A5F}"/>
              </a:ext>
            </a:extLst>
          </p:cNvPr>
          <p:cNvPicPr>
            <a:picLocks xmlns:a="http://schemas.openxmlformats.org/drawingml/2006/main" noChangeAspect="1"/>
          </p:cNvPicPr>
          <p:nvPr/>
        </p:nvPicPr>
        <p:blipFill>
          <a:blip xmlns:r="http://schemas.openxmlformats.org/officeDocument/2006/relationships" xmlns:a="http://schemas.openxmlformats.org/drawingml/2006/main" r:embed="R99d3c3b9d2554dad"/>
          <a:stretch xmlns:a="http://schemas.openxmlformats.org/drawingml/2006/main"/>
        </p:blipFill>
        <p:spPr>
          <a:xfrm xmlns:a="http://schemas.openxmlformats.org/drawingml/2006/main">
            <a:off x="5871492" y="3714750"/>
            <a:ext cx="4554292" cy="2343150"/>
          </a:xfrm>
          <a:prstGeom xmlns:a="http://schemas.openxmlformats.org/drawingml/2006/main" prst="rect">
            <a:avLst/>
          </a:prstGeom>
        </p:spPr>
      </p:pic>
    </p:spTree>
    <p:extLst>
      <p:ext uri="{BB962C8B-B14F-4D97-AF65-F5344CB8AC3E}">
        <p14:creationId xmlns:p14="http://schemas.microsoft.com/office/powerpoint/2010/main" val="117012533"/>
      </p:ext>
    </p:extLst>
  </p:cSld>
</p:sld>
</file>

<file path=ppt/slides/slide8.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2" name="slide-8-text-0">
            <a:extLst xmlns:a="http://schemas.openxmlformats.org/drawingml/2006/main">
              <a:ext uri="{FF2B5EF4-FFF2-40B4-BE49-F238E27FC236}">
                <a16:creationId xmlns:a16="http://schemas.microsoft.com/office/drawing/2014/main" id="{98E29B93-DAEC-479F-B582-0E68FA3F80A4}"/>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Moderación de todas las grabaciones</a:t>
            </a:r>
          </a:p>
        </p:txBody>
      </p:sp>
      <p:sp>
        <p:nvSpPr>
          <p:cNvPr id="2" name="slide-8-text-1">
            <a:extLst xmlns:a="http://schemas.openxmlformats.org/drawingml/2006/main">
              <a:ext uri="{FF2B5EF4-FFF2-40B4-BE49-F238E27FC236}">
                <a16:creationId xmlns:a16="http://schemas.microsoft.com/office/drawing/2014/main" id="{D483B5BF-721C-4187-9D8A-F0C3FEBF6B9E}"/>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08</a:t>
            </a:r>
          </a:p>
        </p:txBody>
      </p:sp>
      <p:sp>
        <p:nvSpPr>
          <p:cNvPr id="3" name="slide-8-text-2">
            <a:extLst xmlns:a="http://schemas.openxmlformats.org/drawingml/2006/main">
              <a:ext uri="{FF2B5EF4-FFF2-40B4-BE49-F238E27FC236}">
                <a16:creationId xmlns:a16="http://schemas.microsoft.com/office/drawing/2014/main" id="{37CCAFAF-D069-4FF9-A827-10AD9423DCE8}"/>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Capturas actuales del listado y de la revisión de una grabación real, sin cambiar sus decisiones</a:t>
            </a:r>
          </a:p>
        </p:txBody>
      </p:sp>
      <p:sp>
        <p:nvSpPr>
          <p:cNvPr id="4" name="slide-8-text-3">
            <a:extLst xmlns:a="http://schemas.openxmlformats.org/drawingml/2006/main">
              <a:ext uri="{FF2B5EF4-FFF2-40B4-BE49-F238E27FC236}">
                <a16:creationId xmlns:a16="http://schemas.microsoft.com/office/drawing/2014/main" id="{41780DBF-BD05-43D1-B310-B67508C9A1DB}"/>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Estados claros</a:t>
            </a:r>
          </a:p>
        </p:txBody>
      </p:sp>
      <p:sp>
        <p:nvSpPr>
          <p:cNvPr id="5" name="slide-8-text-4">
            <a:extLst xmlns:a="http://schemas.openxmlformats.org/drawingml/2006/main">
              <a:ext uri="{FF2B5EF4-FFF2-40B4-BE49-F238E27FC236}">
                <a16:creationId xmlns:a16="http://schemas.microsoft.com/office/drawing/2014/main" id="{DE9C85B1-89F6-4D7C-861C-C0884355FDC8}"/>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Cada toma queda pendiente, aprobada o rechazada según la revisión.</a:t>
            </a:r>
          </a:p>
        </p:txBody>
      </p:sp>
      <p:sp>
        <p:nvSpPr>
          <p:cNvPr id="6" name="slide-8-text-5">
            <a:extLst xmlns:a="http://schemas.openxmlformats.org/drawingml/2006/main">
              <a:ext uri="{FF2B5EF4-FFF2-40B4-BE49-F238E27FC236}">
                <a16:creationId xmlns:a16="http://schemas.microsoft.com/office/drawing/2014/main" id="{D6269D83-8CB5-4CA5-A3C2-B00FFF6AA5F3}"/>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Vista previa del original</a:t>
            </a:r>
          </a:p>
        </p:txBody>
      </p:sp>
      <p:sp>
        <p:nvSpPr>
          <p:cNvPr id="7" name="slide-8-text-6">
            <a:extLst xmlns:a="http://schemas.openxmlformats.org/drawingml/2006/main">
              <a:ext uri="{FF2B5EF4-FFF2-40B4-BE49-F238E27FC236}">
                <a16:creationId xmlns:a16="http://schemas.microsoft.com/office/drawing/2014/main" id="{3F24E027-C937-4401-B7D9-A5E170800FC1}"/>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administrador reproduce la secuencia antes de aprobarla o rechazarla.</a:t>
            </a:r>
          </a:p>
        </p:txBody>
      </p:sp>
      <p:sp>
        <p:nvSpPr>
          <p:cNvPr id="8" name="slide-8-text-7">
            <a:extLst xmlns:a="http://schemas.openxmlformats.org/drawingml/2006/main">
              <a:ext uri="{FF2B5EF4-FFF2-40B4-BE49-F238E27FC236}">
                <a16:creationId xmlns:a16="http://schemas.microsoft.com/office/drawing/2014/main" id="{93E6991A-CF5D-4BA2-9ADE-6A5FE4535234}"/>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Búsqueda y lotes</a:t>
            </a:r>
          </a:p>
        </p:txBody>
      </p:sp>
      <p:sp>
        <p:nvSpPr>
          <p:cNvPr id="9" name="slide-8-text-8">
            <a:extLst xmlns:a="http://schemas.openxmlformats.org/drawingml/2006/main">
              <a:ext uri="{FF2B5EF4-FFF2-40B4-BE49-F238E27FC236}">
                <a16:creationId xmlns:a16="http://schemas.microsoft.com/office/drawing/2014/main" id="{0CC8B554-4644-4647-A0DA-245C76DCBC80}"/>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Filtros por estado, búsqueda por categoría y decisiones para grupos.</a:t>
            </a:r>
          </a:p>
        </p:txBody>
      </p:sp>
      <p:pic>
        <p:nvPicPr>
          <p:cNvPr id="10" name="">
            <a:extLst xmlns:a="http://schemas.openxmlformats.org/drawingml/2006/main">
              <a:ext uri="{FF2B5EF4-FFF2-40B4-BE49-F238E27FC236}">
                <a16:creationId xmlns:a16="http://schemas.microsoft.com/office/drawing/2014/main" id="{947137F3-6FF9-4951-B211-D0B5DE352056}"/>
              </a:ext>
            </a:extLst>
          </p:cNvPr>
          <p:cNvPicPr>
            <a:picLocks xmlns:a="http://schemas.openxmlformats.org/drawingml/2006/main" noChangeAspect="1"/>
          </p:cNvPicPr>
          <p:nvPr/>
        </p:nvPicPr>
        <p:blipFill>
          <a:blip xmlns:r="http://schemas.openxmlformats.org/officeDocument/2006/relationships" xmlns:a="http://schemas.openxmlformats.org/drawingml/2006/main" r:embed="Rce0eb4a8155944c7"/>
          <a:stretch xmlns:a="http://schemas.openxmlformats.org/drawingml/2006/main"/>
        </p:blipFill>
        <p:spPr>
          <a:xfrm xmlns:a="http://schemas.openxmlformats.org/drawingml/2006/main">
            <a:off x="5809534" y="1295400"/>
            <a:ext cx="4678208" cy="22860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FFE27EB2-F196-41D3-975C-DACBD156158A}"/>
              </a:ext>
            </a:extLst>
          </p:cNvPr>
          <p:cNvPicPr>
            <a:picLocks xmlns:a="http://schemas.openxmlformats.org/drawingml/2006/main" noChangeAspect="1"/>
          </p:cNvPicPr>
          <p:nvPr/>
        </p:nvPicPr>
        <p:blipFill>
          <a:blip xmlns:r="http://schemas.openxmlformats.org/officeDocument/2006/relationships" xmlns:a="http://schemas.openxmlformats.org/drawingml/2006/main" r:embed="R1c899093ff414238"/>
          <a:stretch xmlns:a="http://schemas.openxmlformats.org/drawingml/2006/main"/>
        </p:blipFill>
        <p:spPr>
          <a:xfrm xmlns:a="http://schemas.openxmlformats.org/drawingml/2006/main">
            <a:off x="5528416" y="3743325"/>
            <a:ext cx="5240443" cy="2390775"/>
          </a:xfrm>
          <a:prstGeom xmlns:a="http://schemas.openxmlformats.org/drawingml/2006/main" prst="rect">
            <a:avLst/>
          </a:prstGeom>
        </p:spPr>
      </p:pic>
    </p:spTree>
    <p:extLst>
      <p:ext uri="{BB962C8B-B14F-4D97-AF65-F5344CB8AC3E}">
        <p14:creationId xmlns:p14="http://schemas.microsoft.com/office/powerpoint/2010/main" val="443450394"/>
      </p:ext>
    </p:extLst>
  </p:cSld>
</p:sld>
</file>

<file path=ppt/slides/slide9.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9-text-0">
            <a:extLst xmlns:a="http://schemas.openxmlformats.org/drawingml/2006/main">
              <a:ext uri="{FF2B5EF4-FFF2-40B4-BE49-F238E27FC236}">
                <a16:creationId xmlns:a16="http://schemas.microsoft.com/office/drawing/2014/main" id="{2594D1FE-B27B-4CA5-B68C-5E0C0C2625C8}"/>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Material de LSCh para preparar ejemplos</a:t>
            </a:r>
          </a:p>
        </p:txBody>
      </p:sp>
      <p:sp>
        <p:nvSpPr>
          <p:cNvPr id="2" name="slide-9-text-1">
            <a:extLst xmlns:a="http://schemas.openxmlformats.org/drawingml/2006/main">
              <a:ext uri="{FF2B5EF4-FFF2-40B4-BE49-F238E27FC236}">
                <a16:creationId xmlns:a16="http://schemas.microsoft.com/office/drawing/2014/main" id="{FB08419E-4CE9-4C2B-B348-1F3D056950FD}"/>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09</a:t>
            </a:r>
          </a:p>
        </p:txBody>
      </p:sp>
      <p:sp>
        <p:nvSpPr>
          <p:cNvPr id="3" name="slide-9-text-2">
            <a:extLst xmlns:a="http://schemas.openxmlformats.org/drawingml/2006/main">
              <a:ext uri="{FF2B5EF4-FFF2-40B4-BE49-F238E27FC236}">
                <a16:creationId xmlns:a16="http://schemas.microsoft.com/office/drawing/2014/main" id="{8F98E872-E481-4549-9F5D-CA332095C8AE}"/>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actual de las referencias educativas del catálogo privado</a:t>
            </a:r>
          </a:p>
        </p:txBody>
      </p:sp>
      <p:sp>
        <p:nvSpPr>
          <p:cNvPr id="4" name="slide-9-text-3">
            <a:extLst xmlns:a="http://schemas.openxmlformats.org/drawingml/2006/main">
              <a:ext uri="{FF2B5EF4-FFF2-40B4-BE49-F238E27FC236}">
                <a16:creationId xmlns:a16="http://schemas.microsoft.com/office/drawing/2014/main" id="{D49F7F92-0BD7-4925-B895-37FC4A5FE510}"/>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Referencias confiables</a:t>
            </a:r>
          </a:p>
        </p:txBody>
      </p:sp>
      <p:sp>
        <p:nvSpPr>
          <p:cNvPr id="5" name="slide-9-text-4">
            <a:extLst xmlns:a="http://schemas.openxmlformats.org/drawingml/2006/main">
              <a:ext uri="{FF2B5EF4-FFF2-40B4-BE49-F238E27FC236}">
                <a16:creationId xmlns:a16="http://schemas.microsoft.com/office/drawing/2014/main" id="{58B6D9AF-A08E-49A5-97EB-18F189D7A740}"/>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Ocho recursos educativos y un catálogo académico de 379 videos.</a:t>
            </a:r>
          </a:p>
        </p:txBody>
      </p:sp>
      <p:sp>
        <p:nvSpPr>
          <p:cNvPr id="6" name="slide-9-text-5">
            <a:extLst xmlns:a="http://schemas.openxmlformats.org/drawingml/2006/main">
              <a:ext uri="{FF2B5EF4-FFF2-40B4-BE49-F238E27FC236}">
                <a16:creationId xmlns:a16="http://schemas.microsoft.com/office/drawing/2014/main" id="{764C126C-3E54-44C0-9C3F-9954765E36B7}"/>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Búsqueda por tema o fuente</a:t>
            </a:r>
          </a:p>
        </p:txBody>
      </p:sp>
      <p:sp>
        <p:nvSpPr>
          <p:cNvPr id="7" name="slide-9-text-6">
            <a:extLst xmlns:a="http://schemas.openxmlformats.org/drawingml/2006/main">
              <a:ext uri="{FF2B5EF4-FFF2-40B4-BE49-F238E27FC236}">
                <a16:creationId xmlns:a16="http://schemas.microsoft.com/office/drawing/2014/main" id="{9383EB5A-2DBD-4970-944F-7C90873CBD0B}"/>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panel ayuda a localizar ejemplos y consultar quién los publicó.</a:t>
            </a:r>
          </a:p>
        </p:txBody>
      </p:sp>
      <p:sp>
        <p:nvSpPr>
          <p:cNvPr id="8" name="slide-9-text-7">
            <a:extLst xmlns:a="http://schemas.openxmlformats.org/drawingml/2006/main">
              <a:ext uri="{FF2B5EF4-FFF2-40B4-BE49-F238E27FC236}">
                <a16:creationId xmlns:a16="http://schemas.microsoft.com/office/drawing/2014/main" id="{56291623-0253-4254-98DE-BDDF9A684A5F}"/>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Revisión antes de entrenar</a:t>
            </a:r>
          </a:p>
        </p:txBody>
      </p:sp>
      <p:sp>
        <p:nvSpPr>
          <p:cNvPr id="9" name="slide-9-text-8">
            <a:extLst xmlns:a="http://schemas.openxmlformats.org/drawingml/2006/main">
              <a:ext uri="{FF2B5EF4-FFF2-40B4-BE49-F238E27FC236}">
                <a16:creationId xmlns:a16="http://schemas.microsoft.com/office/drawing/2014/main" id="{1CF2625A-BFC6-4508-BE48-4A000E05A604}"/>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Cada fragmento necesita significado confirmado y permiso de uso.</a:t>
            </a:r>
          </a:p>
        </p:txBody>
      </p:sp>
      <p:pic>
        <p:nvPicPr>
          <p:cNvPr id="10" name="">
            <a:extLst xmlns:a="http://schemas.openxmlformats.org/drawingml/2006/main">
              <a:ext uri="{FF2B5EF4-FFF2-40B4-BE49-F238E27FC236}">
                <a16:creationId xmlns:a16="http://schemas.microsoft.com/office/drawing/2014/main" id="{9CD0D730-ED12-484F-9549-A1ED68512B86}"/>
              </a:ext>
            </a:extLst>
          </p:cNvPr>
          <p:cNvPicPr>
            <a:picLocks xmlns:a="http://schemas.openxmlformats.org/drawingml/2006/main" noChangeAspect="1"/>
          </p:cNvPicPr>
          <p:nvPr/>
        </p:nvPicPr>
        <p:blipFill>
          <a:blip xmlns:r="http://schemas.openxmlformats.org/officeDocument/2006/relationships" xmlns:a="http://schemas.openxmlformats.org/drawingml/2006/main" r:embed="R08107a14840a4290"/>
          <a:stretch xmlns:a="http://schemas.openxmlformats.org/drawingml/2006/main"/>
        </p:blipFill>
        <p:spPr>
          <a:xfrm xmlns:a="http://schemas.openxmlformats.org/drawingml/2006/main">
            <a:off x="5147530" y="1266825"/>
            <a:ext cx="6002215" cy="4876800"/>
          </a:xfrm>
          <a:prstGeom xmlns:a="http://schemas.openxmlformats.org/drawingml/2006/main" prst="rect">
            <a:avLst/>
          </a:prstGeom>
        </p:spPr>
      </p:pic>
    </p:spTree>
    <p:extLst>
      <p:ext uri="{BB962C8B-B14F-4D97-AF65-F5344CB8AC3E}">
        <p14:creationId xmlns:p14="http://schemas.microsoft.com/office/powerpoint/2010/main" val="150954792"/>
      </p:ext>
    </p:extLst>
  </p:cSld>
</p:sld>
</file>

<file path=ppt/slides/slide10.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10-text-0">
            <a:extLst xmlns:a="http://schemas.openxmlformats.org/drawingml/2006/main">
              <a:ext uri="{FF2B5EF4-FFF2-40B4-BE49-F238E27FC236}">
                <a16:creationId xmlns:a16="http://schemas.microsoft.com/office/drawing/2014/main" id="{3A4280F1-86F7-4173-A898-3AF1EACF0F46}"/>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Preparación y recuperación de datos</a:t>
            </a:r>
          </a:p>
        </p:txBody>
      </p:sp>
      <p:sp>
        <p:nvSpPr>
          <p:cNvPr id="2" name="slide-10-text-1">
            <a:extLst xmlns:a="http://schemas.openxmlformats.org/drawingml/2006/main">
              <a:ext uri="{FF2B5EF4-FFF2-40B4-BE49-F238E27FC236}">
                <a16:creationId xmlns:a16="http://schemas.microsoft.com/office/drawing/2014/main" id="{DF2DDD6A-2A49-46FC-BE6A-3F425563BEF9}"/>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10</a:t>
            </a:r>
          </a:p>
        </p:txBody>
      </p:sp>
      <p:sp>
        <p:nvSpPr>
          <p:cNvPr id="3" name="slide-10-text-2">
            <a:extLst xmlns:a="http://schemas.openxmlformats.org/drawingml/2006/main">
              <a:ext uri="{FF2B5EF4-FFF2-40B4-BE49-F238E27FC236}">
                <a16:creationId xmlns:a16="http://schemas.microsoft.com/office/drawing/2014/main" id="{BC2C2B66-5576-4F73-89AD-6BA07E0DD570}"/>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real de la recuperación de las 110 grabaciones aprobadas</a:t>
            </a:r>
          </a:p>
        </p:txBody>
      </p:sp>
      <p:sp>
        <p:nvSpPr>
          <p:cNvPr id="4" name="slide-10-text-3">
            <a:extLst xmlns:a="http://schemas.openxmlformats.org/drawingml/2006/main">
              <a:ext uri="{FF2B5EF4-FFF2-40B4-BE49-F238E27FC236}">
                <a16:creationId xmlns:a16="http://schemas.microsoft.com/office/drawing/2014/main" id="{90D95225-B3AF-486F-B03D-497F63B0FD23}"/>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531 entradas organizadas</a:t>
            </a:r>
          </a:p>
        </p:txBody>
      </p:sp>
      <p:sp>
        <p:nvSpPr>
          <p:cNvPr id="5" name="slide-10-text-4">
            <a:extLst xmlns:a="http://schemas.openxmlformats.org/drawingml/2006/main">
              <a:ext uri="{FF2B5EF4-FFF2-40B4-BE49-F238E27FC236}">
                <a16:creationId xmlns:a16="http://schemas.microsoft.com/office/drawing/2014/main" id="{DF02367C-E2F9-438C-B305-E5A6D1F024C3}"/>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Las prioridades indican qué categorías requieren revisión y nuevas muestras.</a:t>
            </a:r>
          </a:p>
        </p:txBody>
      </p:sp>
      <p:sp>
        <p:nvSpPr>
          <p:cNvPr id="6" name="slide-10-text-5">
            <a:extLst xmlns:a="http://schemas.openxmlformats.org/drawingml/2006/main">
              <a:ext uri="{FF2B5EF4-FFF2-40B4-BE49-F238E27FC236}">
                <a16:creationId xmlns:a16="http://schemas.microsoft.com/office/drawing/2014/main" id="{47E0C918-41ED-4EDF-8015-2329C5AD20E0}"/>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110 aprobadas recuperadas</a:t>
            </a:r>
          </a:p>
        </p:txBody>
      </p:sp>
      <p:sp>
        <p:nvSpPr>
          <p:cNvPr id="7" name="slide-10-text-6">
            <a:extLst xmlns:a="http://schemas.openxmlformats.org/drawingml/2006/main">
              <a:ext uri="{FF2B5EF4-FFF2-40B4-BE49-F238E27FC236}">
                <a16:creationId xmlns:a16="http://schemas.microsoft.com/office/drawing/2014/main" id="{25899830-4008-448A-AE7E-9AD7576D5BD9}"/>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Se extrajeron puntos de los archivos antiguos y se conservaron sus originales.</a:t>
            </a:r>
          </a:p>
        </p:txBody>
      </p:sp>
      <p:sp>
        <p:nvSpPr>
          <p:cNvPr id="8" name="slide-10-text-7">
            <a:extLst xmlns:a="http://schemas.openxmlformats.org/drawingml/2006/main">
              <a:ext uri="{FF2B5EF4-FFF2-40B4-BE49-F238E27FC236}">
                <a16:creationId xmlns:a16="http://schemas.microsoft.com/office/drawing/2014/main" id="{E7EE8B22-9F33-46A6-A65E-6BAB715B7D4A}"/>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44 con puntos utilizables</a:t>
            </a:r>
          </a:p>
        </p:txBody>
      </p:sp>
      <p:sp>
        <p:nvSpPr>
          <p:cNvPr id="9" name="slide-10-text-8">
            <a:extLst xmlns:a="http://schemas.openxmlformats.org/drawingml/2006/main">
              <a:ext uri="{FF2B5EF4-FFF2-40B4-BE49-F238E27FC236}">
                <a16:creationId xmlns:a16="http://schemas.microsoft.com/office/drawing/2014/main" id="{8B4E72B4-52DD-439F-9D51-B8D9B1EB247B}"/>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Cerdo y día reúnen dos originales distintos para el experimento inicial.</a:t>
            </a:r>
          </a:p>
        </p:txBody>
      </p:sp>
      <p:pic>
        <p:nvPicPr>
          <p:cNvPr id="10" name="">
            <a:extLst xmlns:a="http://schemas.openxmlformats.org/drawingml/2006/main">
              <a:ext uri="{FF2B5EF4-FFF2-40B4-BE49-F238E27FC236}">
                <a16:creationId xmlns:a16="http://schemas.microsoft.com/office/drawing/2014/main" id="{0F454FFB-9BE2-4FCF-B7F6-7DCF285417D8}"/>
              </a:ext>
            </a:extLst>
          </p:cNvPr>
          <p:cNvPicPr>
            <a:picLocks xmlns:a="http://schemas.openxmlformats.org/drawingml/2006/main" noChangeAspect="1"/>
          </p:cNvPicPr>
          <p:nvPr/>
        </p:nvPicPr>
        <p:blipFill>
          <a:blip xmlns:r="http://schemas.openxmlformats.org/officeDocument/2006/relationships" xmlns:a="http://schemas.openxmlformats.org/drawingml/2006/main" r:embed="R0911ac7bd68e4bfb"/>
          <a:stretch xmlns:a="http://schemas.openxmlformats.org/drawingml/2006/main"/>
        </p:blipFill>
        <p:spPr>
          <a:xfrm xmlns:a="http://schemas.openxmlformats.org/drawingml/2006/main">
            <a:off x="4985586" y="1266825"/>
            <a:ext cx="6326103" cy="4876800"/>
          </a:xfrm>
          <a:prstGeom xmlns:a="http://schemas.openxmlformats.org/drawingml/2006/main" prst="rect">
            <a:avLst/>
          </a:prstGeom>
        </p:spPr>
      </p:pic>
    </p:spTree>
    <p:extLst>
      <p:ext uri="{BB962C8B-B14F-4D97-AF65-F5344CB8AC3E}">
        <p14:creationId xmlns:p14="http://schemas.microsoft.com/office/powerpoint/2010/main" val="1138753954"/>
      </p:ext>
    </p:extLst>
  </p:cSld>
</p:sld>
</file>

<file path=ppt/slides/slide11.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2" name="slide-11-text-0">
            <a:extLst xmlns:a="http://schemas.openxmlformats.org/drawingml/2006/main">
              <a:ext uri="{FF2B5EF4-FFF2-40B4-BE49-F238E27FC236}">
                <a16:creationId xmlns:a16="http://schemas.microsoft.com/office/drawing/2014/main" id="{D5E3A259-B7E2-45CA-82BE-404DAE8BC8EF}"/>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Revisión y primer entrenamiento</a:t>
            </a:r>
          </a:p>
        </p:txBody>
      </p:sp>
      <p:sp>
        <p:nvSpPr>
          <p:cNvPr id="2" name="slide-11-text-1">
            <a:extLst xmlns:a="http://schemas.openxmlformats.org/drawingml/2006/main">
              <a:ext uri="{FF2B5EF4-FFF2-40B4-BE49-F238E27FC236}">
                <a16:creationId xmlns:a16="http://schemas.microsoft.com/office/drawing/2014/main" id="{37FFA1FA-12E0-431B-9408-BCCC32AA4E9D}"/>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11</a:t>
            </a:r>
          </a:p>
        </p:txBody>
      </p:sp>
      <p:sp>
        <p:nvSpPr>
          <p:cNvPr id="3" name="slide-11-text-2">
            <a:extLst xmlns:a="http://schemas.openxmlformats.org/drawingml/2006/main">
              <a:ext uri="{FF2B5EF4-FFF2-40B4-BE49-F238E27FC236}">
                <a16:creationId xmlns:a16="http://schemas.microsoft.com/office/drawing/2014/main" id="{92D2557F-CF12-4AEB-8454-CA0F72A0FF58}"/>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Capturas reales de la revisión local y del informe guardado. El prototipo acertó 1 de solo 2 pruebas.</a:t>
            </a:r>
          </a:p>
        </p:txBody>
      </p:sp>
      <p:sp>
        <p:nvSpPr>
          <p:cNvPr id="4" name="slide-11-text-3">
            <a:extLst xmlns:a="http://schemas.openxmlformats.org/drawingml/2006/main">
              <a:ext uri="{FF2B5EF4-FFF2-40B4-BE49-F238E27FC236}">
                <a16:creationId xmlns:a16="http://schemas.microsoft.com/office/drawing/2014/main" id="{7FED91B6-7CAA-42B2-8520-A984884D8F00}"/>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Revisión de las etiquetas</a:t>
            </a:r>
          </a:p>
        </p:txBody>
      </p:sp>
      <p:sp>
        <p:nvSpPr>
          <p:cNvPr id="5" name="slide-11-text-4">
            <a:extLst xmlns:a="http://schemas.openxmlformats.org/drawingml/2006/main">
              <a:ext uri="{FF2B5EF4-FFF2-40B4-BE49-F238E27FC236}">
                <a16:creationId xmlns:a16="http://schemas.microsoft.com/office/drawing/2014/main" id="{7D070C65-4EC0-4EDB-8B75-964242A7757A}"/>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seña exacta se confirma antes de guardar su anotación local.</a:t>
            </a:r>
          </a:p>
        </p:txBody>
      </p:sp>
      <p:sp>
        <p:nvSpPr>
          <p:cNvPr id="6" name="slide-11-text-5">
            <a:extLst xmlns:a="http://schemas.openxmlformats.org/drawingml/2006/main">
              <a:ext uri="{FF2B5EF4-FFF2-40B4-BE49-F238E27FC236}">
                <a16:creationId xmlns:a16="http://schemas.microsoft.com/office/drawing/2014/main" id="{56CAF7F7-2C9F-4EB6-B8B9-AF23FE7322BC}"/>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Evaluación independiente</a:t>
            </a:r>
          </a:p>
        </p:txBody>
      </p:sp>
      <p:sp>
        <p:nvSpPr>
          <p:cNvPr id="7" name="slide-11-text-6">
            <a:extLst xmlns:a="http://schemas.openxmlformats.org/drawingml/2006/main">
              <a:ext uri="{FF2B5EF4-FFF2-40B4-BE49-F238E27FC236}">
                <a16:creationId xmlns:a16="http://schemas.microsoft.com/office/drawing/2014/main" id="{CE32EC7E-B44F-4893-B17F-A605B20C1A72}"/>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Se reservan originales de personas distintas. Las variaciones no crean participantes.</a:t>
            </a:r>
          </a:p>
        </p:txBody>
      </p:sp>
      <p:sp>
        <p:nvSpPr>
          <p:cNvPr id="8" name="slide-11-text-7">
            <a:extLst xmlns:a="http://schemas.openxmlformats.org/drawingml/2006/main">
              <a:ext uri="{FF2B5EF4-FFF2-40B4-BE49-F238E27FC236}">
                <a16:creationId xmlns:a16="http://schemas.microsoft.com/office/drawing/2014/main" id="{EE44FAB5-35F7-4A8A-A702-E837B5BCAB6C}"/>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Prototipo de dos señas</a:t>
            </a:r>
          </a:p>
        </p:txBody>
      </p:sp>
      <p:sp>
        <p:nvSpPr>
          <p:cNvPr id="9" name="slide-11-text-8">
            <a:extLst xmlns:a="http://schemas.openxmlformats.org/drawingml/2006/main">
              <a:ext uri="{FF2B5EF4-FFF2-40B4-BE49-F238E27FC236}">
                <a16:creationId xmlns:a16="http://schemas.microsoft.com/office/drawing/2014/main" id="{473A4E04-C126-487A-A73A-3A55485E8A23}"/>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Cerdo acertó y día falló. El modelo y su informe persisten en el navegador.</a:t>
            </a:r>
          </a:p>
        </p:txBody>
      </p:sp>
      <p:pic>
        <p:nvPicPr>
          <p:cNvPr id="10" name="">
            <a:extLst xmlns:a="http://schemas.openxmlformats.org/drawingml/2006/main">
              <a:ext uri="{FF2B5EF4-FFF2-40B4-BE49-F238E27FC236}">
                <a16:creationId xmlns:a16="http://schemas.microsoft.com/office/drawing/2014/main" id="{F6FFB082-149D-486C-94D3-CC23D95A1696}"/>
              </a:ext>
            </a:extLst>
          </p:cNvPr>
          <p:cNvPicPr>
            <a:picLocks xmlns:a="http://schemas.openxmlformats.org/drawingml/2006/main" noChangeAspect="1"/>
          </p:cNvPicPr>
          <p:nvPr/>
        </p:nvPicPr>
        <p:blipFill>
          <a:blip xmlns:r="http://schemas.openxmlformats.org/officeDocument/2006/relationships" xmlns:a="http://schemas.openxmlformats.org/drawingml/2006/main" r:embed="Rc29c5da8838f4c62"/>
          <a:stretch xmlns:a="http://schemas.openxmlformats.org/drawingml/2006/main"/>
        </p:blipFill>
        <p:spPr>
          <a:xfrm xmlns:a="http://schemas.openxmlformats.org/drawingml/2006/main">
            <a:off x="5551822" y="1390650"/>
            <a:ext cx="5193632" cy="21336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CCDD808E-A495-4F5D-AD95-B6817523149A}"/>
              </a:ext>
            </a:extLst>
          </p:cNvPr>
          <p:cNvPicPr>
            <a:picLocks xmlns:a="http://schemas.openxmlformats.org/drawingml/2006/main" noChangeAspect="1"/>
          </p:cNvPicPr>
          <p:nvPr/>
        </p:nvPicPr>
        <p:blipFill>
          <a:blip xmlns:r="http://schemas.openxmlformats.org/officeDocument/2006/relationships" xmlns:a="http://schemas.openxmlformats.org/drawingml/2006/main" r:embed="R4fda58dccdd84298"/>
          <a:stretch xmlns:a="http://schemas.openxmlformats.org/drawingml/2006/main"/>
        </p:blipFill>
        <p:spPr>
          <a:xfrm xmlns:a="http://schemas.openxmlformats.org/drawingml/2006/main">
            <a:off x="4714875" y="3996381"/>
            <a:ext cx="6867525" cy="1856088"/>
          </a:xfrm>
          <a:prstGeom xmlns:a="http://schemas.openxmlformats.org/drawingml/2006/main" prst="rect">
            <a:avLst/>
          </a:prstGeom>
        </p:spPr>
      </p:pic>
    </p:spTree>
    <p:extLst>
      <p:ext uri="{BB962C8B-B14F-4D97-AF65-F5344CB8AC3E}">
        <p14:creationId xmlns:p14="http://schemas.microsoft.com/office/powerpoint/2010/main" val="1048698090"/>
      </p:ext>
    </p:extLst>
  </p:cSld>
</p:sld>
</file>

<file path=ppt/slides/slide12.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2" name="slide-12-text-0">
            <a:extLst xmlns:a="http://schemas.openxmlformats.org/drawingml/2006/main">
              <a:ext uri="{FF2B5EF4-FFF2-40B4-BE49-F238E27FC236}">
                <a16:creationId xmlns:a16="http://schemas.microsoft.com/office/drawing/2014/main" id="{23C26F67-F46A-4AB2-B3D9-217E9EFB3FE4}"/>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Archivos preparados para Cloudflare</a:t>
            </a:r>
          </a:p>
        </p:txBody>
      </p:sp>
      <p:sp>
        <p:nvSpPr>
          <p:cNvPr id="2" name="slide-12-text-1">
            <a:extLst xmlns:a="http://schemas.openxmlformats.org/drawingml/2006/main">
              <a:ext uri="{FF2B5EF4-FFF2-40B4-BE49-F238E27FC236}">
                <a16:creationId xmlns:a16="http://schemas.microsoft.com/office/drawing/2014/main" id="{7DAF5B64-8225-49E1-AF7F-1A318BE77051}"/>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12</a:t>
            </a:r>
          </a:p>
        </p:txBody>
      </p:sp>
      <p:sp>
        <p:nvSpPr>
          <p:cNvPr id="3" name="slide-12-text-2">
            <a:extLst xmlns:a="http://schemas.openxmlformats.org/drawingml/2006/main">
              <a:ext uri="{FF2B5EF4-FFF2-40B4-BE49-F238E27FC236}">
                <a16:creationId xmlns:a16="http://schemas.microsoft.com/office/drawing/2014/main" id="{E72F94A7-AD58-4180-888B-F862BEC8ABB0}"/>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Preparación local comprobada. La publicación de esta versión requiere subir el paquete completo.</a:t>
            </a:r>
          </a:p>
        </p:txBody>
      </p:sp>
      <p:sp>
        <p:nvSpPr>
          <p:cNvPr id="4" name="slide-12-text-3">
            <a:extLst xmlns:a="http://schemas.openxmlformats.org/drawingml/2006/main">
              <a:ext uri="{FF2B5EF4-FFF2-40B4-BE49-F238E27FC236}">
                <a16:creationId xmlns:a16="http://schemas.microsoft.com/office/drawing/2014/main" id="{5AC9B50E-EA67-4821-91A1-9EC1BF6FCFE3}"/>
              </a:ext>
            </a:extLst>
          </p:cNvPr>
          <p:cNvSpPr>
            <a:spLocks xmlns:a="http://schemas.openxmlformats.org/drawingml/2006/main" noGrp="1"/>
          </p:cNvSpPr>
          <p:nvPr/>
        </p:nvSpPr>
        <p:spPr>
          <a:xfrm xmlns:a="http://schemas.openxmlformats.org/drawingml/2006/main">
            <a:off x="609600" y="15240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250" b="1">
                <a:solidFill>
                  <a:srgbClr val="5DE0DC"/>
                </a:solidFill>
                <a:latin typeface="Arial"/>
                <a:ea typeface="Arial"/>
                <a:cs typeface="Arial"/>
              </a:defRPr>
            </a:defPPr>
          </a:lstStyle>
          <a:p xmlns:a="http://schemas.openxmlformats.org/drawingml/2006/main">
            <a:pPr algn="l">
              <a:defRPr sz="2250" b="1">
                <a:solidFill>
                  <a:srgbClr val="5DE0DC"/>
                </a:solidFill>
                <a:latin typeface="Arial"/>
                <a:ea typeface="Arial"/>
                <a:cs typeface="Arial"/>
              </a:defRPr>
            </a:pPr>
            <a:r>
              <a:rPr sz="2250" b="1">
                <a:solidFill>
                  <a:srgbClr val="5DE0DC"/>
                </a:solidFill>
                <a:latin typeface="Arial"/>
                <a:ea typeface="Arial"/>
                <a:cs typeface="Arial"/>
              </a:rPr>
              <a:t>Versión de la web</a:t>
            </a:r>
          </a:p>
        </p:txBody>
      </p:sp>
      <p:sp>
        <p:nvSpPr>
          <p:cNvPr id="5" name="slide-12-text-4">
            <a:extLst xmlns:a="http://schemas.openxmlformats.org/drawingml/2006/main">
              <a:ext uri="{FF2B5EF4-FFF2-40B4-BE49-F238E27FC236}">
                <a16:creationId xmlns:a16="http://schemas.microsoft.com/office/drawing/2014/main" id="{E68FED3F-DCA0-4500-AE54-C99C6956086F}"/>
              </a:ext>
            </a:extLst>
          </p:cNvPr>
          <p:cNvSpPr>
            <a:spLocks xmlns:a="http://schemas.openxmlformats.org/drawingml/2006/main" noGrp="1"/>
          </p:cNvSpPr>
          <p:nvPr/>
        </p:nvSpPr>
        <p:spPr>
          <a:xfrm xmlns:a="http://schemas.openxmlformats.org/drawingml/2006/main">
            <a:off x="609600" y="2028825"/>
            <a:ext cx="4953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025" b="0">
                <a:solidFill>
                  <a:srgbClr val="D6D6E4"/>
                </a:solidFill>
                <a:latin typeface="Arial"/>
                <a:ea typeface="Arial"/>
                <a:cs typeface="Arial"/>
              </a:defRPr>
            </a:defPPr>
          </a:lstStyle>
          <a:p xmlns:a="http://schemas.openxmlformats.org/drawingml/2006/main">
            <a:pPr algn="l">
              <a:defRPr sz="2025" b="0">
                <a:solidFill>
                  <a:srgbClr val="D6D6E4"/>
                </a:solidFill>
                <a:latin typeface="Arial"/>
                <a:ea typeface="Arial"/>
                <a:cs typeface="Arial"/>
              </a:defRPr>
            </a:pPr>
            <a:r>
              <a:rPr sz="2025" b="0">
                <a:solidFill>
                  <a:srgbClr val="D6D6E4"/>
                </a:solidFill>
                <a:latin typeface="Arial"/>
                <a:ea typeface="Arial"/>
                <a:cs typeface="Arial"/>
              </a:rPr>
              <a:t>dist contiene la aplicación compilada, sus recursos y los modelos de seguimiento.</a:t>
            </a:r>
          </a:p>
        </p:txBody>
      </p:sp>
      <p:sp>
        <p:nvSpPr>
          <p:cNvPr id="6" name="slide-12-text-5">
            <a:extLst xmlns:a="http://schemas.openxmlformats.org/drawingml/2006/main">
              <a:ext uri="{FF2B5EF4-FFF2-40B4-BE49-F238E27FC236}">
                <a16:creationId xmlns:a16="http://schemas.microsoft.com/office/drawing/2014/main" id="{B19D95B5-43BB-41CD-8130-55498FF73D62}"/>
              </a:ext>
            </a:extLst>
          </p:cNvPr>
          <p:cNvSpPr>
            <a:spLocks xmlns:a="http://schemas.openxmlformats.org/drawingml/2006/main" noGrp="1"/>
          </p:cNvSpPr>
          <p:nvPr/>
        </p:nvSpPr>
        <p:spPr>
          <a:xfrm xmlns:a="http://schemas.openxmlformats.org/drawingml/2006/main">
            <a:off x="609600" y="349567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250" b="1">
                <a:solidFill>
                  <a:srgbClr val="5DE0DC"/>
                </a:solidFill>
                <a:latin typeface="Arial"/>
                <a:ea typeface="Arial"/>
                <a:cs typeface="Arial"/>
              </a:defRPr>
            </a:defPPr>
          </a:lstStyle>
          <a:p xmlns:a="http://schemas.openxmlformats.org/drawingml/2006/main">
            <a:pPr algn="l">
              <a:defRPr sz="2250" b="1">
                <a:solidFill>
                  <a:srgbClr val="5DE0DC"/>
                </a:solidFill>
                <a:latin typeface="Arial"/>
                <a:ea typeface="Arial"/>
                <a:cs typeface="Arial"/>
              </a:defRPr>
            </a:pPr>
            <a:r>
              <a:rPr sz="2250" b="1">
                <a:solidFill>
                  <a:srgbClr val="5DE0DC"/>
                </a:solidFill>
                <a:latin typeface="Arial"/>
                <a:ea typeface="Arial"/>
                <a:cs typeface="Arial"/>
              </a:rPr>
              <a:t>Paquete de publicación</a:t>
            </a:r>
          </a:p>
        </p:txBody>
      </p:sp>
      <p:sp>
        <p:nvSpPr>
          <p:cNvPr id="7" name="slide-12-text-6">
            <a:extLst xmlns:a="http://schemas.openxmlformats.org/drawingml/2006/main">
              <a:ext uri="{FF2B5EF4-FFF2-40B4-BE49-F238E27FC236}">
                <a16:creationId xmlns:a16="http://schemas.microsoft.com/office/drawing/2014/main" id="{274B467B-EC3C-4CF6-A2C2-E35E6D14A511}"/>
              </a:ext>
            </a:extLst>
          </p:cNvPr>
          <p:cNvSpPr>
            <a:spLocks xmlns:a="http://schemas.openxmlformats.org/drawingml/2006/main" noGrp="1"/>
          </p:cNvSpPr>
          <p:nvPr/>
        </p:nvSpPr>
        <p:spPr>
          <a:xfrm xmlns:a="http://schemas.openxmlformats.org/drawingml/2006/main">
            <a:off x="609600" y="40005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950" b="0">
                <a:solidFill>
                  <a:srgbClr val="D6D6E4"/>
                </a:solidFill>
                <a:latin typeface="Arial"/>
                <a:ea typeface="Arial"/>
                <a:cs typeface="Arial"/>
              </a:defRPr>
            </a:defPPr>
          </a:lstStyle>
          <a:p xmlns:a="http://schemas.openxmlformats.org/drawingml/2006/main">
            <a:pPr algn="l">
              <a:defRPr sz="1950" b="0">
                <a:solidFill>
                  <a:srgbClr val="D6D6E4"/>
                </a:solidFill>
                <a:latin typeface="Arial"/>
                <a:ea typeface="Arial"/>
                <a:cs typeface="Arial"/>
              </a:defRPr>
            </a:pPr>
            <a:r>
              <a:rPr sz="1950" b="0">
                <a:solidFill>
                  <a:srgbClr val="D6D6E4"/>
                </a:solidFill>
                <a:latin typeface="Arial"/>
                <a:ea typeface="Arial"/>
                <a:cs typeface="Arial"/>
              </a:rPr>
              <a:t>DeafApp-sin-selector-personas.zip</a:t>
            </a:r>
          </a:p>
          <a:p xmlns:a="http://schemas.openxmlformats.org/drawingml/2006/main">
            <a:pPr algn="l">
              <a:defRPr sz="1950" b="0">
                <a:solidFill>
                  <a:srgbClr val="D6D6E4"/>
                </a:solidFill>
                <a:latin typeface="Arial"/>
                <a:ea typeface="Arial"/>
                <a:cs typeface="Arial"/>
              </a:defRPr>
            </a:pPr>
            <a:r>
              <a:rPr sz="1950" b="0">
                <a:solidFill>
                  <a:srgbClr val="D6D6E4"/>
                </a:solidFill>
                <a:latin typeface="Arial"/>
                <a:ea typeface="Arial"/>
                <a:cs typeface="Arial"/>
              </a:rPr>
              <a:t>Index en la raíz y carpeta completa lista para cargar.</a:t>
            </a:r>
          </a:p>
        </p:txBody>
      </p:sp>
      <p:sp>
        <p:nvSpPr>
          <p:cNvPr id="8" name="slide-12-text-7">
            <a:extLst xmlns:a="http://schemas.openxmlformats.org/drawingml/2006/main">
              <a:ext uri="{FF2B5EF4-FFF2-40B4-BE49-F238E27FC236}">
                <a16:creationId xmlns:a16="http://schemas.microsoft.com/office/drawing/2014/main" id="{083B0C5E-1D9A-4C4F-A986-E5E33E9D4AC0}"/>
              </a:ext>
            </a:extLst>
          </p:cNvPr>
          <p:cNvSpPr>
            <a:spLocks xmlns:a="http://schemas.openxmlformats.org/drawingml/2006/main" noGrp="1"/>
          </p:cNvSpPr>
          <p:nvPr/>
        </p:nvSpPr>
        <p:spPr>
          <a:xfrm xmlns:a="http://schemas.openxmlformats.org/drawingml/2006/main">
            <a:off x="6419850" y="152400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250" b="1">
                <a:solidFill>
                  <a:srgbClr val="5DE0DC"/>
                </a:solidFill>
                <a:latin typeface="Arial"/>
                <a:ea typeface="Arial"/>
                <a:cs typeface="Arial"/>
              </a:defRPr>
            </a:defPPr>
          </a:lstStyle>
          <a:p xmlns:a="http://schemas.openxmlformats.org/drawingml/2006/main">
            <a:pPr algn="l">
              <a:defRPr sz="2250" b="1">
                <a:solidFill>
                  <a:srgbClr val="5DE0DC"/>
                </a:solidFill>
                <a:latin typeface="Arial"/>
                <a:ea typeface="Arial"/>
                <a:cs typeface="Arial"/>
              </a:defRPr>
            </a:pPr>
            <a:r>
              <a:rPr sz="2250" b="1">
                <a:solidFill>
                  <a:srgbClr val="5DE0DC"/>
                </a:solidFill>
                <a:latin typeface="Arial"/>
                <a:ea typeface="Arial"/>
                <a:cs typeface="Arial"/>
              </a:rPr>
              <a:t>Dónde están los cambios</a:t>
            </a:r>
          </a:p>
        </p:txBody>
      </p:sp>
      <p:sp>
        <p:nvSpPr>
          <p:cNvPr id="9" name="slide-12-text-8">
            <a:extLst xmlns:a="http://schemas.openxmlformats.org/drawingml/2006/main">
              <a:ext uri="{FF2B5EF4-FFF2-40B4-BE49-F238E27FC236}">
                <a16:creationId xmlns:a16="http://schemas.microsoft.com/office/drawing/2014/main" id="{AB92F767-F99B-4B80-ADD7-9EE86650F8CB}"/>
              </a:ext>
            </a:extLst>
          </p:cNvPr>
          <p:cNvSpPr>
            <a:spLocks xmlns:a="http://schemas.openxmlformats.org/drawingml/2006/main" noGrp="1"/>
          </p:cNvSpPr>
          <p:nvPr/>
        </p:nvSpPr>
        <p:spPr>
          <a:xfrm xmlns:a="http://schemas.openxmlformats.org/drawingml/2006/main">
            <a:off x="6419850" y="2028825"/>
            <a:ext cx="5143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025" b="0">
                <a:solidFill>
                  <a:srgbClr val="D6D6E4"/>
                </a:solidFill>
                <a:latin typeface="Arial"/>
                <a:ea typeface="Arial"/>
                <a:cs typeface="Arial"/>
              </a:defRPr>
            </a:defPPr>
          </a:lstStyle>
          <a:p xmlns:a="http://schemas.openxmlformats.org/drawingml/2006/main">
            <a:pPr algn="l">
              <a:defRPr sz="2025" b="0">
                <a:solidFill>
                  <a:srgbClr val="D6D6E4"/>
                </a:solidFill>
                <a:latin typeface="Arial"/>
                <a:ea typeface="Arial"/>
                <a:cs typeface="Arial"/>
              </a:defRPr>
            </a:pPr>
            <a:r>
              <a:rPr sz="2025" b="0">
                <a:solidFill>
                  <a:srgbClr val="D6D6E4"/>
                </a:solidFill>
                <a:latin typeface="Arial"/>
                <a:ea typeface="Arial"/>
                <a:cs typeface="Arial"/>
              </a:rPr>
              <a:t>App.js y módulos de cámara y grabación contienen el flujo público.</a:t>
            </a:r>
          </a:p>
          <a:p xmlns:a="http://schemas.openxmlformats.org/drawingml/2006/main">
            <a:r>
              <a:t/>
            </a:r>
          </a:p>
          <a:p xmlns:a="http://schemas.openxmlformats.org/drawingml/2006/main">
            <a:pPr algn="l">
              <a:defRPr sz="2025" b="0">
                <a:solidFill>
                  <a:srgbClr val="D6D6E4"/>
                </a:solidFill>
                <a:latin typeface="Arial"/>
                <a:ea typeface="Arial"/>
                <a:cs typeface="Arial"/>
              </a:defRPr>
            </a:pPr>
            <a:r>
              <a:rPr sz="2025" b="0">
                <a:solidFill>
                  <a:srgbClr val="D6D6E4"/>
                </a:solidFill>
                <a:latin typeface="Arial"/>
                <a:ea typeface="Arial"/>
                <a:cs typeface="Arial"/>
              </a:rPr>
              <a:t>AdminPanel.js y training contienen revisión, recuperación y entrenamiento.</a:t>
            </a:r>
          </a:p>
        </p:txBody>
      </p:sp>
      <p:sp>
        <p:nvSpPr>
          <p:cNvPr id="10" name="slide-12-text-9">
            <a:extLst xmlns:a="http://schemas.openxmlformats.org/drawingml/2006/main">
              <a:ext uri="{FF2B5EF4-FFF2-40B4-BE49-F238E27FC236}">
                <a16:creationId xmlns:a16="http://schemas.microsoft.com/office/drawing/2014/main" id="{B5EBD4A8-3CB6-4E8A-9E62-E0303D693E51}"/>
              </a:ext>
            </a:extLst>
          </p:cNvPr>
          <p:cNvSpPr>
            <a:spLocks xmlns:a="http://schemas.openxmlformats.org/drawingml/2006/main" noGrp="1"/>
          </p:cNvSpPr>
          <p:nvPr/>
        </p:nvSpPr>
        <p:spPr>
          <a:xfrm xmlns:a="http://schemas.openxmlformats.org/drawingml/2006/main">
            <a:off x="6419850" y="445770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250" b="1">
                <a:solidFill>
                  <a:srgbClr val="F3CE77"/>
                </a:solidFill>
                <a:latin typeface="Arial"/>
                <a:ea typeface="Arial"/>
                <a:cs typeface="Arial"/>
              </a:defRPr>
            </a:defPPr>
          </a:lstStyle>
          <a:p xmlns:a="http://schemas.openxmlformats.org/drawingml/2006/main">
            <a:pPr algn="l">
              <a:defRPr sz="2250" b="1">
                <a:solidFill>
                  <a:srgbClr val="F3CE77"/>
                </a:solidFill>
                <a:latin typeface="Arial"/>
                <a:ea typeface="Arial"/>
                <a:cs typeface="Arial"/>
              </a:defRPr>
            </a:pPr>
            <a:r>
              <a:rPr sz="2250" b="1">
                <a:solidFill>
                  <a:srgbClr val="F3CE77"/>
                </a:solidFill>
                <a:latin typeface="Arial"/>
                <a:ea typeface="Arial"/>
                <a:cs typeface="Arial"/>
              </a:rPr>
              <a:t>Datos locales</a:t>
            </a:r>
          </a:p>
        </p:txBody>
      </p:sp>
      <p:sp>
        <p:nvSpPr>
          <p:cNvPr id="11" name="slide-12-text-10">
            <a:extLst xmlns:a="http://schemas.openxmlformats.org/drawingml/2006/main">
              <a:ext uri="{FF2B5EF4-FFF2-40B4-BE49-F238E27FC236}">
                <a16:creationId xmlns:a16="http://schemas.microsoft.com/office/drawing/2014/main" id="{086FCC13-B27C-4C4E-AE0B-F3B4C00C937B}"/>
              </a:ext>
            </a:extLst>
          </p:cNvPr>
          <p:cNvSpPr>
            <a:spLocks xmlns:a="http://schemas.openxmlformats.org/drawingml/2006/main" noGrp="1"/>
          </p:cNvSpPr>
          <p:nvPr/>
        </p:nvSpPr>
        <p:spPr>
          <a:xfrm xmlns:a="http://schemas.openxmlformats.org/drawingml/2006/main">
            <a:off x="6419850" y="4962525"/>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Los borradores y modelos del navegador local no se copian al sitio oficial con el ZIP.</a:t>
            </a:r>
          </a:p>
        </p:txBody>
      </p:sp>
    </p:spTree>
    <p:extLst>
      <p:ext uri="{BB962C8B-B14F-4D97-AF65-F5344CB8AC3E}">
        <p14:creationId xmlns:p14="http://schemas.microsoft.com/office/powerpoint/2010/main" val="186593772"/>
      </p:ext>
    </p:extLst>
  </p:cSld>
</p:sld>
</file>

<file path=ppt/slides/slide13.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0" name="slide-13-text-0">
            <a:extLst xmlns:a="http://schemas.openxmlformats.org/drawingml/2006/main">
              <a:ext uri="{FF2B5EF4-FFF2-40B4-BE49-F238E27FC236}">
                <a16:creationId xmlns:a16="http://schemas.microsoft.com/office/drawing/2014/main" id="{C665E592-34E7-4C1B-9B9E-87251D867D26}"/>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Estado actual y próxima etapa</a:t>
            </a:r>
          </a:p>
        </p:txBody>
      </p:sp>
      <p:sp>
        <p:nvSpPr>
          <p:cNvPr id="2" name="slide-13-text-1">
            <a:extLst xmlns:a="http://schemas.openxmlformats.org/drawingml/2006/main">
              <a:ext uri="{FF2B5EF4-FFF2-40B4-BE49-F238E27FC236}">
                <a16:creationId xmlns:a16="http://schemas.microsoft.com/office/drawing/2014/main" id="{9F0BD6AF-22F1-470C-83FE-187B51A1A3F3}"/>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13</a:t>
            </a:r>
          </a:p>
        </p:txBody>
      </p:sp>
      <p:sp>
        <p:nvSpPr>
          <p:cNvPr id="3" name="slide-13-text-2">
            <a:extLst xmlns:a="http://schemas.openxmlformats.org/drawingml/2006/main">
              <a:ext uri="{FF2B5EF4-FFF2-40B4-BE49-F238E27FC236}">
                <a16:creationId xmlns:a16="http://schemas.microsoft.com/office/drawing/2014/main" id="{FAB1DC76-4C22-4D35-8775-6C06E98E2CAD}"/>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El traductor completo sigue en desarrollo. Estas mejoras preparan su captura y entrenamiento.</a:t>
            </a:r>
          </a:p>
        </p:txBody>
      </p:sp>
      <p:sp>
        <p:nvSpPr>
          <p:cNvPr id="4" name="slide-13-text-3">
            <a:extLst xmlns:a="http://schemas.openxmlformats.org/drawingml/2006/main">
              <a:ext uri="{FF2B5EF4-FFF2-40B4-BE49-F238E27FC236}">
                <a16:creationId xmlns:a16="http://schemas.microsoft.com/office/drawing/2014/main" id="{F5B5B021-A003-4743-8A80-15A75F831DE9}"/>
              </a:ext>
            </a:extLst>
          </p:cNvPr>
          <p:cNvSpPr>
            <a:spLocks xmlns:a="http://schemas.openxmlformats.org/drawingml/2006/main" noGrp="1"/>
          </p:cNvSpPr>
          <p:nvPr/>
        </p:nvSpPr>
        <p:spPr>
          <a:xfrm xmlns:a="http://schemas.openxmlformats.org/drawingml/2006/main">
            <a:off x="609600" y="1524000"/>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400" b="1">
                <a:solidFill>
                  <a:srgbClr val="5DE0DC"/>
                </a:solidFill>
                <a:latin typeface="Arial"/>
                <a:ea typeface="Arial"/>
                <a:cs typeface="Arial"/>
              </a:defRPr>
            </a:defPPr>
          </a:lstStyle>
          <a:p xmlns:a="http://schemas.openxmlformats.org/drawingml/2006/main">
            <a:pPr algn="l">
              <a:defRPr sz="2400" b="1">
                <a:solidFill>
                  <a:srgbClr val="5DE0DC"/>
                </a:solidFill>
                <a:latin typeface="Arial"/>
                <a:ea typeface="Arial"/>
                <a:cs typeface="Arial"/>
              </a:defRPr>
            </a:pPr>
            <a:r>
              <a:rPr sz="2400" b="1">
                <a:solidFill>
                  <a:srgbClr val="5DE0DC"/>
                </a:solidFill>
                <a:latin typeface="Arial"/>
                <a:ea typeface="Arial"/>
                <a:cs typeface="Arial"/>
              </a:rPr>
              <a:t>Implementado</a:t>
            </a:r>
          </a:p>
        </p:txBody>
      </p:sp>
      <p:sp>
        <p:nvSpPr>
          <p:cNvPr id="5" name="slide-13-text-4">
            <a:extLst xmlns:a="http://schemas.openxmlformats.org/drawingml/2006/main">
              <a:ext uri="{FF2B5EF4-FFF2-40B4-BE49-F238E27FC236}">
                <a16:creationId xmlns:a16="http://schemas.microsoft.com/office/drawing/2014/main" id="{BB5AA22D-229C-4DE5-A188-CEE6CE451971}"/>
              </a:ext>
            </a:extLst>
          </p:cNvPr>
          <p:cNvSpPr>
            <a:spLocks xmlns:a="http://schemas.openxmlformats.org/drawingml/2006/main" noGrp="1"/>
          </p:cNvSpPr>
          <p:nvPr/>
        </p:nvSpPr>
        <p:spPr>
          <a:xfrm xmlns:a="http://schemas.openxmlformats.org/drawingml/2006/main">
            <a:off x="609600" y="2152650"/>
            <a:ext cx="3238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0">
                <a:solidFill>
                  <a:srgbClr val="D6D6E4"/>
                </a:solidFill>
                <a:latin typeface="Arial"/>
                <a:ea typeface="Arial"/>
                <a:cs typeface="Arial"/>
              </a:defRPr>
            </a:defPPr>
          </a:lstStyle>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Cámara y trazados.</a:t>
            </a:r>
          </a:p>
          <a:p xmlns:a="http://schemas.openxmlformats.org/drawingml/2006/main">
            <a:r>
              <a:t/>
            </a:r>
          </a:p>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Grabación con revisión previa.</a:t>
            </a:r>
          </a:p>
          <a:p xmlns:a="http://schemas.openxmlformats.org/drawingml/2006/main">
            <a:r>
              <a:t/>
            </a:r>
          </a:p>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Administración y recuperación de datos.</a:t>
            </a:r>
          </a:p>
        </p:txBody>
      </p:sp>
      <p:sp>
        <p:nvSpPr>
          <p:cNvPr id="6" name="slide-13-text-5">
            <a:extLst xmlns:a="http://schemas.openxmlformats.org/drawingml/2006/main">
              <a:ext uri="{FF2B5EF4-FFF2-40B4-BE49-F238E27FC236}">
                <a16:creationId xmlns:a16="http://schemas.microsoft.com/office/drawing/2014/main" id="{67BC0842-BB27-429D-B7FA-0AA9E40A69CA}"/>
              </a:ext>
            </a:extLst>
          </p:cNvPr>
          <p:cNvSpPr>
            <a:spLocks xmlns:a="http://schemas.openxmlformats.org/drawingml/2006/main" noGrp="1"/>
          </p:cNvSpPr>
          <p:nvPr/>
        </p:nvSpPr>
        <p:spPr>
          <a:xfrm xmlns:a="http://schemas.openxmlformats.org/drawingml/2006/main">
            <a:off x="4495800" y="1524000"/>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400" b="1">
                <a:solidFill>
                  <a:srgbClr val="F3CE77"/>
                </a:solidFill>
                <a:latin typeface="Arial"/>
                <a:ea typeface="Arial"/>
                <a:cs typeface="Arial"/>
              </a:defRPr>
            </a:defPPr>
          </a:lstStyle>
          <a:p xmlns:a="http://schemas.openxmlformats.org/drawingml/2006/main">
            <a:pPr algn="l">
              <a:defRPr sz="2400" b="1">
                <a:solidFill>
                  <a:srgbClr val="F3CE77"/>
                </a:solidFill>
                <a:latin typeface="Arial"/>
                <a:ea typeface="Arial"/>
                <a:cs typeface="Arial"/>
              </a:defRPr>
            </a:pPr>
            <a:r>
              <a:rPr sz="2400" b="1">
                <a:solidFill>
                  <a:srgbClr val="F3CE77"/>
                </a:solidFill>
                <a:latin typeface="Arial"/>
                <a:ea typeface="Arial"/>
                <a:cs typeface="Arial"/>
              </a:rPr>
              <a:t>Experimental</a:t>
            </a:r>
          </a:p>
        </p:txBody>
      </p:sp>
      <p:sp>
        <p:nvSpPr>
          <p:cNvPr id="7" name="slide-13-text-6">
            <a:extLst xmlns:a="http://schemas.openxmlformats.org/drawingml/2006/main">
              <a:ext uri="{FF2B5EF4-FFF2-40B4-BE49-F238E27FC236}">
                <a16:creationId xmlns:a16="http://schemas.microsoft.com/office/drawing/2014/main" id="{D60C1D14-B7ED-4617-B50D-34B5D4874336}"/>
              </a:ext>
            </a:extLst>
          </p:cNvPr>
          <p:cNvSpPr>
            <a:spLocks xmlns:a="http://schemas.openxmlformats.org/drawingml/2006/main" noGrp="1"/>
          </p:cNvSpPr>
          <p:nvPr/>
        </p:nvSpPr>
        <p:spPr>
          <a:xfrm xmlns:a="http://schemas.openxmlformats.org/drawingml/2006/main">
            <a:off x="4495800" y="2152650"/>
            <a:ext cx="323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0">
                <a:solidFill>
                  <a:srgbClr val="D6D6E4"/>
                </a:solidFill>
                <a:latin typeface="Arial"/>
                <a:ea typeface="Arial"/>
                <a:cs typeface="Arial"/>
              </a:defRPr>
            </a:defPPr>
          </a:lstStyle>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Modelo privado de dos señas.</a:t>
            </a:r>
          </a:p>
          <a:p xmlns:a="http://schemas.openxmlformats.org/drawingml/2006/main">
            <a:r>
              <a:t/>
            </a:r>
          </a:p>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Evaluación interna pequeña.</a:t>
            </a:r>
          </a:p>
          <a:p xmlns:a="http://schemas.openxmlformats.org/drawingml/2006/main">
            <a:r>
              <a:t/>
            </a:r>
          </a:p>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Falta probar otras personas y la cámara en vivo.</a:t>
            </a:r>
          </a:p>
        </p:txBody>
      </p:sp>
      <p:sp>
        <p:nvSpPr>
          <p:cNvPr id="8" name="slide-13-text-7">
            <a:extLst xmlns:a="http://schemas.openxmlformats.org/drawingml/2006/main">
              <a:ext uri="{FF2B5EF4-FFF2-40B4-BE49-F238E27FC236}">
                <a16:creationId xmlns:a16="http://schemas.microsoft.com/office/drawing/2014/main" id="{AA4736A3-402D-46C3-AAA1-0F632ABCC745}"/>
              </a:ext>
            </a:extLst>
          </p:cNvPr>
          <p:cNvSpPr>
            <a:spLocks xmlns:a="http://schemas.openxmlformats.org/drawingml/2006/main" noGrp="1"/>
          </p:cNvSpPr>
          <p:nvPr/>
        </p:nvSpPr>
        <p:spPr>
          <a:xfrm xmlns:a="http://schemas.openxmlformats.org/drawingml/2006/main">
            <a:off x="8382000" y="1524000"/>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400" b="1">
                <a:solidFill>
                  <a:srgbClr val="ED3F63"/>
                </a:solidFill>
                <a:latin typeface="Arial"/>
                <a:ea typeface="Arial"/>
                <a:cs typeface="Arial"/>
              </a:defRPr>
            </a:defPPr>
          </a:lstStyle>
          <a:p xmlns:a="http://schemas.openxmlformats.org/drawingml/2006/main">
            <a:pPr algn="l">
              <a:defRPr sz="2400" b="1">
                <a:solidFill>
                  <a:srgbClr val="ED3F63"/>
                </a:solidFill>
                <a:latin typeface="Arial"/>
                <a:ea typeface="Arial"/>
                <a:cs typeface="Arial"/>
              </a:defRPr>
            </a:pPr>
            <a:r>
              <a:rPr sz="2400" b="1">
                <a:solidFill>
                  <a:srgbClr val="ED3F63"/>
                </a:solidFill>
                <a:latin typeface="Arial"/>
                <a:ea typeface="Arial"/>
                <a:cs typeface="Arial"/>
              </a:rPr>
              <a:t>Objetivo siguiente</a:t>
            </a:r>
          </a:p>
        </p:txBody>
      </p:sp>
      <p:sp>
        <p:nvSpPr>
          <p:cNvPr id="9" name="slide-13-text-8">
            <a:extLst xmlns:a="http://schemas.openxmlformats.org/drawingml/2006/main">
              <a:ext uri="{FF2B5EF4-FFF2-40B4-BE49-F238E27FC236}">
                <a16:creationId xmlns:a16="http://schemas.microsoft.com/office/drawing/2014/main" id="{CC37E1E1-A877-410F-BB24-54D2C802506F}"/>
              </a:ext>
            </a:extLst>
          </p:cNvPr>
          <p:cNvSpPr>
            <a:spLocks xmlns:a="http://schemas.openxmlformats.org/drawingml/2006/main" noGrp="1"/>
          </p:cNvSpPr>
          <p:nvPr/>
        </p:nvSpPr>
        <p:spPr>
          <a:xfrm xmlns:a="http://schemas.openxmlformats.org/drawingml/2006/main">
            <a:off x="8382000" y="2152650"/>
            <a:ext cx="323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0">
                <a:solidFill>
                  <a:srgbClr val="D6D6E4"/>
                </a:solidFill>
                <a:latin typeface="Arial"/>
                <a:ea typeface="Arial"/>
                <a:cs typeface="Arial"/>
              </a:defRPr>
            </a:defPPr>
          </a:lstStyle>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Más muestras revisadas.</a:t>
            </a:r>
          </a:p>
          <a:p xmlns:a="http://schemas.openxmlformats.org/drawingml/2006/main">
            <a:r>
              <a:t/>
            </a:r>
          </a:p>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Reconocer señas y frases con fiabilidad.</a:t>
            </a:r>
          </a:p>
          <a:p xmlns:a="http://schemas.openxmlformats.org/drawingml/2006/main">
            <a:r>
              <a:t/>
            </a:r>
          </a:p>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Conectar LSCh con voz y texto en tiempo real.</a:t>
            </a:r>
          </a:p>
        </p:txBody>
      </p:sp>
    </p:spTree>
    <p:extLst>
      <p:ext uri="{BB962C8B-B14F-4D97-AF65-F5344CB8AC3E}">
        <p14:creationId xmlns:p14="http://schemas.microsoft.com/office/powerpoint/2010/main" val="19448080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2026-10-04T21:30:54.0280000Z</dcterms:created>
  <dcterms:modified xsi:type="dcterms:W3CDTF">2026-10-04T21:30:54.0290000Z</dcterms:modified>
</coreProperties>
</file>