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al Bold" charset="1" panose="020B0704020202020204"/>
      <p:regular r:id="rId21"/>
    </p:embeddedFont>
    <p:embeddedFont>
      <p:font typeface="Arial" charset="1" panose="020B0604020202020204"/>
      <p:regular r:id="rId22"/>
    </p:embeddedFont>
    <p:embeddedFont>
      <p:font typeface="Arimo Bold" charset="1" panose="020B0704020202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34"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Captura actual de http://127.0.0.1:8081/ realizada para esta presentación el 4 de octubre de 2026. Fuente: artifacts/ppt-inicio-actual.jpg. Presentación de mejoras de la versión local. El objetivo final de traducir LSCh y voz/texto todavía está en desarrollo. No se muestran contraseñas ni claves.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DeafApp. Estado documentado al 4 de octubre de 2026.</a:t>
            </a:r>
          </a:p>
          <a:p>
            <a:r>
              <a:rPr lang="en-US"/>
              <a:t>Fuentes: artifacts/manos-rapidas-verificacion.md, artifacts/manos-rapidas-camara-real.jpg, artifacts/manos-rapidas-verificacion.jpg. Izquierda: cámara física local. Derecha: interfaz real del diagnóstico con una imagen de prueba. Se corrigieron congelación/desfase y seguimiento por separado. Detector regional MediaPipe HandPose 3D lite con TensorFlow.js en Worker, 21 puntos por mano. En prueba tras preparar el modelo: adquisición 63 ms y siguientes inferencias 38–74 ms. Son tiempos de inferencia local, no latencia total ni garantía en todos los equipos. La carga inicial tuvo picos.</a:t>
            </a:r>
          </a:p>
          <a:p>
            <a:r>
              <a:rPr lang="en-US"/>
              <a:t>Las capturas anteriores documentan la interfaz en el momento indicado. La versión local no demuestra que la misma actualización esté publicada en Cloudflare.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DeafApp. Estado documentado al 4 de octubre de 2026.</a:t>
            </a:r>
          </a:p>
          <a:p>
            <a:r>
              <a:rPr lang="en-US"/>
              <a:t>Fuentes: artifacts/camara-automatica-verificacion.md, camara-automatica-pc.jpg, camara-automatica-celular.jpg, App.js, tests/webCameraCompatibility.test.mjs, scripts/patch-expo-camera.cjs. Capturas reales del bundle con cámara simulada y subidas bloqueadas. Celular emulado, no prueba física. PC 4:3 máximo 600 px y móvil 9:16 máximo 450 px. Una ventana de PC estrecha permanece PC. Se corrigió referencia inexistente OverconstrainedError y se incluyeron alternativas de restricciones/reinicio. No garantía universal de hardware.</a:t>
            </a:r>
          </a:p>
          <a:p>
            <a:r>
              <a:rPr lang="en-US"/>
              <a:t>Las capturas anteriores documentan la interfaz en el momento indicado. La versión local no demuestra que la misma actualización esté publicada en Cloudflare.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DeafApp. Estado documentado al 4 de octubre de 2026.</a:t>
            </a:r>
          </a:p>
          <a:p>
            <a:r>
              <a:rPr lang="en-US"/>
              <a:t>Fuentes: App.js, recordingHandGuard.js, trainingCapture.js, artifacts/grabacion-una-mano.png y artifacts/ayuda-deteccion-manos.png. Captura histórica de la cámara real durante la preparación. Preparar grabación arma la espera, confirmación inicial de ambas manos, cuenta atrás y captura posterior permitida con al menos una mano detectada. Se controla pérdida/antigüedad de puntos y preparación se puede cancelar. Se incorporaron mensajes contextuales para encuadre, luz y primeras secuencias. La captura no demuestra una seña completa.</a:t>
            </a:r>
          </a:p>
          <a:p>
            <a:r>
              <a:rPr lang="en-US"/>
              <a:t>Las capturas anteriores documentan la interfaz en el momento indicado. La versión local no demuestra que la misma actualización esté publicada en Cloudflare.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DeafApp. Estado documentado al 4 de octubre de 2026.</a:t>
            </a:r>
          </a:p>
          <a:p>
            <a:r>
              <a:rPr lang="en-US"/>
              <a:t>Fuentes: artifacts/filtro-gestos-verificacion.md, artifacts/filtro-gestos-app.jpg y gestureModeration.js. Captura real del bundle con entrada simulada basada en la imagen del usuario y subidas bloqueadas. Configuración concreta con 21 puntos, persistencia mínima de 3 detecciones y 250 ms. Puede fallar al confundir dedos. No clasifica intención obscena general. El bloqueo se comprueba durante la preparación y captura completa, con liberación por detecciones limpias. Otros gestos requieren ejemplos y revisión LSCh.</a:t>
            </a:r>
          </a:p>
          <a:p>
            <a:r>
              <a:rPr lang="en-US"/>
              <a:t>Las capturas anteriores documentan la interfaz en el momento indicado. La versión local no demuestra que la misma actualización esté publicada en Cloudflare.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DeafApp. Estado documentado al 4 de octubre de 2026.</a:t>
            </a:r>
          </a:p>
          <a:p>
            <a:r>
              <a:rPr lang="en-US"/>
              <a:t>Fuentes: artifacts/vista-previa-verificacion.md, artifacts/vista-previa-reintento.jpg, recordingDraftStore.js, recordingSubmission.js y App.js. Captura real de la interfaz con cámara, detector y servidor simulados. Figura dibujada de prueba, no una seña real de entrenamiento. Secuencia de 30 fotogramas, proporción original, cerrar cámara al revisar. IndexedDB conserva una toma pendiente por origen/navegador. Repetir no borra la anterior hasta otra válida. Envío explícito, ruta única, consultar registro existente, reutilizar archivo, limpieza solo después de completar, tiempo límite 30 s y Web Locks compatibles. No se subieron grabaciones reales en esta prueba.</a:t>
            </a:r>
          </a:p>
          <a:p>
            <a:r>
              <a:rPr lang="en-US"/>
              <a:t>Las capturas anteriores documentan la interfaz en el momento indicado. La versión local no demuestra que la misma actualización esté publicada en Cloudflare.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DeafApp. Estado documentado al 4 de octubre de 2026.</a:t>
            </a:r>
          </a:p>
          <a:p>
            <a:r>
              <a:rPr lang="en-US"/>
              <a:t>Fuentes: App.js, AdminPanel.js, RecordingProfiles.js, recordingSource.js, training/datasetPreparation.js, admin/README.md, artifacts/ppt-acceso-admin.jpg y artifacts/grabacion-sin-personas.png. Capturas de los controles y login actuales. La cámara negra de la captura de controles se excluye porque no se probó físicamente esa sesión. Se retiró el selector Persona 1/2 y visualizador técnico público. El origen anónimo local automático no demuestra personas distintas. El catálogo, diagnósticos y entrenamiento están en admin. Cinco pulsaciones al logo y contraseña validada en servidor, sesión temporal y límite de intentos. No se muestra contraseña. El bucket antiguo de imágenes mantiene sus permisos previos.</a:t>
            </a:r>
          </a:p>
          <a:p>
            <a:r>
              <a:rPr lang="en-US"/>
              <a:t>Las capturas anteriores documentan la interfaz en el momento indicado. La versión local no demuestra que la misma actualización esté publicada en Cloudflare.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DeafApp. Estado documentado al 4 de octubre de 2026.</a:t>
            </a:r>
          </a:p>
          <a:p>
            <a:r>
              <a:rPr lang="en-US"/>
              <a:t>Fuentes: AdminPanel.js, admin/README.md, artifacts/ppt-moderacion-actual.jpg y artifacts/ppt-revision-grabacion.jpg. Capturas actuales con 20 pendientes, 110 aprobadas, 0 rechazadas. Grabación real pendiente saludos/hola #186 en vista previa pausada. No se cambiaron decisiones. Nuevas contribuciones pendientes, reproducción, decisiones individuales o por lote, búsquedas, filtros y páginas de 25. Comprobación de versión concurrente. Rechazar conserva el archivo y lo excluye de aprobadas. No aprobación automática por votos públicos.</a:t>
            </a:r>
          </a:p>
          <a:p>
            <a:r>
              <a:rPr lang="en-US"/>
              <a:t>Las capturas anteriores documentan la interfaz en el momento indicado. La versión local no demuestra que la misma actualización esté publicada en Cloudflare.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DeafApp. Estado documentado al 4 de octubre de 2026.</a:t>
            </a:r>
          </a:p>
          <a:p>
            <a:r>
              <a:rPr lang="en-US"/>
              <a:t>Fuentes: admin/README.md, training/README.md y artifacts/ppt-material-actual.jpg. Catálogo privado de ocho referencias educativas y metadatos académicos de 379 videos. Incluye referencias UMCE/Mineduc y Universidad de Valparaíso. No se afirma descarga ni autorización del dataset del estudio. Los enlaces son candidatos, no clips revisados automáticamente ni muestras suficientes para entrenar. Cada fragmento requiere revisión lingüística y permiso.</a:t>
            </a:r>
          </a:p>
          <a:p>
            <a:r>
              <a:rPr lang="en-US"/>
              <a:t>Las capturas anteriores documentan la interfaz en el momento indicado. La versión local no demuestra que la misma actualización esté publicada en Cloudflare.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DeafApp. Estado documentado al 4 de octubre de 2026.</a:t>
            </a:r>
          </a:p>
          <a:p>
            <a:r>
              <a:rPr lang="en-US"/>
              <a:t>Fuentes: training/README.md, admin/README.md y artifacts/recuperacion-110-lista.png. 531 entradas por categoría, no 531 señas únicas ni entrenadas. Se incorporó auditoría, prioridades e importación de conjuntos revisados. La recuperación real del 4 de octubre procesó 110 aprobadas y guardó 110 resultados sin errores; 44 técnicamente utilizables y 12 además con etiquetas compatibles/aprobadas. Dos clases con dos originales distintos: alimentos/cerdo y tiempo/dia. Calidad de puntos no confirma corrección lingüística. Se conservan originales y aprobaciones. Caché local por navegador/origen y reanudación sin procesar otra vez 110 resultados vigentes. Tiempos e identidad desconocidos no se inventan.</a:t>
            </a:r>
          </a:p>
          <a:p>
            <a:r>
              <a:rPr lang="en-US"/>
              <a:t>Las capturas anteriores documentan la interfaz en el momento indicado. La versión local no demuestra que la misma actualización esté publicada en Cloudflare.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DeafApp. Estado documentado al 4 de octubre de 2026.</a:t>
            </a:r>
          </a:p>
          <a:p>
            <a:r>
              <a:rPr lang="en-US"/>
              <a:t>Fuentes: training/README.md, admin/README.md, artifacts/ppt-revision-recuperacion.jpg y artifacts/ppt-modelo-guardado.jpg. Editor local de etiqueta exacta/participante solo conocido, confirmación explícita; no se guardaron cambios para esta captura. Modo independiente mínimo 5 originales aprendizaje y 2 prueba por clase con personas separadas; transformaciones artificiales no se cuentan como originales. Modo experimental: Conv1D temporal 32 pasos x 171 características, 30 épocas con variaciones solo de datos de aprendizaje. Cerdo/día, 2 originales aprendizaje totales y 2 reservados totales. Cerdo 1/1, día 0/1, total 1/2 (50%). Podrían ser la misma persona. Modelo, etiquetas e informe persistidos y recuperados tras recargar. No activa reconocimiento público ni traductor continuo. Requiere gestos desconocidos, otras personas y cámara real.</a:t>
            </a:r>
          </a:p>
          <a:p>
            <a:r>
              <a:rPr lang="en-US"/>
              <a:t>Las capturas anteriores documentan la interfaz en el momento indicado. La versión local no demuestra que la misma actualización esté publicada en Cloudflare.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DeafApp. Estado documentado al 4 de octubre de 2026.</a:t>
            </a:r>
          </a:p>
          <a:p>
            <a:r>
              <a:rPr lang="en-US"/>
              <a:t>Fuentes: App.js, training/README.md, admin/README.md y conversación del proyecto. La meta del usuario es un traductor en tiempo real entre LSCh y oyentes mediante voz/texto, bidireccional. El estado implementado es captura, moderación, preparación y prototipo aislado privado. Falta comprobar con participantes distintos, gestos desconocidos y cámara real antes de habilitar reconocimiento público. Frases continuas y voz/texto hacia LSCh necesitan etapas adicionales. No se afirma que DeafApp sea la mejor o primera opción nacional.</a:t>
            </a:r>
          </a:p>
          <a:p>
            <a:r>
              <a:rPr lang="en-US"/>
              <a:t>Las capturas anteriores documentan la interfaz en el momento indicado. La versión local no demuestra que la misma actualización esté publicada en Cloudflare.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https://deafapp-lsch.deafapp-lsch.workers.dev"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 Id="rId4"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7.png" Type="http://schemas.openxmlformats.org/officeDocument/2006/relationships/image"/><Relationship Id="rId4"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0101F"/>
        </a:solidFill>
      </p:bgPr>
    </p:bg>
    <p:spTree>
      <p:nvGrpSpPr>
        <p:cNvPr id="1" name=""/>
        <p:cNvGrpSpPr/>
        <p:nvPr/>
      </p:nvGrpSpPr>
      <p:grpSpPr>
        <a:xfrm>
          <a:off x="0" y="0"/>
          <a:ext cx="0" cy="0"/>
          <a:chOff x="0" y="0"/>
          <a:chExt cx="0" cy="0"/>
        </a:xfrm>
      </p:grpSpPr>
      <p:sp>
        <p:nvSpPr>
          <p:cNvPr name="Freeform 2" id="2"/>
          <p:cNvSpPr/>
          <p:nvPr/>
        </p:nvSpPr>
        <p:spPr>
          <a:xfrm flipH="false" flipV="false" rot="0">
            <a:off x="10432992" y="2812129"/>
            <a:ext cx="5946823" cy="6018386"/>
          </a:xfrm>
          <a:custGeom>
            <a:avLst/>
            <a:gdLst/>
            <a:ahLst/>
            <a:cxnLst/>
            <a:rect r="r" b="b" t="t" l="l"/>
            <a:pathLst>
              <a:path h="6018386" w="5946823">
                <a:moveTo>
                  <a:pt x="0" y="0"/>
                </a:moveTo>
                <a:lnTo>
                  <a:pt x="5946824" y="0"/>
                </a:lnTo>
                <a:lnTo>
                  <a:pt x="5946824" y="6018386"/>
                </a:lnTo>
                <a:lnTo>
                  <a:pt x="0" y="6018386"/>
                </a:lnTo>
                <a:lnTo>
                  <a:pt x="0" y="0"/>
                </a:lnTo>
                <a:close/>
              </a:path>
            </a:pathLst>
          </a:custGeom>
          <a:blipFill>
            <a:blip r:embed="rId3"/>
            <a:stretch>
              <a:fillRect l="0" t="0" r="0" b="0"/>
            </a:stretch>
          </a:blipFill>
        </p:spPr>
      </p:sp>
      <p:sp>
        <p:nvSpPr>
          <p:cNvPr name="TextBox 3" id="3"/>
          <p:cNvSpPr txBox="true"/>
          <p:nvPr/>
        </p:nvSpPr>
        <p:spPr>
          <a:xfrm rot="0">
            <a:off x="952500" y="1757363"/>
            <a:ext cx="8248650" cy="1323975"/>
          </a:xfrm>
          <a:prstGeom prst="rect">
            <a:avLst/>
          </a:prstGeom>
        </p:spPr>
        <p:txBody>
          <a:bodyPr anchor="t" rtlCol="false" tIns="0" lIns="0" bIns="0" rIns="0">
            <a:spAutoFit/>
          </a:bodyPr>
          <a:lstStyle/>
          <a:p>
            <a:pPr algn="l">
              <a:lnSpc>
                <a:spcPts val="10260"/>
              </a:lnSpc>
            </a:pPr>
            <a:r>
              <a:rPr lang="en-US" sz="8550" b="true">
                <a:solidFill>
                  <a:srgbClr val="FFFFFF"/>
                </a:solidFill>
                <a:latin typeface="Arial Bold"/>
                <a:ea typeface="Arial Bold"/>
                <a:cs typeface="Arial Bold"/>
                <a:sym typeface="Arial Bold"/>
              </a:rPr>
              <a:t>DeafApp🤟</a:t>
            </a:r>
          </a:p>
        </p:txBody>
      </p:sp>
      <p:sp>
        <p:nvSpPr>
          <p:cNvPr name="TextBox 4" id="4"/>
          <p:cNvSpPr txBox="true"/>
          <p:nvPr/>
        </p:nvSpPr>
        <p:spPr>
          <a:xfrm rot="0">
            <a:off x="952500" y="3486150"/>
            <a:ext cx="8534400" cy="1571625"/>
          </a:xfrm>
          <a:prstGeom prst="rect">
            <a:avLst/>
          </a:prstGeom>
        </p:spPr>
        <p:txBody>
          <a:bodyPr anchor="t" rtlCol="false" tIns="0" lIns="0" bIns="0" rIns="0">
            <a:spAutoFit/>
          </a:bodyPr>
          <a:lstStyle/>
          <a:p>
            <a:pPr algn="l">
              <a:lnSpc>
                <a:spcPts val="6480"/>
              </a:lnSpc>
            </a:pPr>
            <a:r>
              <a:rPr lang="en-US" sz="5400" b="true">
                <a:solidFill>
                  <a:srgbClr val="5DE0DC"/>
                </a:solidFill>
                <a:latin typeface="Arial Bold"/>
                <a:ea typeface="Arial Bold"/>
                <a:cs typeface="Arial Bold"/>
                <a:sym typeface="Arial Bold"/>
              </a:rPr>
              <a:t>Mejoras implementadas</a:t>
            </a:r>
          </a:p>
        </p:txBody>
      </p:sp>
      <p:sp>
        <p:nvSpPr>
          <p:cNvPr name="TextBox 5" id="5"/>
          <p:cNvSpPr txBox="true"/>
          <p:nvPr/>
        </p:nvSpPr>
        <p:spPr>
          <a:xfrm rot="0">
            <a:off x="807409" y="4873585"/>
            <a:ext cx="7962900" cy="1876425"/>
          </a:xfrm>
          <a:prstGeom prst="rect">
            <a:avLst/>
          </a:prstGeom>
        </p:spPr>
        <p:txBody>
          <a:bodyPr anchor="t" rtlCol="false" tIns="0" lIns="0" bIns="0" rIns="0">
            <a:spAutoFit/>
          </a:bodyPr>
          <a:lstStyle/>
          <a:p>
            <a:pPr algn="l">
              <a:lnSpc>
                <a:spcPts val="3779"/>
              </a:lnSpc>
            </a:pPr>
            <a:r>
              <a:rPr lang="en-US" sz="3150">
                <a:solidFill>
                  <a:srgbClr val="D6D6E4"/>
                </a:solidFill>
                <a:latin typeface="Arial"/>
                <a:ea typeface="Arial"/>
                <a:cs typeface="Arial"/>
                <a:sym typeface="Arial"/>
              </a:rPr>
              <a:t>Cámara, grabación y administración de datos de Lengua de Señas Chilena</a:t>
            </a:r>
          </a:p>
        </p:txBody>
      </p:sp>
      <p:sp>
        <p:nvSpPr>
          <p:cNvPr name="TextBox 6" id="6"/>
          <p:cNvSpPr txBox="true"/>
          <p:nvPr/>
        </p:nvSpPr>
        <p:spPr>
          <a:xfrm rot="0">
            <a:off x="807409" y="7624763"/>
            <a:ext cx="6164100" cy="746858"/>
          </a:xfrm>
          <a:prstGeom prst="rect">
            <a:avLst/>
          </a:prstGeom>
        </p:spPr>
        <p:txBody>
          <a:bodyPr anchor="t" rtlCol="false" tIns="0" lIns="0" bIns="0" rIns="0">
            <a:spAutoFit/>
          </a:bodyPr>
          <a:lstStyle/>
          <a:p>
            <a:pPr algn="l">
              <a:lnSpc>
                <a:spcPts val="2926"/>
              </a:lnSpc>
            </a:pPr>
            <a:r>
              <a:rPr lang="en-US" sz="2438">
                <a:solidFill>
                  <a:srgbClr val="D6D6E4"/>
                </a:solidFill>
                <a:latin typeface="Arial"/>
                <a:ea typeface="Arial"/>
                <a:cs typeface="Arial"/>
                <a:sym typeface="Arial"/>
              </a:rPr>
              <a:t>Integrantes: Diego Padilla, Felipe Crisostomo, Ignacio Hernández</a:t>
            </a:r>
          </a:p>
        </p:txBody>
      </p:sp>
      <p:sp>
        <p:nvSpPr>
          <p:cNvPr name="TextBox 7" id="7"/>
          <p:cNvSpPr txBox="true"/>
          <p:nvPr/>
        </p:nvSpPr>
        <p:spPr>
          <a:xfrm rot="0">
            <a:off x="10291888" y="2209473"/>
            <a:ext cx="6229033" cy="391179"/>
          </a:xfrm>
          <a:prstGeom prst="rect">
            <a:avLst/>
          </a:prstGeom>
        </p:spPr>
        <p:txBody>
          <a:bodyPr anchor="t" rtlCol="false" tIns="0" lIns="0" bIns="0" rIns="0">
            <a:spAutoFit/>
          </a:bodyPr>
          <a:lstStyle/>
          <a:p>
            <a:pPr algn="l">
              <a:lnSpc>
                <a:spcPts val="3113"/>
              </a:lnSpc>
            </a:pPr>
            <a:r>
              <a:rPr lang="en-US" sz="2224" b="true">
                <a:solidFill>
                  <a:srgbClr val="FFFFFF"/>
                </a:solidFill>
                <a:latin typeface="Arimo Bold"/>
                <a:ea typeface="Arimo Bold"/>
                <a:cs typeface="Arimo Bold"/>
                <a:sym typeface="Arimo Bold"/>
                <a:hlinkClick r:id="rId4" tooltip="https://deafapp-lsch.deafapp-lsch.workers.dev"/>
              </a:rPr>
              <a:t>https://deafapp-lsch.deafapp-lsch.workers.dev</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0101F"/>
        </a:solidFill>
      </p:bgPr>
    </p:bg>
    <p:spTree>
      <p:nvGrpSpPr>
        <p:cNvPr id="1" name=""/>
        <p:cNvGrpSpPr/>
        <p:nvPr/>
      </p:nvGrpSpPr>
      <p:grpSpPr>
        <a:xfrm>
          <a:off x="0" y="0"/>
          <a:ext cx="0" cy="0"/>
          <a:chOff x="0" y="0"/>
          <a:chExt cx="0" cy="0"/>
        </a:xfrm>
      </p:grpSpPr>
      <p:grpSp>
        <p:nvGrpSpPr>
          <p:cNvPr name="Group 2" id="2"/>
          <p:cNvGrpSpPr/>
          <p:nvPr/>
        </p:nvGrpSpPr>
        <p:grpSpPr>
          <a:xfrm rot="0">
            <a:off x="6958012" y="2035948"/>
            <a:ext cx="4786312" cy="3589734"/>
            <a:chOff x="0" y="0"/>
            <a:chExt cx="6381750" cy="4786312"/>
          </a:xfrm>
        </p:grpSpPr>
        <p:sp>
          <p:nvSpPr>
            <p:cNvPr name="Freeform 3" id="3"/>
            <p:cNvSpPr/>
            <p:nvPr/>
          </p:nvSpPr>
          <p:spPr>
            <a:xfrm flipH="false" flipV="false" rot="0">
              <a:off x="0" y="0"/>
              <a:ext cx="6381750" cy="4786249"/>
            </a:xfrm>
            <a:custGeom>
              <a:avLst/>
              <a:gdLst/>
              <a:ahLst/>
              <a:cxnLst/>
              <a:rect r="r" b="b" t="t" l="l"/>
              <a:pathLst>
                <a:path h="4786249" w="6381750">
                  <a:moveTo>
                    <a:pt x="0" y="0"/>
                  </a:moveTo>
                  <a:lnTo>
                    <a:pt x="6381750" y="0"/>
                  </a:lnTo>
                  <a:lnTo>
                    <a:pt x="6381750" y="4786249"/>
                  </a:lnTo>
                  <a:lnTo>
                    <a:pt x="0" y="4786249"/>
                  </a:lnTo>
                  <a:lnTo>
                    <a:pt x="0" y="0"/>
                  </a:lnTo>
                  <a:close/>
                </a:path>
              </a:pathLst>
            </a:custGeom>
            <a:blipFill>
              <a:blip r:embed="rId3"/>
              <a:stretch>
                <a:fillRect l="0" t="0" r="0" b="-1"/>
              </a:stretch>
            </a:blipFill>
          </p:spPr>
        </p:sp>
      </p:grpSp>
      <p:grpSp>
        <p:nvGrpSpPr>
          <p:cNvPr name="Group 4" id="4"/>
          <p:cNvGrpSpPr/>
          <p:nvPr/>
        </p:nvGrpSpPr>
        <p:grpSpPr>
          <a:xfrm rot="0">
            <a:off x="12030075" y="1859288"/>
            <a:ext cx="5229225" cy="3943045"/>
            <a:chOff x="0" y="0"/>
            <a:chExt cx="6972300" cy="5257394"/>
          </a:xfrm>
        </p:grpSpPr>
        <p:sp>
          <p:nvSpPr>
            <p:cNvPr name="Freeform 5" id="5"/>
            <p:cNvSpPr/>
            <p:nvPr/>
          </p:nvSpPr>
          <p:spPr>
            <a:xfrm flipH="false" flipV="false" rot="0">
              <a:off x="0" y="0"/>
              <a:ext cx="6972300" cy="5257419"/>
            </a:xfrm>
            <a:custGeom>
              <a:avLst/>
              <a:gdLst/>
              <a:ahLst/>
              <a:cxnLst/>
              <a:rect r="r" b="b" t="t" l="l"/>
              <a:pathLst>
                <a:path h="5257419" w="6972300">
                  <a:moveTo>
                    <a:pt x="0" y="0"/>
                  </a:moveTo>
                  <a:lnTo>
                    <a:pt x="6972300" y="0"/>
                  </a:lnTo>
                  <a:lnTo>
                    <a:pt x="6972300" y="5257419"/>
                  </a:lnTo>
                  <a:lnTo>
                    <a:pt x="0" y="5257419"/>
                  </a:lnTo>
                  <a:lnTo>
                    <a:pt x="0" y="0"/>
                  </a:lnTo>
                  <a:close/>
                </a:path>
              </a:pathLst>
            </a:custGeom>
            <a:blipFill>
              <a:blip r:embed="rId4"/>
              <a:stretch>
                <a:fillRect l="0" t="0" r="0" b="0"/>
              </a:stretch>
            </a:blipFill>
          </p:spPr>
        </p:sp>
      </p:grpSp>
      <p:sp>
        <p:nvSpPr>
          <p:cNvPr name="Freeform 6" id="6"/>
          <p:cNvSpPr/>
          <p:nvPr/>
        </p:nvSpPr>
        <p:spPr>
          <a:xfrm flipH="false" flipV="false" rot="0">
            <a:off x="11444692" y="6445423"/>
            <a:ext cx="4088448" cy="3213148"/>
          </a:xfrm>
          <a:custGeom>
            <a:avLst/>
            <a:gdLst/>
            <a:ahLst/>
            <a:cxnLst/>
            <a:rect r="r" b="b" t="t" l="l"/>
            <a:pathLst>
              <a:path h="3213148" w="4088448">
                <a:moveTo>
                  <a:pt x="0" y="0"/>
                </a:moveTo>
                <a:lnTo>
                  <a:pt x="4088448" y="0"/>
                </a:lnTo>
                <a:lnTo>
                  <a:pt x="4088448" y="3213149"/>
                </a:lnTo>
                <a:lnTo>
                  <a:pt x="0" y="3213149"/>
                </a:lnTo>
                <a:lnTo>
                  <a:pt x="0" y="0"/>
                </a:lnTo>
                <a:close/>
              </a:path>
            </a:pathLst>
          </a:custGeom>
          <a:blipFill>
            <a:blip r:embed="rId5"/>
            <a:stretch>
              <a:fillRect l="-4968" t="-6662" r="-6032" b="0"/>
            </a:stretch>
          </a:blipFill>
        </p:spPr>
      </p:sp>
      <p:sp>
        <p:nvSpPr>
          <p:cNvPr name="TextBox 7" id="7"/>
          <p:cNvSpPr txBox="true"/>
          <p:nvPr/>
        </p:nvSpPr>
        <p:spPr>
          <a:xfrm rot="0">
            <a:off x="952500" y="600075"/>
            <a:ext cx="16421100" cy="1028700"/>
          </a:xfrm>
          <a:prstGeom prst="rect">
            <a:avLst/>
          </a:prstGeom>
        </p:spPr>
        <p:txBody>
          <a:bodyPr anchor="t" rtlCol="false" tIns="0" lIns="0" bIns="0" rIns="0">
            <a:spAutoFit/>
          </a:bodyPr>
          <a:lstStyle/>
          <a:p>
            <a:pPr algn="l">
              <a:lnSpc>
                <a:spcPts val="5940"/>
              </a:lnSpc>
            </a:pPr>
            <a:r>
              <a:rPr lang="en-US" sz="4950" b="true">
                <a:solidFill>
                  <a:srgbClr val="FFFFFF"/>
                </a:solidFill>
                <a:latin typeface="Arial Bold"/>
                <a:ea typeface="Arial Bold"/>
                <a:cs typeface="Arial Bold"/>
                <a:sym typeface="Arial Bold"/>
              </a:rPr>
              <a:t>Trazados de cara y manos en vivo</a:t>
            </a:r>
          </a:p>
        </p:txBody>
      </p:sp>
      <p:sp>
        <p:nvSpPr>
          <p:cNvPr name="TextBox 8" id="8"/>
          <p:cNvSpPr txBox="true"/>
          <p:nvPr/>
        </p:nvSpPr>
        <p:spPr>
          <a:xfrm rot="0">
            <a:off x="16697325" y="9682162"/>
            <a:ext cx="676275" cy="361950"/>
          </a:xfrm>
          <a:prstGeom prst="rect">
            <a:avLst/>
          </a:prstGeom>
        </p:spPr>
        <p:txBody>
          <a:bodyPr anchor="t" rtlCol="false" tIns="0" lIns="0" bIns="0" rIns="0">
            <a:spAutoFit/>
          </a:bodyPr>
          <a:lstStyle/>
          <a:p>
            <a:pPr algn="l">
              <a:lnSpc>
                <a:spcPts val="2160"/>
              </a:lnSpc>
            </a:pPr>
            <a:r>
              <a:rPr lang="en-US" sz="1800">
                <a:solidFill>
                  <a:srgbClr val="ADACBC"/>
                </a:solidFill>
                <a:latin typeface="Arial"/>
                <a:ea typeface="Arial"/>
                <a:cs typeface="Arial"/>
                <a:sym typeface="Arial"/>
              </a:rPr>
              <a:t>02</a:t>
            </a:r>
          </a:p>
        </p:txBody>
      </p:sp>
      <p:sp>
        <p:nvSpPr>
          <p:cNvPr name="TextBox 9" id="9"/>
          <p:cNvSpPr txBox="true"/>
          <p:nvPr/>
        </p:nvSpPr>
        <p:spPr>
          <a:xfrm rot="0">
            <a:off x="952500" y="9424988"/>
            <a:ext cx="15392400" cy="590550"/>
          </a:xfrm>
          <a:prstGeom prst="rect">
            <a:avLst/>
          </a:prstGeom>
        </p:spPr>
        <p:txBody>
          <a:bodyPr anchor="t" rtlCol="false" tIns="0" lIns="0" bIns="0" rIns="0">
            <a:spAutoFit/>
          </a:bodyPr>
          <a:lstStyle/>
          <a:p>
            <a:pPr algn="l">
              <a:lnSpc>
                <a:spcPts val="2160"/>
              </a:lnSpc>
            </a:pPr>
            <a:r>
              <a:rPr lang="en-US" sz="1800">
                <a:solidFill>
                  <a:srgbClr val="ADACBC"/>
                </a:solidFill>
                <a:latin typeface="Arial"/>
                <a:ea typeface="Arial"/>
                <a:cs typeface="Arial"/>
                <a:sym typeface="Arial"/>
              </a:rPr>
              <a:t>Cámara real y diagnóstico local. Los tiempos medidos excluyen la preparación inicial del modelo.</a:t>
            </a:r>
          </a:p>
        </p:txBody>
      </p:sp>
      <p:sp>
        <p:nvSpPr>
          <p:cNvPr name="TextBox 10" id="10"/>
          <p:cNvSpPr txBox="true"/>
          <p:nvPr/>
        </p:nvSpPr>
        <p:spPr>
          <a:xfrm rot="0">
            <a:off x="952500" y="2224088"/>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Seguimiento continuo</a:t>
            </a:r>
          </a:p>
        </p:txBody>
      </p:sp>
      <p:sp>
        <p:nvSpPr>
          <p:cNvPr name="TextBox 11" id="11"/>
          <p:cNvSpPr txBox="true"/>
          <p:nvPr/>
        </p:nvSpPr>
        <p:spPr>
          <a:xfrm rot="0">
            <a:off x="952500" y="2909888"/>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La cara y cada mano actualizan sus puntos sobre la imagen, sin dejar trazados congelados.</a:t>
            </a:r>
          </a:p>
        </p:txBody>
      </p:sp>
      <p:sp>
        <p:nvSpPr>
          <p:cNvPr name="TextBox 12" id="12"/>
          <p:cNvSpPr txBox="true"/>
          <p:nvPr/>
        </p:nvSpPr>
        <p:spPr>
          <a:xfrm rot="0">
            <a:off x="952500" y="4410075"/>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Manos más rápidas</a:t>
            </a:r>
          </a:p>
        </p:txBody>
      </p:sp>
      <p:sp>
        <p:nvSpPr>
          <p:cNvPr name="TextBox 13" id="13"/>
          <p:cNvSpPr txBox="true"/>
          <p:nvPr/>
        </p:nvSpPr>
        <p:spPr>
          <a:xfrm rot="0">
            <a:off x="952500" y="5095875"/>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La búsqueda guiada por la cara y el modelo reutilizado reducen la espera.</a:t>
            </a:r>
          </a:p>
        </p:txBody>
      </p:sp>
      <p:sp>
        <p:nvSpPr>
          <p:cNvPr name="TextBox 14" id="14"/>
          <p:cNvSpPr txBox="true"/>
          <p:nvPr/>
        </p:nvSpPr>
        <p:spPr>
          <a:xfrm rot="0">
            <a:off x="952500" y="6596062"/>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21 puntos por mano</a:t>
            </a:r>
          </a:p>
        </p:txBody>
      </p:sp>
      <p:sp>
        <p:nvSpPr>
          <p:cNvPr name="TextBox 15" id="15"/>
          <p:cNvSpPr txBox="true"/>
          <p:nvPr/>
        </p:nvSpPr>
        <p:spPr>
          <a:xfrm rot="0">
            <a:off x="952500" y="7281862"/>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Inferencias de 38 a 74 ms tras preparar el modelo en la prueba local.</a:t>
            </a:r>
          </a:p>
        </p:txBody>
      </p:sp>
      <p:sp>
        <p:nvSpPr>
          <p:cNvPr name="TextBox 16" id="16"/>
          <p:cNvSpPr txBox="true"/>
          <p:nvPr/>
        </p:nvSpPr>
        <p:spPr>
          <a:xfrm rot="0">
            <a:off x="7067550" y="5826298"/>
            <a:ext cx="4605338" cy="619125"/>
          </a:xfrm>
          <a:prstGeom prst="rect">
            <a:avLst/>
          </a:prstGeom>
        </p:spPr>
        <p:txBody>
          <a:bodyPr anchor="t" rtlCol="false" tIns="0" lIns="0" bIns="0" rIns="0">
            <a:spAutoFit/>
          </a:bodyPr>
          <a:lstStyle/>
          <a:p>
            <a:pPr algn="l">
              <a:lnSpc>
                <a:spcPts val="3104"/>
              </a:lnSpc>
            </a:pPr>
            <a:r>
              <a:rPr lang="en-US" sz="2587" b="true">
                <a:solidFill>
                  <a:srgbClr val="5DE0DC"/>
                </a:solidFill>
                <a:latin typeface="Arial Bold"/>
                <a:ea typeface="Arial Bold"/>
                <a:cs typeface="Arial Bold"/>
                <a:sym typeface="Arial Bold"/>
              </a:rPr>
              <a:t>Cara en cámara real</a:t>
            </a:r>
          </a:p>
        </p:txBody>
      </p:sp>
      <p:sp>
        <p:nvSpPr>
          <p:cNvPr name="TextBox 17" id="17"/>
          <p:cNvSpPr txBox="true"/>
          <p:nvPr/>
        </p:nvSpPr>
        <p:spPr>
          <a:xfrm rot="0">
            <a:off x="12153900" y="5826298"/>
            <a:ext cx="5048250" cy="619125"/>
          </a:xfrm>
          <a:prstGeom prst="rect">
            <a:avLst/>
          </a:prstGeom>
        </p:spPr>
        <p:txBody>
          <a:bodyPr anchor="t" rtlCol="false" tIns="0" lIns="0" bIns="0" rIns="0">
            <a:spAutoFit/>
          </a:bodyPr>
          <a:lstStyle/>
          <a:p>
            <a:pPr algn="l">
              <a:lnSpc>
                <a:spcPts val="3104"/>
              </a:lnSpc>
            </a:pPr>
            <a:r>
              <a:rPr lang="en-US" sz="2587" b="true">
                <a:solidFill>
                  <a:srgbClr val="5DE0DC"/>
                </a:solidFill>
                <a:latin typeface="Arial Bold"/>
                <a:ea typeface="Arial Bold"/>
                <a:cs typeface="Arial Bold"/>
                <a:sym typeface="Arial Bold"/>
              </a:rPr>
              <a:t>Manos en diagnóstico</a:t>
            </a:r>
          </a:p>
        </p:txBody>
      </p:sp>
      <p:sp>
        <p:nvSpPr>
          <p:cNvPr name="TextBox 18" id="18"/>
          <p:cNvSpPr txBox="true"/>
          <p:nvPr/>
        </p:nvSpPr>
        <p:spPr>
          <a:xfrm rot="0">
            <a:off x="11649075" y="9725025"/>
            <a:ext cx="5048250" cy="409575"/>
          </a:xfrm>
          <a:prstGeom prst="rect">
            <a:avLst/>
          </a:prstGeom>
        </p:spPr>
        <p:txBody>
          <a:bodyPr anchor="t" rtlCol="false" tIns="0" lIns="0" bIns="0" rIns="0">
            <a:spAutoFit/>
          </a:bodyPr>
          <a:lstStyle/>
          <a:p>
            <a:pPr algn="l">
              <a:lnSpc>
                <a:spcPts val="3104"/>
              </a:lnSpc>
            </a:pPr>
            <a:r>
              <a:rPr lang="en-US" sz="2587" b="true">
                <a:solidFill>
                  <a:srgbClr val="5DE0DC"/>
                </a:solidFill>
                <a:latin typeface="Arial Bold"/>
                <a:ea typeface="Arial Bold"/>
                <a:cs typeface="Arial Bold"/>
                <a:sym typeface="Arial Bold"/>
              </a:rPr>
              <a:t>Rostro y manos trazadas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0101F"/>
        </a:solidFill>
      </p:bgPr>
    </p:bg>
    <p:spTree>
      <p:nvGrpSpPr>
        <p:cNvPr id="1" name=""/>
        <p:cNvGrpSpPr/>
        <p:nvPr/>
      </p:nvGrpSpPr>
      <p:grpSpPr>
        <a:xfrm>
          <a:off x="0" y="0"/>
          <a:ext cx="0" cy="0"/>
          <a:chOff x="0" y="0"/>
          <a:chExt cx="0" cy="0"/>
        </a:xfrm>
      </p:grpSpPr>
      <p:grpSp>
        <p:nvGrpSpPr>
          <p:cNvPr name="Group 2" id="2"/>
          <p:cNvGrpSpPr/>
          <p:nvPr/>
        </p:nvGrpSpPr>
        <p:grpSpPr>
          <a:xfrm rot="0">
            <a:off x="1795487" y="2189943"/>
            <a:ext cx="5560153" cy="6589477"/>
            <a:chOff x="0" y="0"/>
            <a:chExt cx="8783155" cy="10409138"/>
          </a:xfrm>
        </p:grpSpPr>
        <p:sp>
          <p:nvSpPr>
            <p:cNvPr name="Freeform 3" id="3"/>
            <p:cNvSpPr/>
            <p:nvPr/>
          </p:nvSpPr>
          <p:spPr>
            <a:xfrm flipH="false" flipV="false" rot="0">
              <a:off x="0" y="0"/>
              <a:ext cx="8783193" cy="10409138"/>
            </a:xfrm>
            <a:custGeom>
              <a:avLst/>
              <a:gdLst/>
              <a:ahLst/>
              <a:cxnLst/>
              <a:rect r="r" b="b" t="t" l="l"/>
              <a:pathLst>
                <a:path h="10409138" w="8783193">
                  <a:moveTo>
                    <a:pt x="0" y="0"/>
                  </a:moveTo>
                  <a:lnTo>
                    <a:pt x="8783193" y="0"/>
                  </a:lnTo>
                  <a:lnTo>
                    <a:pt x="8783193" y="10409138"/>
                  </a:lnTo>
                  <a:lnTo>
                    <a:pt x="0" y="10409138"/>
                  </a:lnTo>
                  <a:lnTo>
                    <a:pt x="0" y="0"/>
                  </a:lnTo>
                  <a:close/>
                </a:path>
              </a:pathLst>
            </a:custGeom>
            <a:blipFill>
              <a:blip r:embed="rId3"/>
              <a:stretch>
                <a:fillRect l="0" t="-674" r="0" b="-674"/>
              </a:stretch>
            </a:blipFill>
          </p:spPr>
        </p:sp>
      </p:grpSp>
      <p:grpSp>
        <p:nvGrpSpPr>
          <p:cNvPr name="Group 4" id="4"/>
          <p:cNvGrpSpPr/>
          <p:nvPr/>
        </p:nvGrpSpPr>
        <p:grpSpPr>
          <a:xfrm rot="0">
            <a:off x="12398964" y="2189943"/>
            <a:ext cx="4262606" cy="7265207"/>
            <a:chOff x="0" y="0"/>
            <a:chExt cx="6706395" cy="11430413"/>
          </a:xfrm>
        </p:grpSpPr>
        <p:sp>
          <p:nvSpPr>
            <p:cNvPr name="Freeform 5" id="5"/>
            <p:cNvSpPr/>
            <p:nvPr/>
          </p:nvSpPr>
          <p:spPr>
            <a:xfrm flipH="false" flipV="false" rot="0">
              <a:off x="0" y="0"/>
              <a:ext cx="6706446" cy="11430413"/>
            </a:xfrm>
            <a:custGeom>
              <a:avLst/>
              <a:gdLst/>
              <a:ahLst/>
              <a:cxnLst/>
              <a:rect r="r" b="b" t="t" l="l"/>
              <a:pathLst>
                <a:path h="11430413" w="6706446">
                  <a:moveTo>
                    <a:pt x="0" y="0"/>
                  </a:moveTo>
                  <a:lnTo>
                    <a:pt x="6706446" y="0"/>
                  </a:lnTo>
                  <a:lnTo>
                    <a:pt x="6706446" y="11430413"/>
                  </a:lnTo>
                  <a:lnTo>
                    <a:pt x="0" y="11430413"/>
                  </a:lnTo>
                  <a:lnTo>
                    <a:pt x="0" y="0"/>
                  </a:lnTo>
                  <a:close/>
                </a:path>
              </a:pathLst>
            </a:custGeom>
            <a:blipFill>
              <a:blip r:embed="rId4"/>
              <a:stretch>
                <a:fillRect l="0" t="-13601" r="0" b="-13601"/>
              </a:stretch>
            </a:blipFill>
          </p:spPr>
        </p:sp>
      </p:grpSp>
      <p:sp>
        <p:nvSpPr>
          <p:cNvPr name="TextBox 6" id="6"/>
          <p:cNvSpPr txBox="true"/>
          <p:nvPr/>
        </p:nvSpPr>
        <p:spPr>
          <a:xfrm rot="0">
            <a:off x="952500" y="600075"/>
            <a:ext cx="16421100" cy="1028700"/>
          </a:xfrm>
          <a:prstGeom prst="rect">
            <a:avLst/>
          </a:prstGeom>
        </p:spPr>
        <p:txBody>
          <a:bodyPr anchor="t" rtlCol="false" tIns="0" lIns="0" bIns="0" rIns="0">
            <a:spAutoFit/>
          </a:bodyPr>
          <a:lstStyle/>
          <a:p>
            <a:pPr algn="l">
              <a:lnSpc>
                <a:spcPts val="5940"/>
              </a:lnSpc>
            </a:pPr>
            <a:r>
              <a:rPr lang="en-US" sz="4950" b="true">
                <a:solidFill>
                  <a:srgbClr val="FFFFFF"/>
                </a:solidFill>
                <a:latin typeface="Arial Bold"/>
                <a:ea typeface="Arial Bold"/>
                <a:cs typeface="Arial Bold"/>
                <a:sym typeface="Arial Bold"/>
              </a:rPr>
              <a:t>Cámara automática y más estable</a:t>
            </a:r>
          </a:p>
        </p:txBody>
      </p:sp>
      <p:sp>
        <p:nvSpPr>
          <p:cNvPr name="TextBox 7" id="7"/>
          <p:cNvSpPr txBox="true"/>
          <p:nvPr/>
        </p:nvSpPr>
        <p:spPr>
          <a:xfrm rot="0">
            <a:off x="8482725" y="9853612"/>
            <a:ext cx="15392400" cy="590550"/>
          </a:xfrm>
          <a:prstGeom prst="rect">
            <a:avLst/>
          </a:prstGeom>
        </p:spPr>
        <p:txBody>
          <a:bodyPr anchor="t" rtlCol="false" tIns="0" lIns="0" bIns="0" rIns="0">
            <a:spAutoFit/>
          </a:bodyPr>
          <a:lstStyle/>
          <a:p>
            <a:pPr algn="l">
              <a:lnSpc>
                <a:spcPts val="2160"/>
              </a:lnSpc>
            </a:pPr>
            <a:r>
              <a:rPr lang="en-US" sz="1800">
                <a:solidFill>
                  <a:srgbClr val="ADACBC"/>
                </a:solidFill>
                <a:latin typeface="Arial"/>
                <a:ea typeface="Arial"/>
                <a:cs typeface="Arial"/>
                <a:sym typeface="Arial"/>
              </a:rPr>
              <a:t>Prueba local con cámara simulada. El celular se comprobó con emulación del navegador.</a:t>
            </a:r>
          </a:p>
        </p:txBody>
      </p:sp>
      <p:sp>
        <p:nvSpPr>
          <p:cNvPr name="TextBox 8" id="8"/>
          <p:cNvSpPr txBox="true"/>
          <p:nvPr/>
        </p:nvSpPr>
        <p:spPr>
          <a:xfrm rot="0">
            <a:off x="3517066" y="1609725"/>
            <a:ext cx="8248650"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PC · 4:3</a:t>
            </a:r>
          </a:p>
        </p:txBody>
      </p:sp>
      <p:sp>
        <p:nvSpPr>
          <p:cNvPr name="TextBox 9" id="9"/>
          <p:cNvSpPr txBox="true"/>
          <p:nvPr/>
        </p:nvSpPr>
        <p:spPr>
          <a:xfrm rot="0">
            <a:off x="12802051" y="1542243"/>
            <a:ext cx="5819775"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Celular · 9:16</a:t>
            </a:r>
          </a:p>
        </p:txBody>
      </p:sp>
      <p:sp>
        <p:nvSpPr>
          <p:cNvPr name="TextBox 10" id="10"/>
          <p:cNvSpPr txBox="true"/>
          <p:nvPr/>
        </p:nvSpPr>
        <p:spPr>
          <a:xfrm rot="0">
            <a:off x="154499" y="8916516"/>
            <a:ext cx="9463088" cy="140493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Formato según el dispositivo. Se corrigieron fallos de inicio y se añadió Reiniciar cámara para recuperar la conexión.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0101F"/>
        </a:solidFill>
      </p:bgPr>
    </p:bg>
    <p:spTree>
      <p:nvGrpSpPr>
        <p:cNvPr id="1" name=""/>
        <p:cNvGrpSpPr/>
        <p:nvPr/>
      </p:nvGrpSpPr>
      <p:grpSpPr>
        <a:xfrm>
          <a:off x="0" y="0"/>
          <a:ext cx="0" cy="0"/>
          <a:chOff x="0" y="0"/>
          <a:chExt cx="0" cy="0"/>
        </a:xfrm>
      </p:grpSpPr>
      <p:grpSp>
        <p:nvGrpSpPr>
          <p:cNvPr name="Group 2" id="2"/>
          <p:cNvGrpSpPr/>
          <p:nvPr/>
        </p:nvGrpSpPr>
        <p:grpSpPr>
          <a:xfrm rot="0">
            <a:off x="8909028" y="1900238"/>
            <a:ext cx="6627866" cy="7315200"/>
            <a:chOff x="0" y="0"/>
            <a:chExt cx="8837155" cy="9753600"/>
          </a:xfrm>
        </p:grpSpPr>
        <p:sp>
          <p:nvSpPr>
            <p:cNvPr name="Freeform 3" id="3"/>
            <p:cNvSpPr/>
            <p:nvPr/>
          </p:nvSpPr>
          <p:spPr>
            <a:xfrm flipH="false" flipV="false" rot="0">
              <a:off x="0" y="0"/>
              <a:ext cx="8837168" cy="9753600"/>
            </a:xfrm>
            <a:custGeom>
              <a:avLst/>
              <a:gdLst/>
              <a:ahLst/>
              <a:cxnLst/>
              <a:rect r="r" b="b" t="t" l="l"/>
              <a:pathLst>
                <a:path h="9753600" w="8837168">
                  <a:moveTo>
                    <a:pt x="0" y="0"/>
                  </a:moveTo>
                  <a:lnTo>
                    <a:pt x="8837168" y="0"/>
                  </a:lnTo>
                  <a:lnTo>
                    <a:pt x="8837168" y="9753600"/>
                  </a:lnTo>
                  <a:lnTo>
                    <a:pt x="0" y="9753600"/>
                  </a:lnTo>
                  <a:lnTo>
                    <a:pt x="0" y="0"/>
                  </a:lnTo>
                  <a:close/>
                </a:path>
              </a:pathLst>
            </a:custGeom>
            <a:blipFill>
              <a:blip r:embed="rId3"/>
              <a:stretch>
                <a:fillRect l="-653" t="0" r="-653" b="0"/>
              </a:stretch>
            </a:blipFill>
          </p:spPr>
        </p:sp>
      </p:grpSp>
      <p:sp>
        <p:nvSpPr>
          <p:cNvPr name="TextBox 4" id="4"/>
          <p:cNvSpPr txBox="true"/>
          <p:nvPr/>
        </p:nvSpPr>
        <p:spPr>
          <a:xfrm rot="0">
            <a:off x="952500" y="600075"/>
            <a:ext cx="16421100" cy="1028700"/>
          </a:xfrm>
          <a:prstGeom prst="rect">
            <a:avLst/>
          </a:prstGeom>
        </p:spPr>
        <p:txBody>
          <a:bodyPr anchor="t" rtlCol="false" tIns="0" lIns="0" bIns="0" rIns="0">
            <a:spAutoFit/>
          </a:bodyPr>
          <a:lstStyle/>
          <a:p>
            <a:pPr algn="l">
              <a:lnSpc>
                <a:spcPts val="5940"/>
              </a:lnSpc>
            </a:pPr>
            <a:r>
              <a:rPr lang="en-US" sz="4950" b="true">
                <a:solidFill>
                  <a:srgbClr val="FFFFFF"/>
                </a:solidFill>
                <a:latin typeface="Arial Bold"/>
                <a:ea typeface="Arial Bold"/>
                <a:cs typeface="Arial Bold"/>
                <a:sym typeface="Arial Bold"/>
              </a:rPr>
              <a:t>Grabación con una o dos manos</a:t>
            </a:r>
          </a:p>
        </p:txBody>
      </p:sp>
      <p:sp>
        <p:nvSpPr>
          <p:cNvPr name="TextBox 5" id="5"/>
          <p:cNvSpPr txBox="true"/>
          <p:nvPr/>
        </p:nvSpPr>
        <p:spPr>
          <a:xfrm rot="0">
            <a:off x="952500" y="9424988"/>
            <a:ext cx="15392400" cy="590550"/>
          </a:xfrm>
          <a:prstGeom prst="rect">
            <a:avLst/>
          </a:prstGeom>
        </p:spPr>
        <p:txBody>
          <a:bodyPr anchor="t" rtlCol="false" tIns="0" lIns="0" bIns="0" rIns="0">
            <a:spAutoFit/>
          </a:bodyPr>
          <a:lstStyle/>
          <a:p>
            <a:pPr algn="l">
              <a:lnSpc>
                <a:spcPts val="2160"/>
              </a:lnSpc>
            </a:pPr>
            <a:r>
              <a:rPr lang="en-US" sz="1800">
                <a:solidFill>
                  <a:srgbClr val="ADACBC"/>
                </a:solidFill>
                <a:latin typeface="Arial"/>
                <a:ea typeface="Arial"/>
                <a:cs typeface="Arial"/>
                <a:sym typeface="Arial"/>
              </a:rPr>
              <a:t>Captura real del flujo de preparación. Confirmar ambas manos una vez permite grabar después con una.</a:t>
            </a:r>
          </a:p>
        </p:txBody>
      </p:sp>
      <p:sp>
        <p:nvSpPr>
          <p:cNvPr name="TextBox 6" id="6"/>
          <p:cNvSpPr txBox="true"/>
          <p:nvPr/>
        </p:nvSpPr>
        <p:spPr>
          <a:xfrm rot="0">
            <a:off x="952500" y="2224088"/>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Preparar y colocarse</a:t>
            </a:r>
          </a:p>
        </p:txBody>
      </p:sp>
      <p:sp>
        <p:nvSpPr>
          <p:cNvPr name="TextBox 7" id="7"/>
          <p:cNvSpPr txBox="true"/>
          <p:nvPr/>
        </p:nvSpPr>
        <p:spPr>
          <a:xfrm rot="0">
            <a:off x="952500" y="2909888"/>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Pulsas el botón primero. La confirmación de ambas manos inicia la cuenta atrás.</a:t>
            </a:r>
          </a:p>
        </p:txBody>
      </p:sp>
      <p:sp>
        <p:nvSpPr>
          <p:cNvPr name="TextBox 8" id="8"/>
          <p:cNvSpPr txBox="true"/>
          <p:nvPr/>
        </p:nvSpPr>
        <p:spPr>
          <a:xfrm rot="0">
            <a:off x="952500" y="4410075"/>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Una mano también sirve</a:t>
            </a:r>
          </a:p>
        </p:txBody>
      </p:sp>
      <p:sp>
        <p:nvSpPr>
          <p:cNvPr name="TextBox 9" id="9"/>
          <p:cNvSpPr txBox="true"/>
          <p:nvPr/>
        </p:nvSpPr>
        <p:spPr>
          <a:xfrm rot="0">
            <a:off x="952500" y="5095875"/>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Después puedes hacer la seña con una o dos manos trazadas. Se puede cancelar.</a:t>
            </a:r>
          </a:p>
        </p:txBody>
      </p:sp>
      <p:sp>
        <p:nvSpPr>
          <p:cNvPr name="TextBox 10" id="10"/>
          <p:cNvSpPr txBox="true"/>
          <p:nvPr/>
        </p:nvSpPr>
        <p:spPr>
          <a:xfrm rot="0">
            <a:off x="952500" y="6596062"/>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Ayuda contextual</a:t>
            </a:r>
          </a:p>
        </p:txBody>
      </p:sp>
      <p:sp>
        <p:nvSpPr>
          <p:cNvPr name="TextBox 11" id="11"/>
          <p:cNvSpPr txBox="true"/>
          <p:nvPr/>
        </p:nvSpPr>
        <p:spPr>
          <a:xfrm rot="0">
            <a:off x="952500" y="7281862"/>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Los mensajes sugieren separar las manos, mejorar la luz y volver a mostrarlas.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0101F"/>
        </a:solidFill>
      </p:bgPr>
    </p:bg>
    <p:spTree>
      <p:nvGrpSpPr>
        <p:cNvPr id="1" name=""/>
        <p:cNvGrpSpPr/>
        <p:nvPr/>
      </p:nvGrpSpPr>
      <p:grpSpPr>
        <a:xfrm>
          <a:off x="0" y="0"/>
          <a:ext cx="0" cy="0"/>
          <a:chOff x="0" y="0"/>
          <a:chExt cx="0" cy="0"/>
        </a:xfrm>
      </p:grpSpPr>
      <p:sp>
        <p:nvSpPr>
          <p:cNvPr name="TextBox 2" id="2"/>
          <p:cNvSpPr txBox="true"/>
          <p:nvPr/>
        </p:nvSpPr>
        <p:spPr>
          <a:xfrm rot="0">
            <a:off x="952500" y="600075"/>
            <a:ext cx="16421100" cy="1028700"/>
          </a:xfrm>
          <a:prstGeom prst="rect">
            <a:avLst/>
          </a:prstGeom>
        </p:spPr>
        <p:txBody>
          <a:bodyPr anchor="t" rtlCol="false" tIns="0" lIns="0" bIns="0" rIns="0">
            <a:spAutoFit/>
          </a:bodyPr>
          <a:lstStyle/>
          <a:p>
            <a:pPr algn="l">
              <a:lnSpc>
                <a:spcPts val="5940"/>
              </a:lnSpc>
            </a:pPr>
            <a:r>
              <a:rPr lang="en-US" sz="4950" b="true">
                <a:solidFill>
                  <a:srgbClr val="FFFFFF"/>
                </a:solidFill>
                <a:latin typeface="Arial Bold"/>
                <a:ea typeface="Arial Bold"/>
                <a:cs typeface="Arial Bold"/>
                <a:sym typeface="Arial Bold"/>
              </a:rPr>
              <a:t>Filtro del dedo medio levantado</a:t>
            </a:r>
          </a:p>
        </p:txBody>
      </p:sp>
      <p:sp>
        <p:nvSpPr>
          <p:cNvPr name="TextBox 3" id="3"/>
          <p:cNvSpPr txBox="true"/>
          <p:nvPr/>
        </p:nvSpPr>
        <p:spPr>
          <a:xfrm rot="0">
            <a:off x="952500" y="9424988"/>
            <a:ext cx="15392400" cy="590550"/>
          </a:xfrm>
          <a:prstGeom prst="rect">
            <a:avLst/>
          </a:prstGeom>
        </p:spPr>
        <p:txBody>
          <a:bodyPr anchor="t" rtlCol="false" tIns="0" lIns="0" bIns="0" rIns="0">
            <a:spAutoFit/>
          </a:bodyPr>
          <a:lstStyle/>
          <a:p>
            <a:pPr algn="l">
              <a:lnSpc>
                <a:spcPts val="2160"/>
              </a:lnSpc>
            </a:pPr>
            <a:r>
              <a:rPr lang="en-US" sz="1800">
                <a:solidFill>
                  <a:srgbClr val="ADACBC"/>
                </a:solidFill>
                <a:latin typeface="Arial"/>
                <a:ea typeface="Arial"/>
                <a:cs typeface="Arial"/>
                <a:sym typeface="Arial"/>
              </a:rPr>
              <a:t>Captura de la interfaz durante una prueba controlada del filtro</a:t>
            </a:r>
          </a:p>
        </p:txBody>
      </p:sp>
      <p:sp>
        <p:nvSpPr>
          <p:cNvPr name="TextBox 4" id="4"/>
          <p:cNvSpPr txBox="true"/>
          <p:nvPr/>
        </p:nvSpPr>
        <p:spPr>
          <a:xfrm rot="0">
            <a:off x="952500" y="2224088"/>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Aviso sobre el gesto</a:t>
            </a:r>
          </a:p>
        </p:txBody>
      </p:sp>
      <p:sp>
        <p:nvSpPr>
          <p:cNvPr name="TextBox 5" id="5"/>
          <p:cNvSpPr txBox="true"/>
          <p:nvPr/>
        </p:nvSpPr>
        <p:spPr>
          <a:xfrm rot="0">
            <a:off x="952500" y="2909888"/>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La pantalla muestra el motivo cuando detecta el dedo medio levantado.</a:t>
            </a:r>
          </a:p>
        </p:txBody>
      </p:sp>
      <p:sp>
        <p:nvSpPr>
          <p:cNvPr name="TextBox 6" id="6"/>
          <p:cNvSpPr txBox="true"/>
          <p:nvPr/>
        </p:nvSpPr>
        <p:spPr>
          <a:xfrm rot="0">
            <a:off x="952500" y="4410075"/>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Grabación bloqueada</a:t>
            </a:r>
          </a:p>
        </p:txBody>
      </p:sp>
      <p:sp>
        <p:nvSpPr>
          <p:cNvPr name="TextBox 7" id="7"/>
          <p:cNvSpPr txBox="true"/>
          <p:nvPr/>
        </p:nvSpPr>
        <p:spPr>
          <a:xfrm rot="0">
            <a:off x="952500" y="5095875"/>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El filtro impide preparar o completar una toma que contiene ese gesto.</a:t>
            </a:r>
          </a:p>
        </p:txBody>
      </p:sp>
      <p:sp>
        <p:nvSpPr>
          <p:cNvPr name="TextBox 8" id="8"/>
          <p:cNvSpPr txBox="true"/>
          <p:nvPr/>
        </p:nvSpPr>
        <p:spPr>
          <a:xfrm rot="0">
            <a:off x="952500" y="6596062"/>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Alcance definido</a:t>
            </a:r>
          </a:p>
        </p:txBody>
      </p:sp>
      <p:sp>
        <p:nvSpPr>
          <p:cNvPr name="TextBox 9" id="9"/>
          <p:cNvSpPr txBox="true"/>
          <p:nvPr/>
        </p:nvSpPr>
        <p:spPr>
          <a:xfrm rot="0">
            <a:off x="952500" y="7281862"/>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Otros gestos requieren ejemplos y revisión para proteger las señas válidas.</a:t>
            </a:r>
          </a:p>
        </p:txBody>
      </p:sp>
      <p:grpSp>
        <p:nvGrpSpPr>
          <p:cNvPr name="Group 10" id="10"/>
          <p:cNvGrpSpPr/>
          <p:nvPr/>
        </p:nvGrpSpPr>
        <p:grpSpPr>
          <a:xfrm rot="0">
            <a:off x="7072312" y="2176691"/>
            <a:ext cx="10301288" cy="6762293"/>
            <a:chOff x="0" y="0"/>
            <a:chExt cx="13735050" cy="9016390"/>
          </a:xfrm>
        </p:grpSpPr>
        <p:sp>
          <p:nvSpPr>
            <p:cNvPr name="Freeform 11" id="11"/>
            <p:cNvSpPr/>
            <p:nvPr/>
          </p:nvSpPr>
          <p:spPr>
            <a:xfrm flipH="false" flipV="false" rot="0">
              <a:off x="0" y="0"/>
              <a:ext cx="13735050" cy="9016365"/>
            </a:xfrm>
            <a:custGeom>
              <a:avLst/>
              <a:gdLst/>
              <a:ahLst/>
              <a:cxnLst/>
              <a:rect r="r" b="b" t="t" l="l"/>
              <a:pathLst>
                <a:path h="9016365" w="13735050">
                  <a:moveTo>
                    <a:pt x="0" y="0"/>
                  </a:moveTo>
                  <a:lnTo>
                    <a:pt x="13735050" y="0"/>
                  </a:lnTo>
                  <a:lnTo>
                    <a:pt x="13735050" y="9016365"/>
                  </a:lnTo>
                  <a:lnTo>
                    <a:pt x="0" y="9016365"/>
                  </a:lnTo>
                  <a:lnTo>
                    <a:pt x="0" y="0"/>
                  </a:lnTo>
                  <a:close/>
                </a:path>
              </a:pathLst>
            </a:custGeom>
            <a:blipFill>
              <a:blip r:embed="rId3"/>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0101F"/>
        </a:solidFill>
      </p:bgPr>
    </p:bg>
    <p:spTree>
      <p:nvGrpSpPr>
        <p:cNvPr id="1" name=""/>
        <p:cNvGrpSpPr/>
        <p:nvPr/>
      </p:nvGrpSpPr>
      <p:grpSpPr>
        <a:xfrm>
          <a:off x="0" y="0"/>
          <a:ext cx="0" cy="0"/>
          <a:chOff x="0" y="0"/>
          <a:chExt cx="0" cy="0"/>
        </a:xfrm>
      </p:grpSpPr>
      <p:sp>
        <p:nvSpPr>
          <p:cNvPr name="Freeform 2" id="2"/>
          <p:cNvSpPr/>
          <p:nvPr/>
        </p:nvSpPr>
        <p:spPr>
          <a:xfrm flipH="false" flipV="false" rot="0">
            <a:off x="11015608" y="6798845"/>
            <a:ext cx="4839608" cy="2902367"/>
          </a:xfrm>
          <a:custGeom>
            <a:avLst/>
            <a:gdLst/>
            <a:ahLst/>
            <a:cxnLst/>
            <a:rect r="r" b="b" t="t" l="l"/>
            <a:pathLst>
              <a:path h="2902367" w="4839608">
                <a:moveTo>
                  <a:pt x="0" y="0"/>
                </a:moveTo>
                <a:lnTo>
                  <a:pt x="4839608" y="0"/>
                </a:lnTo>
                <a:lnTo>
                  <a:pt x="4839608" y="2902367"/>
                </a:lnTo>
                <a:lnTo>
                  <a:pt x="0" y="2902367"/>
                </a:lnTo>
                <a:lnTo>
                  <a:pt x="0" y="0"/>
                </a:lnTo>
                <a:close/>
              </a:path>
            </a:pathLst>
          </a:custGeom>
          <a:blipFill>
            <a:blip r:embed="rId3"/>
            <a:stretch>
              <a:fillRect l="0" t="-142" r="0" b="-142"/>
            </a:stretch>
          </a:blipFill>
        </p:spPr>
      </p:sp>
      <p:grpSp>
        <p:nvGrpSpPr>
          <p:cNvPr name="Group 3" id="3"/>
          <p:cNvGrpSpPr/>
          <p:nvPr/>
        </p:nvGrpSpPr>
        <p:grpSpPr>
          <a:xfrm rot="0">
            <a:off x="11015608" y="1351557"/>
            <a:ext cx="4839608" cy="5525480"/>
            <a:chOff x="0" y="0"/>
            <a:chExt cx="8542896" cy="9753600"/>
          </a:xfrm>
        </p:grpSpPr>
        <p:sp>
          <p:nvSpPr>
            <p:cNvPr name="Freeform 4" id="4"/>
            <p:cNvSpPr/>
            <p:nvPr/>
          </p:nvSpPr>
          <p:spPr>
            <a:xfrm flipH="false" flipV="false" rot="0">
              <a:off x="0" y="0"/>
              <a:ext cx="8542909" cy="9753600"/>
            </a:xfrm>
            <a:custGeom>
              <a:avLst/>
              <a:gdLst/>
              <a:ahLst/>
              <a:cxnLst/>
              <a:rect r="r" b="b" t="t" l="l"/>
              <a:pathLst>
                <a:path h="9753600" w="8542909">
                  <a:moveTo>
                    <a:pt x="0" y="0"/>
                  </a:moveTo>
                  <a:lnTo>
                    <a:pt x="8542909" y="0"/>
                  </a:lnTo>
                  <a:lnTo>
                    <a:pt x="8542909" y="9753600"/>
                  </a:lnTo>
                  <a:lnTo>
                    <a:pt x="0" y="9753600"/>
                  </a:lnTo>
                  <a:lnTo>
                    <a:pt x="0" y="0"/>
                  </a:lnTo>
                  <a:close/>
                </a:path>
              </a:pathLst>
            </a:custGeom>
            <a:blipFill>
              <a:blip r:embed="rId4"/>
              <a:stretch>
                <a:fillRect l="0" t="-7595" r="0" b="-7595"/>
              </a:stretch>
            </a:blipFill>
          </p:spPr>
        </p:sp>
      </p:grpSp>
      <p:sp>
        <p:nvSpPr>
          <p:cNvPr name="TextBox 5" id="5"/>
          <p:cNvSpPr txBox="true"/>
          <p:nvPr/>
        </p:nvSpPr>
        <p:spPr>
          <a:xfrm rot="0">
            <a:off x="952500" y="600075"/>
            <a:ext cx="16421100" cy="1028700"/>
          </a:xfrm>
          <a:prstGeom prst="rect">
            <a:avLst/>
          </a:prstGeom>
        </p:spPr>
        <p:txBody>
          <a:bodyPr anchor="t" rtlCol="false" tIns="0" lIns="0" bIns="0" rIns="0">
            <a:spAutoFit/>
          </a:bodyPr>
          <a:lstStyle/>
          <a:p>
            <a:pPr algn="l">
              <a:lnSpc>
                <a:spcPts val="5940"/>
              </a:lnSpc>
            </a:pPr>
            <a:r>
              <a:rPr lang="en-US" sz="4950" b="true">
                <a:solidFill>
                  <a:srgbClr val="FFFFFF"/>
                </a:solidFill>
                <a:latin typeface="Arial Bold"/>
                <a:ea typeface="Arial Bold"/>
                <a:cs typeface="Arial Bold"/>
                <a:sym typeface="Arial Bold"/>
              </a:rPr>
              <a:t>Revisión, guardado y envío de la toma</a:t>
            </a:r>
          </a:p>
        </p:txBody>
      </p:sp>
      <p:sp>
        <p:nvSpPr>
          <p:cNvPr name="TextBox 6" id="6"/>
          <p:cNvSpPr txBox="true"/>
          <p:nvPr/>
        </p:nvSpPr>
        <p:spPr>
          <a:xfrm rot="0">
            <a:off x="952500" y="9424988"/>
            <a:ext cx="15392400" cy="590550"/>
          </a:xfrm>
          <a:prstGeom prst="rect">
            <a:avLst/>
          </a:prstGeom>
        </p:spPr>
        <p:txBody>
          <a:bodyPr anchor="t" rtlCol="false" tIns="0" lIns="0" bIns="0" rIns="0">
            <a:spAutoFit/>
          </a:bodyPr>
          <a:lstStyle/>
          <a:p>
            <a:pPr algn="l">
              <a:lnSpc>
                <a:spcPts val="2160"/>
              </a:lnSpc>
            </a:pPr>
            <a:r>
              <a:rPr lang="en-US" sz="1800">
                <a:solidFill>
                  <a:srgbClr val="ADACBC"/>
                </a:solidFill>
                <a:latin typeface="Arial"/>
                <a:ea typeface="Arial"/>
                <a:cs typeface="Arial"/>
                <a:sym typeface="Arial"/>
              </a:rPr>
              <a:t>Captura de la interfaz real con una toma y un fallo de conexión simulados para comprobar el flujo</a:t>
            </a:r>
          </a:p>
        </p:txBody>
      </p:sp>
      <p:sp>
        <p:nvSpPr>
          <p:cNvPr name="TextBox 7" id="7"/>
          <p:cNvSpPr txBox="true"/>
          <p:nvPr/>
        </p:nvSpPr>
        <p:spPr>
          <a:xfrm rot="0">
            <a:off x="952500" y="2224088"/>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Revisar antes de enviar</a:t>
            </a:r>
          </a:p>
        </p:txBody>
      </p:sp>
      <p:sp>
        <p:nvSpPr>
          <p:cNvPr name="TextBox 8" id="8"/>
          <p:cNvSpPr txBox="true"/>
          <p:nvPr/>
        </p:nvSpPr>
        <p:spPr>
          <a:xfrm rot="0">
            <a:off x="952500" y="2909888"/>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Puedes reproducir, pausar o repetir la secuencia. El envío comienza al elegirlo.</a:t>
            </a:r>
          </a:p>
        </p:txBody>
      </p:sp>
      <p:sp>
        <p:nvSpPr>
          <p:cNvPr name="TextBox 9" id="9"/>
          <p:cNvSpPr txBox="true"/>
          <p:nvPr/>
        </p:nvSpPr>
        <p:spPr>
          <a:xfrm rot="0">
            <a:off x="952500" y="4410075"/>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Guardar para después</a:t>
            </a:r>
          </a:p>
        </p:txBody>
      </p:sp>
      <p:sp>
        <p:nvSpPr>
          <p:cNvPr name="TextBox 10" id="10"/>
          <p:cNvSpPr txBox="true"/>
          <p:nvPr/>
        </p:nvSpPr>
        <p:spPr>
          <a:xfrm rot="0">
            <a:off x="952500" y="5095875"/>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La toma pendiente se recupera al volver a abrir la misma web en ese navegador.</a:t>
            </a:r>
          </a:p>
        </p:txBody>
      </p:sp>
      <p:sp>
        <p:nvSpPr>
          <p:cNvPr name="TextBox 11" id="11"/>
          <p:cNvSpPr txBox="true"/>
          <p:nvPr/>
        </p:nvSpPr>
        <p:spPr>
          <a:xfrm rot="0">
            <a:off x="952500" y="6596062"/>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Reintentos sin duplicar</a:t>
            </a:r>
          </a:p>
        </p:txBody>
      </p:sp>
      <p:sp>
        <p:nvSpPr>
          <p:cNvPr name="TextBox 12" id="12"/>
          <p:cNvSpPr txBox="true"/>
          <p:nvPr/>
        </p:nvSpPr>
        <p:spPr>
          <a:xfrm rot="0">
            <a:off x="952500" y="7281862"/>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Si falla la conexión, la toma se conserva y la subida comprueba los pasos previos.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0101F"/>
        </a:solidFill>
      </p:bgPr>
    </p:bg>
    <p:spTree>
      <p:nvGrpSpPr>
        <p:cNvPr id="1" name=""/>
        <p:cNvGrpSpPr/>
        <p:nvPr/>
      </p:nvGrpSpPr>
      <p:grpSpPr>
        <a:xfrm>
          <a:off x="0" y="0"/>
          <a:ext cx="0" cy="0"/>
          <a:chOff x="0" y="0"/>
          <a:chExt cx="0" cy="0"/>
        </a:xfrm>
      </p:grpSpPr>
      <p:sp>
        <p:nvSpPr>
          <p:cNvPr name="TextBox 2" id="2"/>
          <p:cNvSpPr txBox="true"/>
          <p:nvPr/>
        </p:nvSpPr>
        <p:spPr>
          <a:xfrm rot="0">
            <a:off x="952500" y="600075"/>
            <a:ext cx="16421100" cy="781050"/>
          </a:xfrm>
          <a:prstGeom prst="rect">
            <a:avLst/>
          </a:prstGeom>
        </p:spPr>
        <p:txBody>
          <a:bodyPr anchor="t" rtlCol="false" tIns="0" lIns="0" bIns="0" rIns="0">
            <a:spAutoFit/>
          </a:bodyPr>
          <a:lstStyle/>
          <a:p>
            <a:pPr algn="l">
              <a:lnSpc>
                <a:spcPts val="5940"/>
              </a:lnSpc>
            </a:pPr>
            <a:r>
              <a:rPr lang="en-US" sz="4950" b="true">
                <a:solidFill>
                  <a:srgbClr val="FFFFFF"/>
                </a:solidFill>
                <a:latin typeface="Arial Bold"/>
                <a:ea typeface="Arial Bold"/>
                <a:cs typeface="Arial Bold"/>
                <a:sym typeface="Arial Bold"/>
              </a:rPr>
              <a:t>Interfaz pública y administrador oculto</a:t>
            </a:r>
          </a:p>
        </p:txBody>
      </p:sp>
      <p:sp>
        <p:nvSpPr>
          <p:cNvPr name="TextBox 3" id="3"/>
          <p:cNvSpPr txBox="true"/>
          <p:nvPr/>
        </p:nvSpPr>
        <p:spPr>
          <a:xfrm rot="0">
            <a:off x="952500" y="9424988"/>
            <a:ext cx="15392400" cy="590550"/>
          </a:xfrm>
          <a:prstGeom prst="rect">
            <a:avLst/>
          </a:prstGeom>
        </p:spPr>
        <p:txBody>
          <a:bodyPr anchor="t" rtlCol="false" tIns="0" lIns="0" bIns="0" rIns="0">
            <a:spAutoFit/>
          </a:bodyPr>
          <a:lstStyle/>
          <a:p>
            <a:pPr algn="l">
              <a:lnSpc>
                <a:spcPts val="2160"/>
              </a:lnSpc>
            </a:pPr>
            <a:r>
              <a:rPr lang="en-US" sz="1800">
                <a:solidFill>
                  <a:srgbClr val="ADACBC"/>
                </a:solidFill>
                <a:latin typeface="Arial"/>
                <a:ea typeface="Arial"/>
                <a:cs typeface="Arial"/>
                <a:sym typeface="Arial"/>
              </a:rPr>
              <a:t>Capturas actuales del acceso privado y los controles de grabación sin selector de personas</a:t>
            </a:r>
          </a:p>
        </p:txBody>
      </p:sp>
      <p:sp>
        <p:nvSpPr>
          <p:cNvPr name="TextBox 4" id="4"/>
          <p:cNvSpPr txBox="true"/>
          <p:nvPr/>
        </p:nvSpPr>
        <p:spPr>
          <a:xfrm rot="0">
            <a:off x="734863" y="2335273"/>
            <a:ext cx="5605462" cy="4953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Cambio de acceso al admin </a:t>
            </a:r>
          </a:p>
        </p:txBody>
      </p:sp>
      <p:sp>
        <p:nvSpPr>
          <p:cNvPr name="TextBox 5" id="5"/>
          <p:cNvSpPr txBox="true"/>
          <p:nvPr/>
        </p:nvSpPr>
        <p:spPr>
          <a:xfrm rot="0">
            <a:off x="734863" y="3021073"/>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El administrador se abre con contraseña validada en el servidor.</a:t>
            </a:r>
          </a:p>
        </p:txBody>
      </p:sp>
      <p:sp>
        <p:nvSpPr>
          <p:cNvPr name="TextBox 6" id="6"/>
          <p:cNvSpPr txBox="true"/>
          <p:nvPr/>
        </p:nvSpPr>
        <p:spPr>
          <a:xfrm rot="0">
            <a:off x="734863" y="4521261"/>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Pruebas en el panel privado</a:t>
            </a:r>
          </a:p>
        </p:txBody>
      </p:sp>
      <p:sp>
        <p:nvSpPr>
          <p:cNvPr name="TextBox 7" id="7"/>
          <p:cNvSpPr txBox="true"/>
          <p:nvPr/>
        </p:nvSpPr>
        <p:spPr>
          <a:xfrm rot="0">
            <a:off x="734863" y="5207061"/>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Material, diagnóstico y entrenamiento se concentran en administración.</a:t>
            </a:r>
          </a:p>
        </p:txBody>
      </p:sp>
      <p:grpSp>
        <p:nvGrpSpPr>
          <p:cNvPr name="Group 8" id="8"/>
          <p:cNvGrpSpPr/>
          <p:nvPr/>
        </p:nvGrpSpPr>
        <p:grpSpPr>
          <a:xfrm rot="0">
            <a:off x="7409713" y="2790092"/>
            <a:ext cx="10235870" cy="3386138"/>
            <a:chOff x="0" y="0"/>
            <a:chExt cx="13647826" cy="4514850"/>
          </a:xfrm>
        </p:grpSpPr>
        <p:sp>
          <p:nvSpPr>
            <p:cNvPr name="Freeform 9" id="9"/>
            <p:cNvSpPr/>
            <p:nvPr/>
          </p:nvSpPr>
          <p:spPr>
            <a:xfrm flipH="false" flipV="false" rot="0">
              <a:off x="0" y="0"/>
              <a:ext cx="13647801" cy="4514850"/>
            </a:xfrm>
            <a:custGeom>
              <a:avLst/>
              <a:gdLst/>
              <a:ahLst/>
              <a:cxnLst/>
              <a:rect r="r" b="b" t="t" l="l"/>
              <a:pathLst>
                <a:path h="4514850" w="13647801">
                  <a:moveTo>
                    <a:pt x="0" y="0"/>
                  </a:moveTo>
                  <a:lnTo>
                    <a:pt x="13647801" y="0"/>
                  </a:lnTo>
                  <a:lnTo>
                    <a:pt x="13647801" y="4514850"/>
                  </a:lnTo>
                  <a:lnTo>
                    <a:pt x="0" y="4514850"/>
                  </a:lnTo>
                  <a:lnTo>
                    <a:pt x="0" y="0"/>
                  </a:lnTo>
                  <a:close/>
                </a:path>
              </a:pathLst>
            </a:custGeom>
            <a:blipFill>
              <a:blip r:embed="rId3"/>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0101F"/>
        </a:solidFill>
      </p:bgPr>
    </p:bg>
    <p:spTree>
      <p:nvGrpSpPr>
        <p:cNvPr id="1" name=""/>
        <p:cNvGrpSpPr/>
        <p:nvPr/>
      </p:nvGrpSpPr>
      <p:grpSpPr>
        <a:xfrm>
          <a:off x="0" y="0"/>
          <a:ext cx="0" cy="0"/>
          <a:chOff x="0" y="0"/>
          <a:chExt cx="0" cy="0"/>
        </a:xfrm>
      </p:grpSpPr>
      <p:grpSp>
        <p:nvGrpSpPr>
          <p:cNvPr name="Group 2" id="2"/>
          <p:cNvGrpSpPr/>
          <p:nvPr/>
        </p:nvGrpSpPr>
        <p:grpSpPr>
          <a:xfrm rot="0">
            <a:off x="6557962" y="1628775"/>
            <a:ext cx="7860668" cy="3580602"/>
            <a:chOff x="0" y="0"/>
            <a:chExt cx="10037133" cy="4572000"/>
          </a:xfrm>
        </p:grpSpPr>
        <p:sp>
          <p:nvSpPr>
            <p:cNvPr name="Freeform 3" id="3"/>
            <p:cNvSpPr/>
            <p:nvPr/>
          </p:nvSpPr>
          <p:spPr>
            <a:xfrm flipH="false" flipV="false" rot="0">
              <a:off x="0" y="0"/>
              <a:ext cx="10037183" cy="4572000"/>
            </a:xfrm>
            <a:custGeom>
              <a:avLst/>
              <a:gdLst/>
              <a:ahLst/>
              <a:cxnLst/>
              <a:rect r="r" b="b" t="t" l="l"/>
              <a:pathLst>
                <a:path h="4572000" w="10037183">
                  <a:moveTo>
                    <a:pt x="0" y="0"/>
                  </a:moveTo>
                  <a:lnTo>
                    <a:pt x="10037183" y="0"/>
                  </a:lnTo>
                  <a:lnTo>
                    <a:pt x="10037183" y="4572000"/>
                  </a:lnTo>
                  <a:lnTo>
                    <a:pt x="0" y="4572000"/>
                  </a:lnTo>
                  <a:lnTo>
                    <a:pt x="0" y="0"/>
                  </a:lnTo>
                  <a:close/>
                </a:path>
              </a:pathLst>
            </a:custGeom>
            <a:blipFill>
              <a:blip r:embed="rId3"/>
              <a:stretch>
                <a:fillRect l="0" t="-3638" r="0" b="-3638"/>
              </a:stretch>
            </a:blipFill>
          </p:spPr>
        </p:sp>
      </p:grpSp>
      <p:grpSp>
        <p:nvGrpSpPr>
          <p:cNvPr name="Group 4" id="4"/>
          <p:cNvGrpSpPr/>
          <p:nvPr/>
        </p:nvGrpSpPr>
        <p:grpSpPr>
          <a:xfrm rot="0">
            <a:off x="6557962" y="5533626"/>
            <a:ext cx="7860668" cy="3586162"/>
            <a:chOff x="0" y="0"/>
            <a:chExt cx="10480891" cy="4781550"/>
          </a:xfrm>
        </p:grpSpPr>
        <p:sp>
          <p:nvSpPr>
            <p:cNvPr name="Freeform 5" id="5"/>
            <p:cNvSpPr/>
            <p:nvPr/>
          </p:nvSpPr>
          <p:spPr>
            <a:xfrm flipH="false" flipV="false" rot="0">
              <a:off x="0" y="0"/>
              <a:ext cx="10480929" cy="4781550"/>
            </a:xfrm>
            <a:custGeom>
              <a:avLst/>
              <a:gdLst/>
              <a:ahLst/>
              <a:cxnLst/>
              <a:rect r="r" b="b" t="t" l="l"/>
              <a:pathLst>
                <a:path h="4781550" w="10480929">
                  <a:moveTo>
                    <a:pt x="0" y="0"/>
                  </a:moveTo>
                  <a:lnTo>
                    <a:pt x="10480929" y="0"/>
                  </a:lnTo>
                  <a:lnTo>
                    <a:pt x="10480929" y="4781550"/>
                  </a:lnTo>
                  <a:lnTo>
                    <a:pt x="0" y="4781550"/>
                  </a:lnTo>
                  <a:lnTo>
                    <a:pt x="0" y="0"/>
                  </a:lnTo>
                  <a:close/>
                </a:path>
              </a:pathLst>
            </a:custGeom>
            <a:blipFill>
              <a:blip r:embed="rId4"/>
              <a:stretch>
                <a:fillRect l="-1779" t="0" r="-1779" b="0"/>
              </a:stretch>
            </a:blipFill>
          </p:spPr>
        </p:sp>
      </p:grpSp>
      <p:sp>
        <p:nvSpPr>
          <p:cNvPr name="Freeform 6" id="6"/>
          <p:cNvSpPr/>
          <p:nvPr/>
        </p:nvSpPr>
        <p:spPr>
          <a:xfrm flipH="false" flipV="false" rot="0">
            <a:off x="12916984" y="3720603"/>
            <a:ext cx="5651110" cy="4900344"/>
          </a:xfrm>
          <a:custGeom>
            <a:avLst/>
            <a:gdLst/>
            <a:ahLst/>
            <a:cxnLst/>
            <a:rect r="r" b="b" t="t" l="l"/>
            <a:pathLst>
              <a:path h="4900344" w="5651110">
                <a:moveTo>
                  <a:pt x="0" y="0"/>
                </a:moveTo>
                <a:lnTo>
                  <a:pt x="5651109" y="0"/>
                </a:lnTo>
                <a:lnTo>
                  <a:pt x="5651109" y="4900344"/>
                </a:lnTo>
                <a:lnTo>
                  <a:pt x="0" y="4900344"/>
                </a:lnTo>
                <a:lnTo>
                  <a:pt x="0" y="0"/>
                </a:lnTo>
                <a:close/>
              </a:path>
            </a:pathLst>
          </a:custGeom>
          <a:blipFill>
            <a:blip r:embed="rId5"/>
            <a:stretch>
              <a:fillRect l="0" t="0" r="0" b="0"/>
            </a:stretch>
          </a:blipFill>
        </p:spPr>
      </p:sp>
      <p:sp>
        <p:nvSpPr>
          <p:cNvPr name="TextBox 7" id="7"/>
          <p:cNvSpPr txBox="true"/>
          <p:nvPr/>
        </p:nvSpPr>
        <p:spPr>
          <a:xfrm rot="0">
            <a:off x="952500" y="600075"/>
            <a:ext cx="16421100" cy="1028700"/>
          </a:xfrm>
          <a:prstGeom prst="rect">
            <a:avLst/>
          </a:prstGeom>
        </p:spPr>
        <p:txBody>
          <a:bodyPr anchor="t" rtlCol="false" tIns="0" lIns="0" bIns="0" rIns="0">
            <a:spAutoFit/>
          </a:bodyPr>
          <a:lstStyle/>
          <a:p>
            <a:pPr algn="l">
              <a:lnSpc>
                <a:spcPts val="5940"/>
              </a:lnSpc>
            </a:pPr>
            <a:r>
              <a:rPr lang="en-US" sz="4950" b="true">
                <a:solidFill>
                  <a:srgbClr val="FFFFFF"/>
                </a:solidFill>
                <a:latin typeface="Arial Bold"/>
                <a:ea typeface="Arial Bold"/>
                <a:cs typeface="Arial Bold"/>
                <a:sym typeface="Arial Bold"/>
              </a:rPr>
              <a:t>Moderación de todas las grabaciones</a:t>
            </a:r>
          </a:p>
        </p:txBody>
      </p:sp>
      <p:sp>
        <p:nvSpPr>
          <p:cNvPr name="TextBox 8" id="8"/>
          <p:cNvSpPr txBox="true"/>
          <p:nvPr/>
        </p:nvSpPr>
        <p:spPr>
          <a:xfrm rot="0">
            <a:off x="952500" y="9424988"/>
            <a:ext cx="15392400" cy="590550"/>
          </a:xfrm>
          <a:prstGeom prst="rect">
            <a:avLst/>
          </a:prstGeom>
        </p:spPr>
        <p:txBody>
          <a:bodyPr anchor="t" rtlCol="false" tIns="0" lIns="0" bIns="0" rIns="0">
            <a:spAutoFit/>
          </a:bodyPr>
          <a:lstStyle/>
          <a:p>
            <a:pPr algn="l">
              <a:lnSpc>
                <a:spcPts val="2160"/>
              </a:lnSpc>
            </a:pPr>
            <a:r>
              <a:rPr lang="en-US" sz="1800">
                <a:solidFill>
                  <a:srgbClr val="ADACBC"/>
                </a:solidFill>
                <a:latin typeface="Arial"/>
                <a:ea typeface="Arial"/>
                <a:cs typeface="Arial"/>
                <a:sym typeface="Arial"/>
              </a:rPr>
              <a:t>Capturas actuales del listado y de la revisión de una grabación real, sin cambiar sus decisiones</a:t>
            </a:r>
          </a:p>
        </p:txBody>
      </p:sp>
      <p:sp>
        <p:nvSpPr>
          <p:cNvPr name="TextBox 9" id="9"/>
          <p:cNvSpPr txBox="true"/>
          <p:nvPr/>
        </p:nvSpPr>
        <p:spPr>
          <a:xfrm rot="0">
            <a:off x="952500" y="2224088"/>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Estados claros</a:t>
            </a:r>
          </a:p>
        </p:txBody>
      </p:sp>
      <p:sp>
        <p:nvSpPr>
          <p:cNvPr name="TextBox 10" id="10"/>
          <p:cNvSpPr txBox="true"/>
          <p:nvPr/>
        </p:nvSpPr>
        <p:spPr>
          <a:xfrm rot="0">
            <a:off x="952500" y="2909888"/>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Cada toma queda pendiente, aprobada o rechazada según la revisión.</a:t>
            </a:r>
          </a:p>
        </p:txBody>
      </p:sp>
      <p:sp>
        <p:nvSpPr>
          <p:cNvPr name="TextBox 11" id="11"/>
          <p:cNvSpPr txBox="true"/>
          <p:nvPr/>
        </p:nvSpPr>
        <p:spPr>
          <a:xfrm rot="0">
            <a:off x="952500" y="4410075"/>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Vista previa del original</a:t>
            </a:r>
          </a:p>
        </p:txBody>
      </p:sp>
      <p:sp>
        <p:nvSpPr>
          <p:cNvPr name="TextBox 12" id="12"/>
          <p:cNvSpPr txBox="true"/>
          <p:nvPr/>
        </p:nvSpPr>
        <p:spPr>
          <a:xfrm rot="0">
            <a:off x="952500" y="5095875"/>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El administrador reproduce la secuencia antes de aprobarla o rechazarla.</a:t>
            </a:r>
          </a:p>
        </p:txBody>
      </p:sp>
      <p:sp>
        <p:nvSpPr>
          <p:cNvPr name="TextBox 13" id="13"/>
          <p:cNvSpPr txBox="true"/>
          <p:nvPr/>
        </p:nvSpPr>
        <p:spPr>
          <a:xfrm rot="0">
            <a:off x="952500" y="6596062"/>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Búsqueda y lotes</a:t>
            </a:r>
          </a:p>
        </p:txBody>
      </p:sp>
      <p:sp>
        <p:nvSpPr>
          <p:cNvPr name="TextBox 14" id="14"/>
          <p:cNvSpPr txBox="true"/>
          <p:nvPr/>
        </p:nvSpPr>
        <p:spPr>
          <a:xfrm rot="0">
            <a:off x="952500" y="7281862"/>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Filtros por estado, búsqueda por categoría y decisiones para grupos.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0101F"/>
        </a:solidFill>
      </p:bgPr>
    </p:bg>
    <p:spTree>
      <p:nvGrpSpPr>
        <p:cNvPr id="1" name=""/>
        <p:cNvGrpSpPr/>
        <p:nvPr/>
      </p:nvGrpSpPr>
      <p:grpSpPr>
        <a:xfrm>
          <a:off x="0" y="0"/>
          <a:ext cx="0" cy="0"/>
          <a:chOff x="0" y="0"/>
          <a:chExt cx="0" cy="0"/>
        </a:xfrm>
      </p:grpSpPr>
      <p:sp>
        <p:nvSpPr>
          <p:cNvPr name="TextBox 2" id="2"/>
          <p:cNvSpPr txBox="true"/>
          <p:nvPr/>
        </p:nvSpPr>
        <p:spPr>
          <a:xfrm rot="0">
            <a:off x="952500" y="600075"/>
            <a:ext cx="16421100" cy="1028700"/>
          </a:xfrm>
          <a:prstGeom prst="rect">
            <a:avLst/>
          </a:prstGeom>
        </p:spPr>
        <p:txBody>
          <a:bodyPr anchor="t" rtlCol="false" tIns="0" lIns="0" bIns="0" rIns="0">
            <a:spAutoFit/>
          </a:bodyPr>
          <a:lstStyle/>
          <a:p>
            <a:pPr algn="l">
              <a:lnSpc>
                <a:spcPts val="5940"/>
              </a:lnSpc>
            </a:pPr>
            <a:r>
              <a:rPr lang="en-US" sz="4950" b="true">
                <a:solidFill>
                  <a:srgbClr val="FFFFFF"/>
                </a:solidFill>
                <a:latin typeface="Arial Bold"/>
                <a:ea typeface="Arial Bold"/>
                <a:cs typeface="Arial Bold"/>
                <a:sym typeface="Arial Bold"/>
              </a:rPr>
              <a:t>Material de LSCh para preparar ejemplos</a:t>
            </a:r>
          </a:p>
        </p:txBody>
      </p:sp>
      <p:sp>
        <p:nvSpPr>
          <p:cNvPr name="TextBox 3" id="3"/>
          <p:cNvSpPr txBox="true"/>
          <p:nvPr/>
        </p:nvSpPr>
        <p:spPr>
          <a:xfrm rot="0">
            <a:off x="952500" y="9424988"/>
            <a:ext cx="15392400" cy="590550"/>
          </a:xfrm>
          <a:prstGeom prst="rect">
            <a:avLst/>
          </a:prstGeom>
        </p:spPr>
        <p:txBody>
          <a:bodyPr anchor="t" rtlCol="false" tIns="0" lIns="0" bIns="0" rIns="0">
            <a:spAutoFit/>
          </a:bodyPr>
          <a:lstStyle/>
          <a:p>
            <a:pPr algn="l">
              <a:lnSpc>
                <a:spcPts val="2160"/>
              </a:lnSpc>
            </a:pPr>
            <a:r>
              <a:rPr lang="en-US" sz="1800">
                <a:solidFill>
                  <a:srgbClr val="ADACBC"/>
                </a:solidFill>
                <a:latin typeface="Arial"/>
                <a:ea typeface="Arial"/>
                <a:cs typeface="Arial"/>
                <a:sym typeface="Arial"/>
              </a:rPr>
              <a:t>Captura actual de las referencias educativas del catálogo privado</a:t>
            </a:r>
          </a:p>
        </p:txBody>
      </p:sp>
      <p:sp>
        <p:nvSpPr>
          <p:cNvPr name="TextBox 4" id="4"/>
          <p:cNvSpPr txBox="true"/>
          <p:nvPr/>
        </p:nvSpPr>
        <p:spPr>
          <a:xfrm rot="0">
            <a:off x="952500" y="2224088"/>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Referencias confiables</a:t>
            </a:r>
          </a:p>
        </p:txBody>
      </p:sp>
      <p:sp>
        <p:nvSpPr>
          <p:cNvPr name="TextBox 5" id="5"/>
          <p:cNvSpPr txBox="true"/>
          <p:nvPr/>
        </p:nvSpPr>
        <p:spPr>
          <a:xfrm rot="0">
            <a:off x="952500" y="2909888"/>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Ocho recursos educativos y un catálogo académico de 379 videos.</a:t>
            </a:r>
          </a:p>
        </p:txBody>
      </p:sp>
      <p:sp>
        <p:nvSpPr>
          <p:cNvPr name="TextBox 6" id="6"/>
          <p:cNvSpPr txBox="true"/>
          <p:nvPr/>
        </p:nvSpPr>
        <p:spPr>
          <a:xfrm rot="0">
            <a:off x="952500" y="4410075"/>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Búsqueda por tema o fuente</a:t>
            </a:r>
          </a:p>
        </p:txBody>
      </p:sp>
      <p:sp>
        <p:nvSpPr>
          <p:cNvPr name="TextBox 7" id="7"/>
          <p:cNvSpPr txBox="true"/>
          <p:nvPr/>
        </p:nvSpPr>
        <p:spPr>
          <a:xfrm rot="0">
            <a:off x="952500" y="5095875"/>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El panel ayuda a localizar ejemplos y consultar quién los publicó.</a:t>
            </a:r>
          </a:p>
        </p:txBody>
      </p:sp>
      <p:sp>
        <p:nvSpPr>
          <p:cNvPr name="TextBox 8" id="8"/>
          <p:cNvSpPr txBox="true"/>
          <p:nvPr/>
        </p:nvSpPr>
        <p:spPr>
          <a:xfrm rot="0">
            <a:off x="952500" y="6596062"/>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Revisión antes de entrenar</a:t>
            </a:r>
          </a:p>
        </p:txBody>
      </p:sp>
      <p:sp>
        <p:nvSpPr>
          <p:cNvPr name="TextBox 9" id="9"/>
          <p:cNvSpPr txBox="true"/>
          <p:nvPr/>
        </p:nvSpPr>
        <p:spPr>
          <a:xfrm rot="0">
            <a:off x="952500" y="7281862"/>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Cada fragmento necesita significado confirmado y permiso de uso.</a:t>
            </a:r>
          </a:p>
        </p:txBody>
      </p:sp>
      <p:grpSp>
        <p:nvGrpSpPr>
          <p:cNvPr name="Group 10" id="10"/>
          <p:cNvGrpSpPr/>
          <p:nvPr/>
        </p:nvGrpSpPr>
        <p:grpSpPr>
          <a:xfrm rot="0">
            <a:off x="7721298" y="1900238"/>
            <a:ext cx="9003325" cy="7315200"/>
            <a:chOff x="0" y="0"/>
            <a:chExt cx="12004434" cy="9753600"/>
          </a:xfrm>
        </p:grpSpPr>
        <p:sp>
          <p:nvSpPr>
            <p:cNvPr name="Freeform 11" id="11"/>
            <p:cNvSpPr/>
            <p:nvPr/>
          </p:nvSpPr>
          <p:spPr>
            <a:xfrm flipH="false" flipV="false" rot="0">
              <a:off x="0" y="0"/>
              <a:ext cx="12004421" cy="9753600"/>
            </a:xfrm>
            <a:custGeom>
              <a:avLst/>
              <a:gdLst/>
              <a:ahLst/>
              <a:cxnLst/>
              <a:rect r="r" b="b" t="t" l="l"/>
              <a:pathLst>
                <a:path h="9753600" w="12004421">
                  <a:moveTo>
                    <a:pt x="0" y="0"/>
                  </a:moveTo>
                  <a:lnTo>
                    <a:pt x="12004421" y="0"/>
                  </a:lnTo>
                  <a:lnTo>
                    <a:pt x="12004421" y="9753600"/>
                  </a:lnTo>
                  <a:lnTo>
                    <a:pt x="0" y="9753600"/>
                  </a:lnTo>
                  <a:lnTo>
                    <a:pt x="0" y="0"/>
                  </a:lnTo>
                  <a:close/>
                </a:path>
              </a:pathLst>
            </a:custGeom>
            <a:blipFill>
              <a:blip r:embed="rId3"/>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0101F"/>
        </a:solidFill>
      </p:bgPr>
    </p:bg>
    <p:spTree>
      <p:nvGrpSpPr>
        <p:cNvPr id="1" name=""/>
        <p:cNvGrpSpPr/>
        <p:nvPr/>
      </p:nvGrpSpPr>
      <p:grpSpPr>
        <a:xfrm>
          <a:off x="0" y="0"/>
          <a:ext cx="0" cy="0"/>
          <a:chOff x="0" y="0"/>
          <a:chExt cx="0" cy="0"/>
        </a:xfrm>
      </p:grpSpPr>
      <p:sp>
        <p:nvSpPr>
          <p:cNvPr name="TextBox 2" id="2"/>
          <p:cNvSpPr txBox="true"/>
          <p:nvPr/>
        </p:nvSpPr>
        <p:spPr>
          <a:xfrm rot="0">
            <a:off x="952500" y="600075"/>
            <a:ext cx="16421100" cy="1028700"/>
          </a:xfrm>
          <a:prstGeom prst="rect">
            <a:avLst/>
          </a:prstGeom>
        </p:spPr>
        <p:txBody>
          <a:bodyPr anchor="t" rtlCol="false" tIns="0" lIns="0" bIns="0" rIns="0">
            <a:spAutoFit/>
          </a:bodyPr>
          <a:lstStyle/>
          <a:p>
            <a:pPr algn="l">
              <a:lnSpc>
                <a:spcPts val="5940"/>
              </a:lnSpc>
            </a:pPr>
            <a:r>
              <a:rPr lang="en-US" sz="4950" b="true">
                <a:solidFill>
                  <a:srgbClr val="FFFFFF"/>
                </a:solidFill>
                <a:latin typeface="Arial Bold"/>
                <a:ea typeface="Arial Bold"/>
                <a:cs typeface="Arial Bold"/>
                <a:sym typeface="Arial Bold"/>
              </a:rPr>
              <a:t>Preparación y recuperación de datos</a:t>
            </a:r>
          </a:p>
        </p:txBody>
      </p:sp>
      <p:sp>
        <p:nvSpPr>
          <p:cNvPr name="TextBox 3" id="3"/>
          <p:cNvSpPr txBox="true"/>
          <p:nvPr/>
        </p:nvSpPr>
        <p:spPr>
          <a:xfrm rot="0">
            <a:off x="952500" y="9424988"/>
            <a:ext cx="15392400" cy="590550"/>
          </a:xfrm>
          <a:prstGeom prst="rect">
            <a:avLst/>
          </a:prstGeom>
        </p:spPr>
        <p:txBody>
          <a:bodyPr anchor="t" rtlCol="false" tIns="0" lIns="0" bIns="0" rIns="0">
            <a:spAutoFit/>
          </a:bodyPr>
          <a:lstStyle/>
          <a:p>
            <a:pPr algn="l">
              <a:lnSpc>
                <a:spcPts val="2160"/>
              </a:lnSpc>
            </a:pPr>
            <a:r>
              <a:rPr lang="en-US" sz="1800">
                <a:solidFill>
                  <a:srgbClr val="ADACBC"/>
                </a:solidFill>
                <a:latin typeface="Arial"/>
                <a:ea typeface="Arial"/>
                <a:cs typeface="Arial"/>
                <a:sym typeface="Arial"/>
              </a:rPr>
              <a:t>Captura real de la recuperación de las 110 grabaciones aprobadas</a:t>
            </a:r>
          </a:p>
        </p:txBody>
      </p:sp>
      <p:sp>
        <p:nvSpPr>
          <p:cNvPr name="TextBox 4" id="4"/>
          <p:cNvSpPr txBox="true"/>
          <p:nvPr/>
        </p:nvSpPr>
        <p:spPr>
          <a:xfrm rot="0">
            <a:off x="952500" y="2224088"/>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531 entradas organizadas</a:t>
            </a:r>
          </a:p>
        </p:txBody>
      </p:sp>
      <p:sp>
        <p:nvSpPr>
          <p:cNvPr name="TextBox 5" id="5"/>
          <p:cNvSpPr txBox="true"/>
          <p:nvPr/>
        </p:nvSpPr>
        <p:spPr>
          <a:xfrm rot="0">
            <a:off x="952500" y="2909888"/>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Las prioridades indican qué categorías requieren revisión y nuevas muestras.</a:t>
            </a:r>
          </a:p>
        </p:txBody>
      </p:sp>
      <p:sp>
        <p:nvSpPr>
          <p:cNvPr name="TextBox 6" id="6"/>
          <p:cNvSpPr txBox="true"/>
          <p:nvPr/>
        </p:nvSpPr>
        <p:spPr>
          <a:xfrm rot="0">
            <a:off x="952500" y="4410075"/>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110 aprobadas recuperadas</a:t>
            </a:r>
          </a:p>
        </p:txBody>
      </p:sp>
      <p:sp>
        <p:nvSpPr>
          <p:cNvPr name="TextBox 7" id="7"/>
          <p:cNvSpPr txBox="true"/>
          <p:nvPr/>
        </p:nvSpPr>
        <p:spPr>
          <a:xfrm rot="0">
            <a:off x="952500" y="5095875"/>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Se extrajeron puntos de los archivos antiguos y se conservaron sus originales.</a:t>
            </a:r>
          </a:p>
        </p:txBody>
      </p:sp>
      <p:sp>
        <p:nvSpPr>
          <p:cNvPr name="TextBox 8" id="8"/>
          <p:cNvSpPr txBox="true"/>
          <p:nvPr/>
        </p:nvSpPr>
        <p:spPr>
          <a:xfrm rot="0">
            <a:off x="952500" y="6596062"/>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44 con puntos utilizables</a:t>
            </a:r>
          </a:p>
        </p:txBody>
      </p:sp>
      <p:sp>
        <p:nvSpPr>
          <p:cNvPr name="TextBox 9" id="9"/>
          <p:cNvSpPr txBox="true"/>
          <p:nvPr/>
        </p:nvSpPr>
        <p:spPr>
          <a:xfrm rot="0">
            <a:off x="952500" y="7281862"/>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Cerdo y día reúnen dos originales distintos para el experimento inicial.</a:t>
            </a:r>
          </a:p>
        </p:txBody>
      </p:sp>
      <p:grpSp>
        <p:nvGrpSpPr>
          <p:cNvPr name="Group 10" id="10"/>
          <p:cNvGrpSpPr/>
          <p:nvPr/>
        </p:nvGrpSpPr>
        <p:grpSpPr>
          <a:xfrm rot="0">
            <a:off x="7478382" y="1900238"/>
            <a:ext cx="9489157" cy="7315200"/>
            <a:chOff x="0" y="0"/>
            <a:chExt cx="12652210" cy="9753600"/>
          </a:xfrm>
        </p:grpSpPr>
        <p:sp>
          <p:nvSpPr>
            <p:cNvPr name="Freeform 11" id="11"/>
            <p:cNvSpPr/>
            <p:nvPr/>
          </p:nvSpPr>
          <p:spPr>
            <a:xfrm flipH="false" flipV="false" rot="0">
              <a:off x="0" y="0"/>
              <a:ext cx="12652248" cy="9753600"/>
            </a:xfrm>
            <a:custGeom>
              <a:avLst/>
              <a:gdLst/>
              <a:ahLst/>
              <a:cxnLst/>
              <a:rect r="r" b="b" t="t" l="l"/>
              <a:pathLst>
                <a:path h="9753600" w="12652248">
                  <a:moveTo>
                    <a:pt x="0" y="0"/>
                  </a:moveTo>
                  <a:lnTo>
                    <a:pt x="12652248" y="0"/>
                  </a:lnTo>
                  <a:lnTo>
                    <a:pt x="12652248" y="9753600"/>
                  </a:lnTo>
                  <a:lnTo>
                    <a:pt x="0" y="9753600"/>
                  </a:lnTo>
                  <a:lnTo>
                    <a:pt x="0" y="0"/>
                  </a:lnTo>
                  <a:close/>
                </a:path>
              </a:pathLst>
            </a:custGeom>
            <a:blipFill>
              <a:blip r:embed="rId3"/>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0101F"/>
        </a:solidFill>
      </p:bgPr>
    </p:bg>
    <p:spTree>
      <p:nvGrpSpPr>
        <p:cNvPr id="1" name=""/>
        <p:cNvGrpSpPr/>
        <p:nvPr/>
      </p:nvGrpSpPr>
      <p:grpSpPr>
        <a:xfrm>
          <a:off x="0" y="0"/>
          <a:ext cx="0" cy="0"/>
          <a:chOff x="0" y="0"/>
          <a:chExt cx="0" cy="0"/>
        </a:xfrm>
      </p:grpSpPr>
      <p:sp>
        <p:nvSpPr>
          <p:cNvPr name="TextBox 2" id="2"/>
          <p:cNvSpPr txBox="true"/>
          <p:nvPr/>
        </p:nvSpPr>
        <p:spPr>
          <a:xfrm rot="0">
            <a:off x="952500" y="600075"/>
            <a:ext cx="16421100" cy="1028700"/>
          </a:xfrm>
          <a:prstGeom prst="rect">
            <a:avLst/>
          </a:prstGeom>
        </p:spPr>
        <p:txBody>
          <a:bodyPr anchor="t" rtlCol="false" tIns="0" lIns="0" bIns="0" rIns="0">
            <a:spAutoFit/>
          </a:bodyPr>
          <a:lstStyle/>
          <a:p>
            <a:pPr algn="l">
              <a:lnSpc>
                <a:spcPts val="5940"/>
              </a:lnSpc>
            </a:pPr>
            <a:r>
              <a:rPr lang="en-US" sz="4950" b="true">
                <a:solidFill>
                  <a:srgbClr val="FFFFFF"/>
                </a:solidFill>
                <a:latin typeface="Arial Bold"/>
                <a:ea typeface="Arial Bold"/>
                <a:cs typeface="Arial Bold"/>
                <a:sym typeface="Arial Bold"/>
              </a:rPr>
              <a:t>Revisión y primer entrenamiento</a:t>
            </a:r>
          </a:p>
        </p:txBody>
      </p:sp>
      <p:sp>
        <p:nvSpPr>
          <p:cNvPr name="TextBox 3" id="3"/>
          <p:cNvSpPr txBox="true"/>
          <p:nvPr/>
        </p:nvSpPr>
        <p:spPr>
          <a:xfrm rot="0">
            <a:off x="952500" y="9424988"/>
            <a:ext cx="15392400" cy="590550"/>
          </a:xfrm>
          <a:prstGeom prst="rect">
            <a:avLst/>
          </a:prstGeom>
        </p:spPr>
        <p:txBody>
          <a:bodyPr anchor="t" rtlCol="false" tIns="0" lIns="0" bIns="0" rIns="0">
            <a:spAutoFit/>
          </a:bodyPr>
          <a:lstStyle/>
          <a:p>
            <a:pPr algn="l">
              <a:lnSpc>
                <a:spcPts val="2160"/>
              </a:lnSpc>
            </a:pPr>
            <a:r>
              <a:rPr lang="en-US" sz="1800">
                <a:solidFill>
                  <a:srgbClr val="ADACBC"/>
                </a:solidFill>
                <a:latin typeface="Arial"/>
                <a:ea typeface="Arial"/>
                <a:cs typeface="Arial"/>
                <a:sym typeface="Arial"/>
              </a:rPr>
              <a:t>Capturas reales de la revisión local y del informe guardado. El prototipo acertó 1 de solo 2 pruebas.</a:t>
            </a:r>
          </a:p>
        </p:txBody>
      </p:sp>
      <p:sp>
        <p:nvSpPr>
          <p:cNvPr name="TextBox 4" id="4"/>
          <p:cNvSpPr txBox="true"/>
          <p:nvPr/>
        </p:nvSpPr>
        <p:spPr>
          <a:xfrm rot="0">
            <a:off x="952500" y="2224088"/>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Revisión de las etiquetas</a:t>
            </a:r>
          </a:p>
        </p:txBody>
      </p:sp>
      <p:sp>
        <p:nvSpPr>
          <p:cNvPr name="TextBox 5" id="5"/>
          <p:cNvSpPr txBox="true"/>
          <p:nvPr/>
        </p:nvSpPr>
        <p:spPr>
          <a:xfrm rot="0">
            <a:off x="952500" y="2909888"/>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La seña exacta se confirma antes de guardar su anotación local.</a:t>
            </a:r>
          </a:p>
        </p:txBody>
      </p:sp>
      <p:sp>
        <p:nvSpPr>
          <p:cNvPr name="TextBox 6" id="6"/>
          <p:cNvSpPr txBox="true"/>
          <p:nvPr/>
        </p:nvSpPr>
        <p:spPr>
          <a:xfrm rot="0">
            <a:off x="952500" y="4410075"/>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Evaluación independiente</a:t>
            </a:r>
          </a:p>
        </p:txBody>
      </p:sp>
      <p:sp>
        <p:nvSpPr>
          <p:cNvPr name="TextBox 7" id="7"/>
          <p:cNvSpPr txBox="true"/>
          <p:nvPr/>
        </p:nvSpPr>
        <p:spPr>
          <a:xfrm rot="0">
            <a:off x="952500" y="5095875"/>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Se reservan originales de personas distintas. Las variaciones no crean participantes.</a:t>
            </a:r>
          </a:p>
        </p:txBody>
      </p:sp>
      <p:sp>
        <p:nvSpPr>
          <p:cNvPr name="TextBox 8" id="8"/>
          <p:cNvSpPr txBox="true"/>
          <p:nvPr/>
        </p:nvSpPr>
        <p:spPr>
          <a:xfrm rot="0">
            <a:off x="952500" y="6596062"/>
            <a:ext cx="5605462" cy="647700"/>
          </a:xfrm>
          <a:prstGeom prst="rect">
            <a:avLst/>
          </a:prstGeom>
        </p:spPr>
        <p:txBody>
          <a:bodyPr anchor="t" rtlCol="false" tIns="0" lIns="0" bIns="0" rIns="0">
            <a:spAutoFit/>
          </a:bodyPr>
          <a:lstStyle/>
          <a:p>
            <a:pPr algn="l">
              <a:lnSpc>
                <a:spcPts val="3779"/>
              </a:lnSpc>
            </a:pPr>
            <a:r>
              <a:rPr lang="en-US" sz="3150" b="true">
                <a:solidFill>
                  <a:srgbClr val="5DE0DC"/>
                </a:solidFill>
                <a:latin typeface="Arial Bold"/>
                <a:ea typeface="Arial Bold"/>
                <a:cs typeface="Arial Bold"/>
                <a:sym typeface="Arial Bold"/>
              </a:rPr>
              <a:t>Prototipo de dos señas</a:t>
            </a:r>
          </a:p>
        </p:txBody>
      </p:sp>
      <p:sp>
        <p:nvSpPr>
          <p:cNvPr name="TextBox 9" id="9"/>
          <p:cNvSpPr txBox="true"/>
          <p:nvPr/>
        </p:nvSpPr>
        <p:spPr>
          <a:xfrm rot="0">
            <a:off x="952500" y="7281862"/>
            <a:ext cx="5605462" cy="1462088"/>
          </a:xfrm>
          <a:prstGeom prst="rect">
            <a:avLst/>
          </a:prstGeom>
        </p:spPr>
        <p:txBody>
          <a:bodyPr anchor="t" rtlCol="false" tIns="0" lIns="0" bIns="0" rIns="0">
            <a:spAutoFit/>
          </a:bodyPr>
          <a:lstStyle/>
          <a:p>
            <a:pPr algn="l">
              <a:lnSpc>
                <a:spcPts val="3240"/>
              </a:lnSpc>
            </a:pPr>
            <a:r>
              <a:rPr lang="en-US" sz="2700">
                <a:solidFill>
                  <a:srgbClr val="D6D6E4"/>
                </a:solidFill>
                <a:latin typeface="Arial"/>
                <a:ea typeface="Arial"/>
                <a:cs typeface="Arial"/>
                <a:sym typeface="Arial"/>
              </a:rPr>
              <a:t>Cerdo acertó y día falló. El modelo y su informe persisten en el navegador.</a:t>
            </a:r>
          </a:p>
        </p:txBody>
      </p:sp>
      <p:grpSp>
        <p:nvGrpSpPr>
          <p:cNvPr name="Group 10" id="10"/>
          <p:cNvGrpSpPr/>
          <p:nvPr/>
        </p:nvGrpSpPr>
        <p:grpSpPr>
          <a:xfrm rot="0">
            <a:off x="8327736" y="2085975"/>
            <a:ext cx="7790450" cy="3200400"/>
            <a:chOff x="0" y="0"/>
            <a:chExt cx="10387266" cy="4267200"/>
          </a:xfrm>
        </p:grpSpPr>
        <p:sp>
          <p:nvSpPr>
            <p:cNvPr name="Freeform 11" id="11"/>
            <p:cNvSpPr/>
            <p:nvPr/>
          </p:nvSpPr>
          <p:spPr>
            <a:xfrm flipH="false" flipV="false" rot="0">
              <a:off x="0" y="0"/>
              <a:ext cx="10387203" cy="4267200"/>
            </a:xfrm>
            <a:custGeom>
              <a:avLst/>
              <a:gdLst/>
              <a:ahLst/>
              <a:cxnLst/>
              <a:rect r="r" b="b" t="t" l="l"/>
              <a:pathLst>
                <a:path h="4267200" w="10387203">
                  <a:moveTo>
                    <a:pt x="0" y="0"/>
                  </a:moveTo>
                  <a:lnTo>
                    <a:pt x="10387203" y="0"/>
                  </a:lnTo>
                  <a:lnTo>
                    <a:pt x="10387203" y="4267200"/>
                  </a:lnTo>
                  <a:lnTo>
                    <a:pt x="0" y="4267200"/>
                  </a:lnTo>
                  <a:lnTo>
                    <a:pt x="0" y="0"/>
                  </a:lnTo>
                  <a:close/>
                </a:path>
              </a:pathLst>
            </a:custGeom>
            <a:blipFill>
              <a:blip r:embed="rId3"/>
              <a:stretch>
                <a:fillRect l="0" t="0" r="0" b="0"/>
              </a:stretch>
            </a:blipFill>
          </p:spPr>
        </p:sp>
      </p:grpSp>
      <p:grpSp>
        <p:nvGrpSpPr>
          <p:cNvPr name="Group 12" id="12"/>
          <p:cNvGrpSpPr/>
          <p:nvPr/>
        </p:nvGrpSpPr>
        <p:grpSpPr>
          <a:xfrm rot="0">
            <a:off x="7072312" y="5994568"/>
            <a:ext cx="10301288" cy="2784129"/>
            <a:chOff x="0" y="0"/>
            <a:chExt cx="13735050" cy="3712172"/>
          </a:xfrm>
        </p:grpSpPr>
        <p:sp>
          <p:nvSpPr>
            <p:cNvPr name="Freeform 13" id="13"/>
            <p:cNvSpPr/>
            <p:nvPr/>
          </p:nvSpPr>
          <p:spPr>
            <a:xfrm flipH="false" flipV="false" rot="0">
              <a:off x="0" y="0"/>
              <a:ext cx="13735050" cy="3712210"/>
            </a:xfrm>
            <a:custGeom>
              <a:avLst/>
              <a:gdLst/>
              <a:ahLst/>
              <a:cxnLst/>
              <a:rect r="r" b="b" t="t" l="l"/>
              <a:pathLst>
                <a:path h="3712210" w="13735050">
                  <a:moveTo>
                    <a:pt x="0" y="0"/>
                  </a:moveTo>
                  <a:lnTo>
                    <a:pt x="13735050" y="0"/>
                  </a:lnTo>
                  <a:lnTo>
                    <a:pt x="13735050" y="3712210"/>
                  </a:lnTo>
                  <a:lnTo>
                    <a:pt x="0" y="3712210"/>
                  </a:lnTo>
                  <a:lnTo>
                    <a:pt x="0" y="0"/>
                  </a:lnTo>
                  <a:close/>
                </a:path>
              </a:pathLst>
            </a:custGeom>
            <a:blipFill>
              <a:blip r:embed="rId4"/>
              <a:stretch>
                <a:fillRect l="0" t="0" r="0" b="1"/>
              </a:stretch>
            </a:blipFill>
          </p:spPr>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10101F"/>
        </a:solidFill>
      </p:bgPr>
    </p:bg>
    <p:spTree>
      <p:nvGrpSpPr>
        <p:cNvPr id="1" name=""/>
        <p:cNvGrpSpPr/>
        <p:nvPr/>
      </p:nvGrpSpPr>
      <p:grpSpPr>
        <a:xfrm>
          <a:off x="0" y="0"/>
          <a:ext cx="0" cy="0"/>
          <a:chOff x="0" y="0"/>
          <a:chExt cx="0" cy="0"/>
        </a:xfrm>
      </p:grpSpPr>
      <p:sp>
        <p:nvSpPr>
          <p:cNvPr name="TextBox 2" id="2"/>
          <p:cNvSpPr txBox="true"/>
          <p:nvPr/>
        </p:nvSpPr>
        <p:spPr>
          <a:xfrm rot="0">
            <a:off x="952500" y="600075"/>
            <a:ext cx="16421100" cy="1028700"/>
          </a:xfrm>
          <a:prstGeom prst="rect">
            <a:avLst/>
          </a:prstGeom>
        </p:spPr>
        <p:txBody>
          <a:bodyPr anchor="t" rtlCol="false" tIns="0" lIns="0" bIns="0" rIns="0">
            <a:spAutoFit/>
          </a:bodyPr>
          <a:lstStyle/>
          <a:p>
            <a:pPr algn="l">
              <a:lnSpc>
                <a:spcPts val="5940"/>
              </a:lnSpc>
            </a:pPr>
            <a:r>
              <a:rPr lang="en-US" sz="4950" b="true">
                <a:solidFill>
                  <a:srgbClr val="FFFFFF"/>
                </a:solidFill>
                <a:latin typeface="Arial Bold"/>
                <a:ea typeface="Arial Bold"/>
                <a:cs typeface="Arial Bold"/>
                <a:sym typeface="Arial Bold"/>
              </a:rPr>
              <a:t>Estado actual y próxima etapa</a:t>
            </a:r>
          </a:p>
        </p:txBody>
      </p:sp>
      <p:sp>
        <p:nvSpPr>
          <p:cNvPr name="TextBox 3" id="3"/>
          <p:cNvSpPr txBox="true"/>
          <p:nvPr/>
        </p:nvSpPr>
        <p:spPr>
          <a:xfrm rot="0">
            <a:off x="952500" y="9424988"/>
            <a:ext cx="15392400" cy="590550"/>
          </a:xfrm>
          <a:prstGeom prst="rect">
            <a:avLst/>
          </a:prstGeom>
        </p:spPr>
        <p:txBody>
          <a:bodyPr anchor="t" rtlCol="false" tIns="0" lIns="0" bIns="0" rIns="0">
            <a:spAutoFit/>
          </a:bodyPr>
          <a:lstStyle/>
          <a:p>
            <a:pPr algn="l">
              <a:lnSpc>
                <a:spcPts val="2160"/>
              </a:lnSpc>
            </a:pPr>
            <a:r>
              <a:rPr lang="en-US" sz="1800">
                <a:solidFill>
                  <a:srgbClr val="ADACBC"/>
                </a:solidFill>
                <a:latin typeface="Arial"/>
                <a:ea typeface="Arial"/>
                <a:cs typeface="Arial"/>
                <a:sym typeface="Arial"/>
              </a:rPr>
              <a:t>El traductor completo sigue en desarrollo. Estas mejoras preparan su captura y entrenamiento.</a:t>
            </a:r>
          </a:p>
        </p:txBody>
      </p:sp>
      <p:sp>
        <p:nvSpPr>
          <p:cNvPr name="TextBox 4" id="4"/>
          <p:cNvSpPr txBox="true"/>
          <p:nvPr/>
        </p:nvSpPr>
        <p:spPr>
          <a:xfrm rot="0">
            <a:off x="952500" y="2257425"/>
            <a:ext cx="4819650" cy="657225"/>
          </a:xfrm>
          <a:prstGeom prst="rect">
            <a:avLst/>
          </a:prstGeom>
        </p:spPr>
        <p:txBody>
          <a:bodyPr anchor="t" rtlCol="false" tIns="0" lIns="0" bIns="0" rIns="0">
            <a:spAutoFit/>
          </a:bodyPr>
          <a:lstStyle/>
          <a:p>
            <a:pPr algn="l">
              <a:lnSpc>
                <a:spcPts val="4320"/>
              </a:lnSpc>
            </a:pPr>
            <a:r>
              <a:rPr lang="en-US" sz="3600" b="true">
                <a:solidFill>
                  <a:srgbClr val="5DE0DC"/>
                </a:solidFill>
                <a:latin typeface="Arial Bold"/>
                <a:ea typeface="Arial Bold"/>
                <a:cs typeface="Arial Bold"/>
                <a:sym typeface="Arial Bold"/>
              </a:rPr>
              <a:t>Implementado</a:t>
            </a:r>
          </a:p>
        </p:txBody>
      </p:sp>
      <p:sp>
        <p:nvSpPr>
          <p:cNvPr name="TextBox 5" id="5"/>
          <p:cNvSpPr txBox="true"/>
          <p:nvPr/>
        </p:nvSpPr>
        <p:spPr>
          <a:xfrm rot="0">
            <a:off x="952500" y="3209925"/>
            <a:ext cx="4819650" cy="6553200"/>
          </a:xfrm>
          <a:prstGeom prst="rect">
            <a:avLst/>
          </a:prstGeom>
        </p:spPr>
        <p:txBody>
          <a:bodyPr anchor="t" rtlCol="false" tIns="0" lIns="0" bIns="0" rIns="0">
            <a:spAutoFit/>
          </a:bodyPr>
          <a:lstStyle/>
          <a:p>
            <a:pPr algn="l">
              <a:lnSpc>
                <a:spcPts val="3779"/>
              </a:lnSpc>
            </a:pPr>
            <a:r>
              <a:rPr lang="en-US" sz="3150">
                <a:solidFill>
                  <a:srgbClr val="D6D6E4"/>
                </a:solidFill>
                <a:latin typeface="Arial"/>
                <a:ea typeface="Arial"/>
                <a:cs typeface="Arial"/>
                <a:sym typeface="Arial"/>
              </a:rPr>
              <a:t>Cámara y trazados.</a:t>
            </a:r>
          </a:p>
          <a:p>
            <a:pPr algn="l">
              <a:lnSpc>
                <a:spcPts val="3240"/>
              </a:lnSpc>
            </a:pPr>
          </a:p>
          <a:p>
            <a:pPr algn="l">
              <a:lnSpc>
                <a:spcPts val="3779"/>
              </a:lnSpc>
            </a:pPr>
            <a:r>
              <a:rPr lang="en-US" sz="3150">
                <a:solidFill>
                  <a:srgbClr val="D6D6E4"/>
                </a:solidFill>
                <a:latin typeface="Arial"/>
                <a:ea typeface="Arial"/>
                <a:cs typeface="Arial"/>
                <a:sym typeface="Arial"/>
              </a:rPr>
              <a:t>Grabación con revisión previa.</a:t>
            </a:r>
          </a:p>
          <a:p>
            <a:pPr algn="l">
              <a:lnSpc>
                <a:spcPts val="3240"/>
              </a:lnSpc>
            </a:pPr>
          </a:p>
          <a:p>
            <a:pPr algn="l">
              <a:lnSpc>
                <a:spcPts val="3779"/>
              </a:lnSpc>
            </a:pPr>
            <a:r>
              <a:rPr lang="en-US" sz="3150">
                <a:solidFill>
                  <a:srgbClr val="D6D6E4"/>
                </a:solidFill>
                <a:latin typeface="Arial"/>
                <a:ea typeface="Arial"/>
                <a:cs typeface="Arial"/>
                <a:sym typeface="Arial"/>
              </a:rPr>
              <a:t>Administración y recuperación de datos.</a:t>
            </a:r>
          </a:p>
          <a:p>
            <a:pPr algn="l">
              <a:lnSpc>
                <a:spcPts val="3779"/>
              </a:lnSpc>
            </a:pPr>
          </a:p>
          <a:p>
            <a:pPr algn="l">
              <a:lnSpc>
                <a:spcPts val="3779"/>
              </a:lnSpc>
            </a:pPr>
            <a:r>
              <a:rPr lang="en-US" sz="3150">
                <a:solidFill>
                  <a:srgbClr val="D6D6E4"/>
                </a:solidFill>
                <a:latin typeface="Arial"/>
                <a:ea typeface="Arial"/>
                <a:cs typeface="Arial"/>
                <a:sym typeface="Arial"/>
              </a:rPr>
              <a:t>Filtros de gestos obscenos</a:t>
            </a:r>
          </a:p>
          <a:p>
            <a:pPr algn="l">
              <a:lnSpc>
                <a:spcPts val="3779"/>
              </a:lnSpc>
            </a:pPr>
          </a:p>
          <a:p>
            <a:pPr algn="l">
              <a:lnSpc>
                <a:spcPts val="3779"/>
              </a:lnSpc>
            </a:pPr>
            <a:r>
              <a:rPr lang="en-US" sz="3150">
                <a:solidFill>
                  <a:srgbClr val="D6D6E4"/>
                </a:solidFill>
                <a:latin typeface="Arial"/>
                <a:ea typeface="Arial"/>
                <a:cs typeface="Arial"/>
                <a:sym typeface="Arial"/>
              </a:rPr>
              <a:t>Cambio de interfaz panel admin</a:t>
            </a:r>
          </a:p>
          <a:p>
            <a:pPr algn="l">
              <a:lnSpc>
                <a:spcPts val="3779"/>
              </a:lnSpc>
            </a:pPr>
          </a:p>
          <a:p>
            <a:pPr algn="l">
              <a:lnSpc>
                <a:spcPts val="3779"/>
              </a:lnSpc>
            </a:pPr>
          </a:p>
        </p:txBody>
      </p:sp>
      <p:sp>
        <p:nvSpPr>
          <p:cNvPr name="TextBox 6" id="6"/>
          <p:cNvSpPr txBox="true"/>
          <p:nvPr/>
        </p:nvSpPr>
        <p:spPr>
          <a:xfrm rot="0">
            <a:off x="6781800" y="2257425"/>
            <a:ext cx="4819650" cy="657225"/>
          </a:xfrm>
          <a:prstGeom prst="rect">
            <a:avLst/>
          </a:prstGeom>
        </p:spPr>
        <p:txBody>
          <a:bodyPr anchor="t" rtlCol="false" tIns="0" lIns="0" bIns="0" rIns="0">
            <a:spAutoFit/>
          </a:bodyPr>
          <a:lstStyle/>
          <a:p>
            <a:pPr algn="l">
              <a:lnSpc>
                <a:spcPts val="4320"/>
              </a:lnSpc>
            </a:pPr>
            <a:r>
              <a:rPr lang="en-US" sz="3600" b="true">
                <a:solidFill>
                  <a:srgbClr val="F3CE77"/>
                </a:solidFill>
                <a:latin typeface="Arial Bold"/>
                <a:ea typeface="Arial Bold"/>
                <a:cs typeface="Arial Bold"/>
                <a:sym typeface="Arial Bold"/>
              </a:rPr>
              <a:t>Experimental</a:t>
            </a:r>
          </a:p>
        </p:txBody>
      </p:sp>
      <p:sp>
        <p:nvSpPr>
          <p:cNvPr name="TextBox 7" id="7"/>
          <p:cNvSpPr txBox="true"/>
          <p:nvPr/>
        </p:nvSpPr>
        <p:spPr>
          <a:xfrm rot="0">
            <a:off x="6781800" y="3209925"/>
            <a:ext cx="4819650" cy="3219450"/>
          </a:xfrm>
          <a:prstGeom prst="rect">
            <a:avLst/>
          </a:prstGeom>
        </p:spPr>
        <p:txBody>
          <a:bodyPr anchor="t" rtlCol="false" tIns="0" lIns="0" bIns="0" rIns="0">
            <a:spAutoFit/>
          </a:bodyPr>
          <a:lstStyle/>
          <a:p>
            <a:pPr algn="l">
              <a:lnSpc>
                <a:spcPts val="3779"/>
              </a:lnSpc>
            </a:pPr>
            <a:r>
              <a:rPr lang="en-US" sz="3150">
                <a:solidFill>
                  <a:srgbClr val="D6D6E4"/>
                </a:solidFill>
                <a:latin typeface="Arial"/>
                <a:ea typeface="Arial"/>
                <a:cs typeface="Arial"/>
                <a:sym typeface="Arial"/>
              </a:rPr>
              <a:t>Modelo privado de dos señas.</a:t>
            </a:r>
          </a:p>
          <a:p>
            <a:pPr algn="l">
              <a:lnSpc>
                <a:spcPts val="3240"/>
              </a:lnSpc>
            </a:pPr>
          </a:p>
          <a:p>
            <a:pPr algn="l">
              <a:lnSpc>
                <a:spcPts val="3779"/>
              </a:lnSpc>
            </a:pPr>
            <a:r>
              <a:rPr lang="en-US" sz="3150">
                <a:solidFill>
                  <a:srgbClr val="D6D6E4"/>
                </a:solidFill>
                <a:latin typeface="Arial"/>
                <a:ea typeface="Arial"/>
                <a:cs typeface="Arial"/>
                <a:sym typeface="Arial"/>
              </a:rPr>
              <a:t>Evaluación interna pequeña.</a:t>
            </a:r>
          </a:p>
          <a:p>
            <a:pPr algn="l">
              <a:lnSpc>
                <a:spcPts val="3240"/>
              </a:lnSpc>
            </a:pPr>
          </a:p>
          <a:p>
            <a:pPr algn="l">
              <a:lnSpc>
                <a:spcPts val="3779"/>
              </a:lnSpc>
            </a:pPr>
          </a:p>
        </p:txBody>
      </p:sp>
      <p:sp>
        <p:nvSpPr>
          <p:cNvPr name="TextBox 8" id="8"/>
          <p:cNvSpPr txBox="true"/>
          <p:nvPr/>
        </p:nvSpPr>
        <p:spPr>
          <a:xfrm rot="0">
            <a:off x="12611100" y="2257425"/>
            <a:ext cx="4819650" cy="657225"/>
          </a:xfrm>
          <a:prstGeom prst="rect">
            <a:avLst/>
          </a:prstGeom>
        </p:spPr>
        <p:txBody>
          <a:bodyPr anchor="t" rtlCol="false" tIns="0" lIns="0" bIns="0" rIns="0">
            <a:spAutoFit/>
          </a:bodyPr>
          <a:lstStyle/>
          <a:p>
            <a:pPr algn="l">
              <a:lnSpc>
                <a:spcPts val="4320"/>
              </a:lnSpc>
            </a:pPr>
            <a:r>
              <a:rPr lang="en-US" sz="3600" b="true">
                <a:solidFill>
                  <a:srgbClr val="ED3F63"/>
                </a:solidFill>
                <a:latin typeface="Arial Bold"/>
                <a:ea typeface="Arial Bold"/>
                <a:cs typeface="Arial Bold"/>
                <a:sym typeface="Arial Bold"/>
              </a:rPr>
              <a:t>Objetivo siguiente</a:t>
            </a:r>
          </a:p>
        </p:txBody>
      </p:sp>
      <p:sp>
        <p:nvSpPr>
          <p:cNvPr name="TextBox 9" id="9"/>
          <p:cNvSpPr txBox="true"/>
          <p:nvPr/>
        </p:nvSpPr>
        <p:spPr>
          <a:xfrm rot="0">
            <a:off x="12611100" y="3209925"/>
            <a:ext cx="4819650" cy="4171950"/>
          </a:xfrm>
          <a:prstGeom prst="rect">
            <a:avLst/>
          </a:prstGeom>
        </p:spPr>
        <p:txBody>
          <a:bodyPr anchor="t" rtlCol="false" tIns="0" lIns="0" bIns="0" rIns="0">
            <a:spAutoFit/>
          </a:bodyPr>
          <a:lstStyle/>
          <a:p>
            <a:pPr algn="l">
              <a:lnSpc>
                <a:spcPts val="3779"/>
              </a:lnSpc>
            </a:pPr>
            <a:r>
              <a:rPr lang="en-US" sz="3150">
                <a:solidFill>
                  <a:srgbClr val="D6D6E4"/>
                </a:solidFill>
                <a:latin typeface="Arial"/>
                <a:ea typeface="Arial"/>
                <a:cs typeface="Arial"/>
                <a:sym typeface="Arial"/>
              </a:rPr>
              <a:t>Más muestras revisadas.</a:t>
            </a:r>
          </a:p>
          <a:p>
            <a:pPr algn="l">
              <a:lnSpc>
                <a:spcPts val="3240"/>
              </a:lnSpc>
            </a:pPr>
          </a:p>
          <a:p>
            <a:pPr algn="l">
              <a:lnSpc>
                <a:spcPts val="3779"/>
              </a:lnSpc>
            </a:pPr>
            <a:r>
              <a:rPr lang="en-US" sz="3150">
                <a:solidFill>
                  <a:srgbClr val="D6D6E4"/>
                </a:solidFill>
                <a:latin typeface="Arial"/>
                <a:ea typeface="Arial"/>
                <a:cs typeface="Arial"/>
                <a:sym typeface="Arial"/>
              </a:rPr>
              <a:t>Reconocer señas y frases con fiabilidad.</a:t>
            </a:r>
          </a:p>
          <a:p>
            <a:pPr algn="l">
              <a:lnSpc>
                <a:spcPts val="3240"/>
              </a:lnSpc>
            </a:pPr>
          </a:p>
          <a:p>
            <a:pPr algn="l">
              <a:lnSpc>
                <a:spcPts val="3779"/>
              </a:lnSpc>
            </a:pPr>
            <a:r>
              <a:rPr lang="en-US" sz="3150">
                <a:solidFill>
                  <a:srgbClr val="D6D6E4"/>
                </a:solidFill>
                <a:latin typeface="Arial"/>
                <a:ea typeface="Arial"/>
                <a:cs typeface="Arial"/>
                <a:sym typeface="Arial"/>
              </a:rPr>
              <a:t>Conectar LSCh con voz y texto en tiempo real.</a:t>
            </a:r>
          </a:p>
          <a:p>
            <a:pPr algn="l">
              <a:lnSpc>
                <a:spcPts val="3779"/>
              </a:lnSpc>
            </a:pPr>
          </a:p>
          <a:p>
            <a:pPr algn="l">
              <a:lnSpc>
                <a:spcPts val="3779"/>
              </a:lnSpc>
            </a:pPr>
            <a:r>
              <a:rPr lang="en-US" sz="3150">
                <a:solidFill>
                  <a:srgbClr val="D6D6E4"/>
                </a:solidFill>
                <a:latin typeface="Arial"/>
                <a:ea typeface="Arial"/>
                <a:cs typeface="Arial"/>
                <a:sym typeface="Arial"/>
              </a:rPr>
              <a:t>Entrenar el modelo 24/7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DAHXFYzAwvA</dc:identifier>
  <dcterms:modified xsi:type="dcterms:W3CDTF">2011-08-01T06:04:30Z</dcterms:modified>
  <cp:revision>1</cp:revision>
  <dc:title>DeafApp-mejoras.pptx</dc:title>
</cp:coreProperties>
</file>